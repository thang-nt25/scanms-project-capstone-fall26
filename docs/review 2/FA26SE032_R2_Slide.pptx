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3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66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SCANMS</a:t>
            </a:r>
          </a:p>
          <a:p>
            <a:r>
              <a:t>SALES COLLABORATOR &amp; AFFILIATE</a:t>
            </a:r>
          </a:p>
          <a:p>
            <a:r>
              <a:t>NETWORK MANAGEMENT SYSTEM</a:t>
            </a:r>
          </a:p>
          <a:p>
            <a:r>
              <a:t>CAPSTONE PROJECT DEFENSE  |  REVIEW 2</a:t>
            </a:r>
          </a:p>
          <a:p>
            <a:r>
              <a:t>Team: FA26SE032</a:t>
            </a:r>
          </a:p>
          <a:p>
            <a:r>
              <a:t>Team Leader: NGUYỄN THÀNH THẮNG</a:t>
            </a:r>
          </a:p>
          <a:p>
            <a:r>
              <a:t>Major: Software Engineering  |  FPT University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  <a:p>
            <a:r>
              <a:t>SYSTEM ARCHITECTURE OVERVIEW</a:t>
            </a:r>
          </a:p>
          <a:p>
            <a:r>
              <a:t>02</a:t>
            </a:r>
          </a:p>
          <a:p>
            <a:r>
              <a:t>CORE TECHNOLOGIES &amp; FOUR PLATFORM PORTALS</a:t>
            </a:r>
          </a:p>
          <a:p>
            <a:r>
              <a:t>03</a:t>
            </a:r>
          </a:p>
          <a:p>
            <a:r>
              <a:t>CONCEPTUAL DATA MODEL (16 CORE ENTITIES)</a:t>
            </a:r>
          </a:p>
          <a:p>
            <a:r>
              <a:t>04</a:t>
            </a:r>
          </a:p>
          <a:p>
            <a:r>
              <a:t>FIVE MAIN BUSINESS FLOWS &amp; UAT TEST MATRICES</a:t>
            </a:r>
          </a:p>
          <a:p>
            <a:r>
              <a:t>05</a:t>
            </a:r>
          </a:p>
          <a:p>
            <a:r>
              <a:t>QUESTIONS &amp; ANSWERS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SYSTEM ARCHITECTURAL OVERVIEW</a:t>
            </a:r>
          </a:p>
          <a:p>
            <a:r>
              <a:t>MULTI-TIER ARCHITECTURE WITH DISTRIBUTED SERVICES &amp; INTEGRATIONS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DATA MODEL</a:t>
            </a:r>
          </a:p>
          <a:p>
            <a:r>
              <a:t>CORE BUSINESS DOMAINS &amp; CHEN NOTATION CARDINALITIES (16 CORE ENTITIES)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SECURITY &amp; ACCESS CONTROL MATRIX</a:t>
            </a:r>
          </a:p>
          <a:p>
            <a:r>
              <a:t>SCANMS ACTORS &amp; 5 STANDARDIZED RBAC ROLES</a:t>
            </a:r>
          </a:p>
          <a:p>
            <a:r>
              <a:t>CUSTOMER</a:t>
            </a:r>
          </a:p>
          <a:p>
            <a:r>
              <a:t>Customer</a:t>
            </a:r>
          </a:p>
          <a:p>
            <a:r>
              <a:t>Shopper &amp; End Buyer</a:t>
            </a:r>
          </a:p>
          <a:p>
            <a:r>
              <a:t>Browse the marketplace, watch livestreams, buy through affiliate links, track GHN shipments and request returns.</a:t>
            </a:r>
          </a:p>
          <a:p>
            <a:r>
              <a:t>COLLABORATOR</a:t>
            </a:r>
          </a:p>
          <a:p>
            <a:r>
              <a:t>Affiliate Partner</a:t>
            </a:r>
          </a:p>
          <a:p>
            <a:r>
              <a:t>KOL / KOC Affiliate</a:t>
            </a:r>
          </a:p>
          <a:p>
            <a:r>
              <a:t>Verify identity, create Smart Links, Dynamic QR codes and exclusive coupons, request 14-day samples and earn commissions.</a:t>
            </a:r>
          </a:p>
          <a:p>
            <a:r>
              <a:t>SHOP MANAGER</a:t>
            </a:r>
          </a:p>
          <a:p>
            <a:r>
              <a:t>Store Owner</a:t>
            </a:r>
          </a:p>
          <a:p>
            <a:r>
              <a:t>Merchant &amp; Store Owner</a:t>
            </a:r>
          </a:p>
          <a:p>
            <a:r>
              <a:t>Manage six product sections, approve samples, negotiate VIP deals, set monthly bonus tiers (FR-09) and reconcile the shop wallet.</a:t>
            </a:r>
          </a:p>
          <a:p>
            <a:r>
              <a:t>SYSTEM MANAGER</a:t>
            </a:r>
          </a:p>
          <a:p>
            <a:r>
              <a:t>Operations Specialist</a:t>
            </a:r>
          </a:p>
          <a:p>
            <a:r>
              <a:t>Operations &amp; Moderator</a:t>
            </a:r>
          </a:p>
          <a:p>
            <a:r>
              <a:t>Review KYC, moderate new products, arbitrate sample disputes and independently resolve return claims.</a:t>
            </a:r>
          </a:p>
          <a:p>
            <a:r>
              <a:t>SYSTEM ADMIN</a:t>
            </a:r>
          </a:p>
          <a:p>
            <a:r>
              <a:t>System Administrator</a:t>
            </a:r>
          </a:p>
          <a:p>
            <a:r>
              <a:t>Super Admin Governance</a:t>
            </a:r>
          </a:p>
          <a:p>
            <a:r>
              <a:t>All operations permissions, plus exclusive user/role management (/admin/users) and financial reporting (/admin/analytics).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1: USER REGISTRATION &amp; MULTI-TIER KYC VERIFICATION</a:t>
            </a:r>
          </a:p>
          <a:p>
            <a:r>
              <a:t>COLLABORATOR / SHOP</a:t>
            </a:r>
          </a:p>
          <a:p>
            <a:r>
              <a:t>ENTER INFORMATION</a:t>
            </a:r>
          </a:p>
          <a:p>
            <a:r>
              <a:t>VERIFY 2FA / OTP</a:t>
            </a:r>
          </a:p>
          <a:p>
            <a:r>
              <a:t>UPLOAD FILES</a:t>
            </a:r>
          </a:p>
          <a:p>
            <a:r>
              <a:t>NATIONAL ID + BANK ACCOUNT
TAX ID + BUSINESS LICENSE</a:t>
            </a:r>
          </a:p>
          <a:p>
            <a:r>
              <a:t>SUBMIT KYC</a:t>
            </a:r>
          </a:p>
          <a:p>
            <a:r>
              <a:t>SYSTEM MANAGER</a:t>
            </a:r>
          </a:p>
          <a:p>
            <a:r>
              <a:t>REVIEW KYC</a:t>
            </a:r>
          </a:p>
          <a:p>
            <a:r>
              <a:t>APPROVE</a:t>
            </a:r>
          </a:p>
          <a:p>
            <a:r>
              <a:t>ACTIVE ROLE ACCOUNT</a:t>
            </a:r>
          </a:p>
          <a:p>
            <a:r>
              <a:t>REJECT</a:t>
            </a:r>
          </a:p>
          <a:p>
            <a:r>
              <a:t>RESUBMIT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1: USER REGISTRATION &amp; MULTI-TIER KYC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TC_KYC_01: Account registration (FR-01, FR-02)</a:t>
            </a:r>
          </a:p>
          <a:p>
            <a:r>
              <a:t>HTTP 201 Created. Passwords securely hashed with Argon2id.</a:t>
            </a:r>
          </a:p>
          <a:p>
            <a:r>
              <a:t>Account status = UNVERIFIED. Redirect to /login.</a:t>
            </a:r>
          </a:p>
          <a:p>
            <a:r>
              <a:t>TC_KYC_02: Secure login &amp; 2FA OTP (FR-03)</a:t>
            </a:r>
          </a:p>
          <a:p>
            <a:r>
              <a:t>HTTP 200 OK. Issue JWT access and refresh tokens in HttpOnly cookies.</a:t>
            </a:r>
          </a:p>
          <a:p>
            <a:r>
              <a:t>RBAC Guard checks the role and redirects to the correct portal.</a:t>
            </a:r>
          </a:p>
          <a:p>
            <a:r>
              <a:t>TC_KYC_03: Submit KYC documents (FR-05)</a:t>
            </a:r>
          </a:p>
          <a:p>
            <a:r>
              <a:t>Regex validates the 12-digit national ID and bank account. Upload to Cloudinary CDN.</a:t>
            </a:r>
          </a:p>
          <a:p>
            <a:r>
              <a:t>Set status = PENDING_REVIEW. Display the 'Pending review' badge.</a:t>
            </a:r>
          </a:p>
          <a:p>
            <a:r>
              <a:t>TC_KYC_04: System Manager approves KYC (FR-06)</a:t>
            </a:r>
          </a:p>
          <a:p>
            <a:r>
              <a:t>Set status = APPROVED and enable all affiliate features.</a:t>
            </a:r>
          </a:p>
          <a:p>
            <a:r>
              <a:t>KOLs can create Smart Links and QR codes and earn commissions.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TC_KYC_01: Duplicate email/phone or weak password</a:t>
            </a:r>
          </a:p>
          <a:p>
            <a:r>
              <a:t>Duplicate: HTTP 409 Conflict. Show 'Email/phone already exists' in red.</a:t>
            </a:r>
          </a:p>
          <a:p>
            <a:r>
              <a:t>Weak password: HTTP 422 Unprocessable. Show a field-level error.</a:t>
            </a:r>
          </a:p>
          <a:p>
            <a:r>
              <a:t>TC_KYC_02: Invalid credentials or too many OTP attempts</a:t>
            </a:r>
          </a:p>
          <a:p>
            <a:r>
              <a:t>Wrong password: HTTP 401 Unauthorized with a security message.</a:t>
            </a:r>
          </a:p>
          <a:p>
            <a:r>
              <a:t>Over 5 failed OTPs: HTTP 429 Rate Limit. Lock for 15 minutes to prevent brute force.</a:t>
            </a:r>
          </a:p>
          <a:p>
            <a:r>
              <a:t>TC_KYC_03: Invalid image format or national ID</a:t>
            </a:r>
          </a:p>
          <a:p>
            <a:r>
              <a:t>Over 5 MB or wrong format: Block upload. Show 'JPG/PNG under 5 MB only'.</a:t>
            </a:r>
          </a:p>
          <a:p>
            <a:r>
              <a:t>ID is not 12 digits: Show an inline error and disable submission.</a:t>
            </a:r>
          </a:p>
          <a:p>
            <a:r>
              <a:t>TC_KYC_04: Blurred or unacceptable KYC documents</a:t>
            </a:r>
          </a:p>
          <a:p>
            <a:r>
              <a:t>System Manager must give a rejection reason. Set status = REJECTED.</a:t>
            </a:r>
          </a:p>
          <a:p>
            <a:r>
              <a:t>Email a request for clearer images. Keep the account unchanged.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2: 2-WAY COMMISSION DEAL NEGOTIATION &amp; LIVESTREAM ENGINE</a:t>
            </a:r>
          </a:p>
          <a:p>
            <a:r>
              <a:t>COLLABORATOR</a:t>
            </a:r>
          </a:p>
          <a:p>
            <a:r>
              <a:t>(KOL / KOC Affiliate)</a:t>
            </a:r>
          </a:p>
          <a:p>
            <a:r>
              <a:t>SHOP MANAGER</a:t>
            </a:r>
          </a:p>
          <a:p>
            <a:r>
              <a:t>(Merchant Store Owner)</a:t>
            </a:r>
          </a:p>
          <a:p>
            <a:r>
              <a:t>PUBLISH PRODUCT</a:t>
            </a:r>
          </a:p>
          <a:p>
            <a:r>
              <a:t>BASE 10% FLOOR RATE</a:t>
            </a:r>
          </a:p>
          <a:p>
            <a:r>
              <a:t>(Standard Open Offer)</a:t>
            </a:r>
          </a:p>
          <a:p>
            <a:r>
              <a:t>DISCOVER PRODUCT</a:t>
            </a:r>
          </a:p>
          <a:p>
            <a:r>
              <a:t>PROPOSE 18% VIP RATE</a:t>
            </a:r>
          </a:p>
          <a:p>
            <a:r>
              <a:t>PROPOSAL &amp; COMMITMENT</a:t>
            </a:r>
          </a:p>
          <a:p>
            <a:r>
              <a:t>(Video Quota &amp; GMV Target)</a:t>
            </a:r>
          </a:p>
          <a:p>
            <a:r>
              <a:t>SHOP DEAL INVITE</a:t>
            </a:r>
          </a:p>
          <a:p>
            <a:r>
              <a:t>(Chat Socket.IO)</a:t>
            </a:r>
          </a:p>
          <a:p>
            <a:r>
              <a:t>DEAL AGREED</a:t>
            </a:r>
          </a:p>
          <a:p>
            <a:r>
              <a:t>EXCLUSIVE DEAL CONTRACT</a:t>
            </a:r>
          </a:p>
          <a:p>
            <a:r>
              <a:t>(FR-27 2-WAY NEGOTIATION)</a:t>
            </a:r>
          </a:p>
          <a:p>
            <a:r>
              <a:t>REJECT DEAL</a:t>
            </a:r>
          </a:p>
          <a:p>
            <a:r>
              <a:t>FALLBACK TO FLOOR RATE</a:t>
            </a:r>
          </a:p>
          <a:p>
            <a:r>
              <a:t>Maintains 10% Base Open Offer</a:t>
            </a:r>
          </a:p>
          <a:p>
            <a:r>
              <a:t>APPROVE VIP DEAL</a:t>
            </a:r>
          </a:p>
          <a:p>
            <a:r>
              <a:t>DEAL ACCEPTED (18% VIP)</a:t>
            </a:r>
          </a:p>
          <a:p>
            <a:r>
              <a:t>AUTO-STACK</a:t>
            </a:r>
          </a:p>
          <a:p>
            <a:r>
              <a:t>TIER RANK BOOST</a:t>
            </a:r>
          </a:p>
          <a:p>
            <a:r>
              <a:t>(Silver +1% | Gold +2% | Diamond +3%)</a:t>
            </a:r>
          </a:p>
          <a:p>
            <a:r>
              <a:t>+ LIVE BONUS</a:t>
            </a:r>
          </a:p>
          <a:p>
            <a:r>
              <a:t>+2% TO +3% LIVE BONUS</a:t>
            </a:r>
          </a:p>
          <a:p>
            <a:r>
              <a:t>(Session Status = LIVE)</a:t>
            </a:r>
          </a:p>
          <a:p>
            <a:r>
              <a:t>ACTIVATE</a:t>
            </a:r>
          </a:p>
          <a:p>
            <a:r>
              <a:t>EXCLUSIVE ASSETS ISSUED</a:t>
            </a:r>
          </a:p>
          <a:p>
            <a:r>
              <a:t>• Custom Voucher Code (FR-12)</a:t>
            </a:r>
          </a:p>
          <a:p>
            <a:r>
              <a:t>• Free Sample Dispatched (FR-14)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2: 2-WAY COMMISSION DEAL &amp; LIVESTREAM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TC_DEAL_01: Shop sends a deal invitation via chat (FR-27)</a:t>
            </a:r>
          </a:p>
          <a:p>
            <a:r>
              <a:t>Socket.IO emits a real-time event and shows a deal card to both parties.</a:t>
            </a:r>
          </a:p>
          <a:p>
            <a:r>
              <a:t>Create a DealContract with status = PENDING and a GMV commitment.</a:t>
            </a:r>
          </a:p>
          <a:p>
            <a:r>
              <a:t>TC_DEAL_02: KOL accepts a VIP deal &amp; generates a voucher (FR-27)</a:t>
            </a:r>
          </a:p>
          <a:p>
            <a:r>
              <a:t>Set status = ACTIVE. The chat card turns green and displays 'ACCEPTED'.</a:t>
            </a:r>
          </a:p>
          <a:p>
            <a:r>
              <a:t>Generate an exclusive voucher code and activate the 18% VIP rate.</a:t>
            </a:r>
          </a:p>
          <a:p>
            <a:r>
              <a:t>TC_DEAL_03: Start livestream &amp; activate +3% Live Bonus (FR-15)</a:t>
            </a:r>
          </a:p>
          <a:p>
            <a:r>
              <a:t>Set session status = LIVE and open a Socket.IO room for interactions.</a:t>
            </a:r>
          </a:p>
          <a:p>
            <a:r>
              <a:t>The engine adds the +3% Live Bonus, bringing the total rate to 21%.</a:t>
            </a:r>
          </a:p>
          <a:p>
            <a:r>
              <a:t>TC_DEAL_04: End livestream &amp; disable interactions (FR-15)</a:t>
            </a:r>
          </a:p>
          <a:p>
            <a:r>
              <a:t>Set status = ENDED and display the Ended Stream Overlay.</a:t>
            </a:r>
          </a:p>
          <a:p>
            <a:r>
              <a:t>Disable chat/deal pinning. Remove the Live Bonus and restore the 18% rate.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TC_DEAL_01: Commission exceeds the platform cap (&gt;25%)</a:t>
            </a:r>
          </a:p>
          <a:p>
            <a:r>
              <a:t>API rejects with HTTP 400: 'Commission cannot exceed 25%'.</a:t>
            </a:r>
          </a:p>
          <a:p>
            <a:r>
              <a:t>Socket disconnect: Client retries automatically and shows an offline warning.</a:t>
            </a:r>
          </a:p>
          <a:p>
            <a:r>
              <a:t>TC_DEAL_02: KOL rejects a deal or the 48-hour offer expires</a:t>
            </a:r>
          </a:p>
          <a:p>
            <a:r>
              <a:t>KOL rejects: Set status = REJECTED and retain the 10% base rate.</a:t>
            </a:r>
          </a:p>
          <a:p>
            <a:r>
              <a:t>After 48 hours: Set status = EXPIRED and disable acceptance.</a:t>
            </a:r>
          </a:p>
          <a:p>
            <a:r>
              <a:t>TC_DEAL_03: Product out of stock or total rate above the cap</a:t>
            </a:r>
          </a:p>
          <a:p>
            <a:r>
              <a:t>Out of stock: Hide the live cart's buy button and show 'Temporarily out of stock'.</a:t>
            </a:r>
          </a:p>
          <a:p>
            <a:r>
              <a:t>Total rate above 25%: Cap it automatically at 25% (Math.min(25, rate)).</a:t>
            </a:r>
          </a:p>
          <a:p>
            <a:r>
              <a:t>TC_DEAL_04: Abrupt tab closure or messages after the stream</a:t>
            </a:r>
          </a:p>
          <a:p>
            <a:r>
              <a:t>KOL closes the tab: Server safely closes the room after a 5-minute timeout.</a:t>
            </a:r>
          </a:p>
          <a:p>
            <a:r>
              <a:t>Post-stream message: Socket rejects it with 'The session has ended'.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3: MULTI-CHANNEL AFFILIATE PROMOTION &amp; BUYER CHECKOUT</a:t>
            </a:r>
          </a:p>
          <a:p>
            <a:r>
              <a:t>COLLABORATOR</a:t>
            </a:r>
          </a:p>
          <a:p>
            <a:r>
              <a:t>(KOL / KOC Affiliate)</a:t>
            </a:r>
          </a:p>
          <a:p>
            <a:r>
              <a:t>CUSTOMER</a:t>
            </a:r>
          </a:p>
          <a:p>
            <a:r>
              <a:t>(Marketplace Shopper)</a:t>
            </a:r>
          </a:p>
          <a:p>
            <a:r>
              <a:t>CREATE ATTRIBUTION</a:t>
            </a:r>
          </a:p>
          <a:p>
            <a:r>
              <a:t>SMART LINK &amp; QR (FR-10, 11)</a:t>
            </a:r>
          </a:p>
          <a:p>
            <a:r>
              <a:t>30-Day Last-Click Cookie</a:t>
            </a:r>
          </a:p>
          <a:p>
            <a:r>
              <a:t>HOST LIVE (FR-15)</a:t>
            </a:r>
          </a:p>
          <a:p>
            <a:r>
              <a:t>LIVESTREAM SHOPPING</a:t>
            </a:r>
          </a:p>
          <a:p>
            <a:r>
              <a:t>Real-time Deal Pin (+3% Live Bonus)</a:t>
            </a:r>
          </a:p>
          <a:p>
            <a:r>
              <a:t>CLICK SMART LINK</a:t>
            </a:r>
          </a:p>
          <a:p>
            <a:r>
              <a:t>PIN LIVE DEALS</a:t>
            </a:r>
          </a:p>
          <a:p>
            <a:r>
              <a:t>DISCOVER &amp; BROWSE</a:t>
            </a:r>
          </a:p>
          <a:p>
            <a:r>
              <a:t>ADD TO CART</a:t>
            </a:r>
          </a:p>
          <a:p>
            <a:r>
              <a:t>MARKETPLACE CART</a:t>
            </a:r>
          </a:p>
          <a:p>
            <a:r>
              <a:t>SECURE CHECKOUT</a:t>
            </a:r>
          </a:p>
          <a:p>
            <a:r>
              <a:t>STRICT BUYER AUTH</a:t>
            </a:r>
          </a:p>
          <a:p>
            <a:r>
              <a:t>Popup Login / 100% Cart Preserved</a:t>
            </a:r>
          </a:p>
          <a:p>
            <a:r>
              <a:t>PAY VIETQR</a:t>
            </a:r>
          </a:p>
          <a:p>
            <a:r>
              <a:t>VIETQR / PAYOS / COD</a:t>
            </a:r>
          </a:p>
          <a:p>
            <a:r>
              <a:t>Instant Napas 24/7 Gateway</a:t>
            </a:r>
          </a:p>
          <a:p>
            <a:r>
              <a:t>WEBHOOK VERIFY</a:t>
            </a:r>
          </a:p>
          <a:p>
            <a:r>
              <a:t>PAYMENT GATEWAY</a:t>
            </a:r>
          </a:p>
          <a:p>
            <a:r>
              <a:t>PAID</a:t>
            </a:r>
          </a:p>
          <a:p>
            <a:r>
              <a:t>ORDER PAID</a:t>
            </a:r>
          </a:p>
          <a:p>
            <a:r>
              <a:t>Pending Escrow Commission</a:t>
            </a:r>
          </a:p>
          <a:p>
            <a:r>
              <a:t>PENDING</a:t>
            </a:r>
          </a:p>
          <a:p>
            <a:r>
              <a:t>UNPAID ORDERS TAB</a:t>
            </a:r>
          </a:p>
          <a:p>
            <a:r>
              <a:t>Pending Payment &amp; Timeout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3: AFFILIATE ATTRIBUTION &amp; BUYER CHECKOUT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TC_ATTR_01: KOL creates a Smart Link &amp; Dynamic QR (FR-10, 11)</a:t>
            </a:r>
          </a:p>
          <a:p>
            <a:r>
              <a:t>Generate a short /r/:slug link with collaboratorId and UTM tags.</a:t>
            </a:r>
          </a:p>
          <a:p>
            <a:r>
              <a:t>Render a sharp vector QR code with high-resolution PNG download.</a:t>
            </a:r>
          </a:p>
          <a:p>
            <a:r>
              <a:t>TC_ATTR_02: Buyer clicks link &amp; sets a 30-day cookie (FR-13)</a:t>
            </a:r>
          </a:p>
          <a:p>
            <a:r>
              <a:t>HTTP 302 redirect to the product page. Set the scanms_ref cookie for 30 days.</a:t>
            </a:r>
          </a:p>
          <a:p>
            <a:r>
              <a:t>Last-click attribution overwrites the referrer with the latest referral ID.</a:t>
            </a:r>
          </a:p>
          <a:p>
            <a:r>
              <a:t>TC_ATTR_03: Quick login without losing the cart (FR-16)</a:t>
            </a:r>
          </a:p>
          <a:p>
            <a:r>
              <a:t>Open the Quick Login modal in place. Preserve the entire cart after login.</a:t>
            </a:r>
          </a:p>
          <a:p>
            <a:r>
              <a:t>Keep the buyer on the page and proceed to checkout with strict authentication.</a:t>
            </a:r>
          </a:p>
          <a:p>
            <a:r>
              <a:t>TC_ATTR_04: VietQR/PayOS payment &amp; webhook (FR-16, 17)</a:t>
            </a:r>
          </a:p>
          <a:p>
            <a:r>
              <a:t>Backend verifies the HMAC-SHA256 signature and sets order status = PAID.</a:t>
            </a:r>
          </a:p>
          <a:p>
            <a:r>
              <a:t>Record the KOL's commission in the wallet as PENDING_ESCROW.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TC_ATTR_01: KYC not approved or product no longer available</a:t>
            </a:r>
          </a:p>
          <a:p>
            <a:r>
              <a:t>Unapproved KYC: Disable link creation and show 'KYC approval required'.</a:t>
            </a:r>
          </a:p>
          <a:p>
            <a:r>
              <a:t>Deleted product: HTTP 404 with 'Product no longer available'.</a:t>
            </a:r>
          </a:p>
          <a:p>
            <a:r>
              <a:t>TC_ATTR_02: Broken link or expired 30-day cookie</a:t>
            </a:r>
          </a:p>
          <a:p>
            <a:r>
              <a:t>Invalid slug: Redirect to the marketplace and show 'Link not found'.</a:t>
            </a:r>
          </a:p>
          <a:p>
            <a:r>
              <a:t>After 30 days: Cookie expires. Treat the order as organic with 0% commission.</a:t>
            </a:r>
          </a:p>
          <a:p>
            <a:r>
              <a:t>TC_ATTR_03: Buyer has no account or enters a wrong password</a:t>
            </a:r>
          </a:p>
          <a:p>
            <a:r>
              <a:t>No account: Provide a 'Sign up in 30 seconds' button in the modal.</a:t>
            </a:r>
          </a:p>
          <a:p>
            <a:r>
              <a:t>Wrong password: Show an inline red error without reloading the cart.</a:t>
            </a:r>
          </a:p>
          <a:p>
            <a:r>
              <a:t>TC_ATTR_04: Invalid webhook signature or underpayment</a:t>
            </a:r>
          </a:p>
          <a:p>
            <a:r>
              <a:t>Invalid signature: Backend rejects with HTTP 403 and logs a security event.</a:t>
            </a:r>
          </a:p>
          <a:p>
            <a:r>
              <a:t>Underpayment: Keep PENDING_PAYMENT and request the full amount.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4: FULFILLMENT, 14-DAY ESCROW &amp; DISPUTE ARBITRATION</a:t>
            </a:r>
          </a:p>
          <a:p>
            <a:r>
              <a:t>SHOP MANAGER</a:t>
            </a:r>
          </a:p>
          <a:p>
            <a:r>
              <a:t>CREATE GHN SHIPMENT</a:t>
            </a:r>
          </a:p>
          <a:p>
            <a:r>
              <a:t>DELIVER PARCEL</a:t>
            </a:r>
          </a:p>
          <a:p>
            <a:r>
              <a:t>CUSTOMER</a:t>
            </a:r>
          </a:p>
          <a:p>
            <a:r>
              <a:t>HOLD 14-DAY ESCROW</a:t>
            </a:r>
          </a:p>
          <a:p>
            <a:r>
              <a:t>14-DAY MATURED</a:t>
            </a:r>
          </a:p>
          <a:p>
            <a:r>
              <a:t>ORDER COMPLETED &amp; RELEASE FUNDS</a:t>
            </a:r>
          </a:p>
          <a:p>
            <a:r>
              <a:t>Shop Receives Revenue, KOL Receives Commission</a:t>
            </a:r>
          </a:p>
          <a:p>
            <a:r>
              <a:t>OPEN DISPUTE</a:t>
            </a:r>
          </a:p>
          <a:p>
            <a:r>
              <a:t>BUYER UNBOXING VIDEO</a:t>
            </a:r>
          </a:p>
          <a:p>
            <a:r>
              <a:t>&amp; RETURN REQUEST</a:t>
            </a:r>
          </a:p>
          <a:p>
            <a:r>
              <a:t>SHOP ACCEPTS RETURN</a:t>
            </a:r>
          </a:p>
          <a:p>
            <a:r>
              <a:t>REFUND BUYER &amp; CLAWBACK</a:t>
            </a:r>
          </a:p>
          <a:p>
            <a:r>
              <a:t>Commission reversed from wallet</a:t>
            </a:r>
          </a:p>
          <a:p>
            <a:r>
              <a:t>SHOP REJECTS</a:t>
            </a:r>
          </a:p>
          <a:p>
            <a:r>
              <a:t>SYSTEM MANAGER ARBITRATION</a:t>
            </a:r>
          </a:p>
          <a:p>
            <a:r>
              <a:t>Audits Unboxing Video vs Packing Camera</a:t>
            </a:r>
          </a:p>
          <a:p>
            <a:r>
              <a:t>Final Binding Settlement &amp; Escrow Decision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4: FULFILLMENT &amp; ESCROW ARBITRATION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TC_FUL_01: Shop packs order &amp; creates GHN shipment (FR-20)</a:t>
            </a:r>
          </a:p>
          <a:p>
            <a:r>
              <a:t>GHN API succeeds. Generate a tracking code and set status = SHIPPING.</a:t>
            </a:r>
          </a:p>
          <a:p>
            <a:r>
              <a:t>Create a shipment tracking timeline for both the customer and shop.</a:t>
            </a:r>
          </a:p>
          <a:p>
            <a:r>
              <a:t>TC_FUL_02: Delivery starts the 14-day escrow period (FR-21)</a:t>
            </a:r>
          </a:p>
          <a:p>
            <a:r>
              <a:t>Set status = DELIVERED and start the 14-day escrow countdown.</a:t>
            </a:r>
          </a:p>
          <a:p>
            <a:r>
              <a:t>Hold funds in the platform's escrow account. Commission stays PENDING_ESCROW.</a:t>
            </a:r>
          </a:p>
          <a:p>
            <a:r>
              <a:t>TC_FUL_03: Buyer opens a dispute with unboxing video (FR-22)</a:t>
            </a:r>
          </a:p>
          <a:p>
            <a:r>
              <a:t>Set status = RETURN_REQUESTED and freeze the escrow timer immediately.</a:t>
            </a:r>
          </a:p>
          <a:p>
            <a:r>
              <a:t>Show the claim in the shop's 'Returns / Refunds' tab.</a:t>
            </a:r>
          </a:p>
          <a:p>
            <a:r>
              <a:t>TC_FUL_04: System Manager compares both videos (FR-23)</a:t>
            </a:r>
          </a:p>
          <a:p>
            <a:r>
              <a:t>Review evidence from both parties and award a 100% refund to the buyer.</a:t>
            </a:r>
          </a:p>
          <a:p>
            <a:r>
              <a:t>Automatic clawback removes all pending commission from the KOL wallet.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TC_FUL_01: Missing package details or GHN maintenance</a:t>
            </a:r>
          </a:p>
          <a:p>
            <a:r>
              <a:t>Missing weight/dimensions: Block submission and request weight in grams.</a:t>
            </a:r>
          </a:p>
          <a:p>
            <a:r>
              <a:t>GHN outage: Show 'Shipping gateway busy, please retry' and retain the order.</a:t>
            </a:r>
          </a:p>
          <a:p>
            <a:r>
              <a:t>TC_FUL_02: Three failed deliveries or early withdrawal</a:t>
            </a:r>
          </a:p>
          <a:p>
            <a:r>
              <a:t>Delivery fails: Set RETURNING, return to the shop and cancel the commission.</a:t>
            </a:r>
          </a:p>
          <a:p>
            <a:r>
              <a:t>Early withdrawal: Reject because available post-escrow funds = VND 0.</a:t>
            </a:r>
          </a:p>
          <a:p>
            <a:r>
              <a:t>TC_FUL_03: Claim after 14 days or missing video</a:t>
            </a:r>
          </a:p>
          <a:p>
            <a:r>
              <a:t>After 14 days: Hide the claim button and show 'Return period has expired'.</a:t>
            </a:r>
          </a:p>
          <a:p>
            <a:r>
              <a:t>Missing video: Require an unboxing video before submitting the claim.</a:t>
            </a:r>
          </a:p>
          <a:p>
            <a:r>
              <a:t>TC_FUL_04: Claim rejected or shop does not respond</a:t>
            </a:r>
          </a:p>
          <a:p>
            <a:r>
              <a:t>Claim rejected: Unfreeze escrow and resume normal fund release.</a:t>
            </a:r>
          </a:p>
          <a:p>
            <a:r>
              <a:t>No shop response within 48 hours: Automatically rule in the buyer's favor.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5: COMMISSION SETTLEMENT &amp; NAPAS 24/7 TRANSFER</a:t>
            </a:r>
          </a:p>
          <a:p>
            <a:r>
              <a:t>AUTOMATED CRONJOB</a:t>
            </a:r>
          </a:p>
          <a:p>
            <a:r>
              <a:t>MATURE ESCROW FUNDS</a:t>
            </a:r>
          </a:p>
          <a:p>
            <a:r>
              <a:t>COLLABORATOR</a:t>
            </a:r>
          </a:p>
          <a:p>
            <a:r>
              <a:t>REQUEST WITHDRAWAL</a:t>
            </a:r>
          </a:p>
          <a:p>
            <a:r>
              <a:t>PAYOUT DOSSIER &amp; 10% PIT TAX</a:t>
            </a:r>
          </a:p>
          <a:p>
            <a:r>
              <a:t>SYSTEM ADMIN</a:t>
            </a:r>
          </a:p>
          <a:p>
            <a:r>
              <a:t>(Super Admin Treasury Vault Governance)</a:t>
            </a:r>
          </a:p>
          <a:p>
            <a:r>
              <a:t>AUDIT &amp; APPROVE</a:t>
            </a:r>
          </a:p>
          <a:p>
            <a:r>
              <a:t>SYSTEM ADMIN ONLY</a:t>
            </a:r>
          </a:p>
          <a:p>
            <a:r>
              <a:t>DISPATCH NAPAS 24/7</a:t>
            </a:r>
          </a:p>
          <a:p>
            <a:r>
              <a:t>NAPAS 24/7 GATEWAY</a:t>
            </a:r>
          </a:p>
          <a:p>
            <a:r>
              <a:t>Instant Bank Transfer API</a:t>
            </a:r>
          </a:p>
          <a:p>
            <a:r>
              <a:t>SUCCESS</a:t>
            </a:r>
          </a:p>
          <a:p>
            <a:r>
              <a:t>BANK ACCOUNT CREDITED</a:t>
            </a:r>
          </a:p>
          <a:p>
            <a:r>
              <a:t>Instant 24/7 Transfer</a:t>
            </a:r>
          </a:p>
          <a:p>
            <a:r>
              <a:t>FAILED</a:t>
            </a:r>
          </a:p>
          <a:p>
            <a:r>
              <a:t>RESTORE WALLET</a:t>
            </a:r>
          </a:p>
          <a:p>
            <a:r>
              <a:t>Pessimistic Lock &amp; Rollback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5: MONTHLY BONUS &amp; NAPAS PAYOUT AUDIT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TC_PAY_01: Calculate monthly sales milestone bonus (FR-09)</a:t>
            </a:r>
          </a:p>
          <a:p>
            <a:r>
              <a:t>Sum net sales cleared through escrow and apply the tiered bonus formula.</a:t>
            </a:r>
          </a:p>
          <a:p>
            <a:r>
              <a:t>Calculate and explain the bonus, e.g. VND 52.4m x 2% = VND 1,048,000.</a:t>
            </a:r>
          </a:p>
          <a:p>
            <a:r>
              <a:t>TC_PAY_02: Withdrawal request &amp; income tax deduction (FR-24)</a:t>
            </a:r>
          </a:p>
          <a:p>
            <a:r>
              <a:t>Set PENDING_APPROVAL. Net payout: VND 4.5m after 10% tax (VND 500,000).</a:t>
            </a:r>
          </a:p>
          <a:p>
            <a:r>
              <a:t>Pessimistic lock immediately reserves the balance to prevent duplicate withdrawals.</a:t>
            </a:r>
          </a:p>
          <a:p>
            <a:r>
              <a:t>TC_PAY_03: System Admin exclusively approves payouts (FR-24)</a:t>
            </a:r>
          </a:p>
          <a:p>
            <a:r>
              <a:t>Call the Napas 24/7 Instant Transfer API to credit the bank account instantly.</a:t>
            </a:r>
          </a:p>
          <a:p>
            <a:r>
              <a:t>Set status = COMPLETED and permanently deduct the reserved wallet funds.</a:t>
            </a:r>
          </a:p>
          <a:p>
            <a:r>
              <a:t>TC_PAY_04: Safe rollback on bank API failure (FR-24)</a:t>
            </a:r>
          </a:p>
          <a:p>
            <a:r>
              <a:t>Handle every error explicitly and log the bank's detailed error code.</a:t>
            </a:r>
          </a:p>
          <a:p>
            <a:r>
              <a:t>Database rollback unlocks and restores all reserved funds to the available balance.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TC_PAY_01: Refunded order or minimum milestone not reached</a:t>
            </a:r>
          </a:p>
          <a:p>
            <a:r>
              <a:t>Returns: Deduct them from net sales before applying the bonus formula.</a:t>
            </a:r>
          </a:p>
          <a:p>
            <a:r>
              <a:t>Below threshold: Monthly bonus = VND 0. Keep order commissions unchanged.</a:t>
            </a:r>
          </a:p>
          <a:p>
            <a:r>
              <a:t>TC_PAY_02: Insufficient funds or withdrawal below minimum</a:t>
            </a:r>
          </a:p>
          <a:p>
            <a:r>
              <a:t>Insufficient balance: Block submission and show 'Insufficient available funds'.</a:t>
            </a:r>
          </a:p>
          <a:p>
            <a:r>
              <a:t>Below VND 100,000: Show 'Minimum withdrawal is VND 100,000'.</a:t>
            </a:r>
          </a:p>
          <a:p>
            <a:r>
              <a:t>TC_PAY_03: Non-admin user or bank account mismatch</a:t>
            </a:r>
          </a:p>
          <a:p>
            <a:r>
              <a:t>Not a Super Admin: RBAC Guard immediately rejects with HTTP 403 Forbidden.</a:t>
            </a:r>
          </a:p>
          <a:p>
            <a:r>
              <a:t>Admin rejects: Require a reason and restore funds to the available balance.</a:t>
            </a:r>
          </a:p>
          <a:p>
            <a:r>
              <a:t>TC_PAY_04: Bank network timeout with an unknown outcome</a:t>
            </a:r>
          </a:p>
          <a:p>
            <a:r>
              <a:t>Set PROCESSING_VERIFY. A cron job reconciles the transfer every 5 minutes.</a:t>
            </a:r>
          </a:p>
          <a:p>
            <a:r>
              <a:t>Restore funds only after Napas reconciliation confirms the outcome.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 FOR LISTENING</a:t>
            </a:r>
          </a:p>
          <a:p>
            <a:r>
              <a:t>Q &amp; A</a:t>
            </a:r>
          </a:p>
          <a:p>
            <a:r>
              <a:t>Sales Collaborator &amp; Affiliate Network Management System (SCANMS)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1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4" Type="http://schemas.openxmlformats.org/officeDocument/2006/relationships/image" Target="../media/image22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0447" y="1950142"/>
            <a:ext cx="568945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SCANMS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0447" y="2518933"/>
            <a:ext cx="6095847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SALES COLLABORATOR &amp; AFFILIATE</a:t>
            </a:r>
          </a:p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NETWORK MANAGEMENT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00447" y="3250236"/>
            <a:ext cx="3982620" cy="0"/>
          </a:xfrm>
          <a:prstGeom prst="line">
            <a:avLst/>
          </a:prstGeom>
          <a:ln w="31750">
            <a:solidFill>
              <a:srgbClr val="C59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00447" y="3412748"/>
            <a:ext cx="6095847" cy="94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dirty="0"/>
              <a:t>CAPSTONE PROJECT DEFENSE  |  REVIEW 2</a:t>
            </a:r>
          </a:p>
          <a:p>
            <a:pPr algn="l">
              <a:defRPr lang="en-US" sz="1400" b="0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dirty="0"/>
              <a:t>Team: </a:t>
            </a:r>
            <a:r>
              <a:rPr dirty="0" err="1"/>
              <a:t>FA26SE032</a:t>
            </a:r>
            <a:endParaRPr dirty="0"/>
          </a:p>
          <a:p>
            <a:pPr algn="l">
              <a:defRPr lang="en-US" sz="1400" b="0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dirty="0"/>
              <a:t>Major: Software Engineering  |  </a:t>
            </a:r>
            <a:r>
              <a:rPr dirty="0" err="1"/>
              <a:t>FPT</a:t>
            </a:r>
            <a:r>
              <a:rPr dirty="0"/>
              <a:t>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00447" y="1787630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44281" y="1970456"/>
            <a:ext cx="48766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13227" y="1909514"/>
            <a:ext cx="0" cy="467221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75783" y="1990770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00447" y="2701759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44281" y="2884585"/>
            <a:ext cx="48766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13227" y="2823643"/>
            <a:ext cx="0" cy="467221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75783" y="2904899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lang="vi-VN" dirty="0" err="1"/>
              <a:t>CONCEPTUAL</a:t>
            </a:r>
            <a:r>
              <a:rPr lang="vi-VN" dirty="0"/>
              <a:t> </a:t>
            </a:r>
            <a:r>
              <a:rPr lang="vi-VN" dirty="0" err="1"/>
              <a:t>DATA</a:t>
            </a:r>
            <a:r>
              <a:rPr lang="vi-VN" dirty="0"/>
              <a:t> </a:t>
            </a:r>
            <a:r>
              <a:rPr lang="vi-VN" dirty="0" err="1"/>
              <a:t>MODEL</a:t>
            </a:r>
            <a:endParaRPr lang="vi-VN" dirty="0"/>
          </a:p>
        </p:txBody>
      </p:sp>
      <p:sp>
        <p:nvSpPr>
          <p:cNvPr id="11" name="Rounded Rectangle 10"/>
          <p:cNvSpPr/>
          <p:nvPr/>
        </p:nvSpPr>
        <p:spPr>
          <a:xfrm>
            <a:off x="1300447" y="3615888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44281" y="3798714"/>
            <a:ext cx="48766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13227" y="3737772"/>
            <a:ext cx="0" cy="467222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75783" y="3819028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lang="vi-VN" dirty="0" err="1"/>
              <a:t>FIVE</a:t>
            </a:r>
            <a:r>
              <a:rPr lang="vi-VN" dirty="0"/>
              <a:t> </a:t>
            </a:r>
            <a:r>
              <a:rPr lang="vi-VN" dirty="0" err="1"/>
              <a:t>BUSINESS</a:t>
            </a:r>
            <a:r>
              <a:rPr lang="vi-VN" dirty="0"/>
              <a:t> </a:t>
            </a:r>
            <a:r>
              <a:rPr lang="vi-VN" dirty="0" err="1"/>
              <a:t>FLOWS</a:t>
            </a:r>
            <a:r>
              <a:rPr lang="vi-VN" dirty="0"/>
              <a:t> &amp; </a:t>
            </a:r>
            <a:r>
              <a:rPr lang="vi-VN" dirty="0" err="1"/>
              <a:t>UAT</a:t>
            </a:r>
            <a:endParaRPr lang="vi-VN" dirty="0"/>
          </a:p>
        </p:txBody>
      </p:sp>
      <p:sp>
        <p:nvSpPr>
          <p:cNvPr id="15" name="Rounded Rectangle 14"/>
          <p:cNvSpPr/>
          <p:nvPr/>
        </p:nvSpPr>
        <p:spPr>
          <a:xfrm>
            <a:off x="1300447" y="4530017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44281" y="4712843"/>
            <a:ext cx="48766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13227" y="4651901"/>
            <a:ext cx="0" cy="467222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5783" y="4733157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lang="vi-VN" dirty="0" err="1"/>
              <a:t>Q&amp;A</a:t>
            </a:r>
            <a:endParaRPr lang="vi-VN" dirty="0"/>
          </a:p>
        </p:txBody>
      </p:sp>
      <p:sp>
        <p:nvSpPr>
          <p:cNvPr id="22" name="TextBox 21"/>
          <p:cNvSpPr txBox="1"/>
          <p:nvPr/>
        </p:nvSpPr>
        <p:spPr>
          <a:xfrm>
            <a:off x="2275783" y="5647286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64080" y="665754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rPr dirty="0"/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pic>
        <p:nvPicPr>
          <p:cNvPr id="5" name="Picture 4" descr="SCANMS_OVERVIEW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1096954"/>
            <a:ext cx="11175720" cy="54441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28A4D66E-61F2-EB81-D514-94520BBBC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97" y="849835"/>
            <a:ext cx="11828206" cy="53985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FIVE ROLES, CLEAR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0223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891" y="1259466"/>
            <a:ext cx="975335" cy="9750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01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01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12779" y="2965841"/>
            <a:ext cx="1625560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140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Marketplace and live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shopping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Affiliate purchases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GHN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tracking and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4728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396" y="1259466"/>
            <a:ext cx="975335" cy="9750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6006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COLLABORATOR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06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6006" y="2742387"/>
            <a:ext cx="1788115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3007284" y="2965841"/>
            <a:ext cx="1625560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66645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Identity verification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Smart Links, QR and coupons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14-day samples and commissions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9234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901" y="1259466"/>
            <a:ext cx="975335" cy="9750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20511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SHOP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511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201789" y="2965841"/>
            <a:ext cx="1625560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1150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endParaRPr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233739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6" y="1259466"/>
            <a:ext cx="975335" cy="97507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017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SYSTEM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017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017" y="2742387"/>
            <a:ext cx="1788115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7396295" y="2965841"/>
            <a:ext cx="1625559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55656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KYC and product review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Sample dispute arbitration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Independent return decisions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28244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Picture 33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912" y="1259466"/>
            <a:ext cx="975335" cy="97507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09522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SYSTEM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522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509522" y="2742387"/>
            <a:ext cx="1788115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590800" y="2965841"/>
            <a:ext cx="1625559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550161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All operations permissions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Exclusive user and role control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Executive financial reports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BFFA8309-C19B-0868-0AF1-421C8F2723C9}"/>
              </a:ext>
            </a:extLst>
          </p:cNvPr>
          <p:cNvSpPr txBox="1"/>
          <p:nvPr/>
        </p:nvSpPr>
        <p:spPr>
          <a:xfrm>
            <a:off x="5201789" y="3293412"/>
            <a:ext cx="17068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 Six-section products Samples and VIP deals </a:t>
            </a:r>
          </a:p>
          <a:p>
            <a:pPr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Monthly bonuses </a:t>
            </a:r>
          </a:p>
          <a:p>
            <a:pPr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Shop wallet reconciliation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400" dirty="0"/>
              <a:t>FLOW 1: REGISTRATION &amp; KYC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18" y="2803329"/>
            <a:ext cx="894057" cy="89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810000"/>
            <a:ext cx="20574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 dirty="0"/>
              <a:t>COLLABORATOR / SHOP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69393" y="3250236"/>
            <a:ext cx="150364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949" y="2930196"/>
            <a:ext cx="1219169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REGISTER</a:t>
            </a:r>
          </a:p>
        </p:txBody>
      </p:sp>
      <p:pic>
        <p:nvPicPr>
          <p:cNvPr id="9" name="Picture 8" descr="form_checklist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674" y="2783015"/>
            <a:ext cx="812779" cy="812559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267093" y="3250236"/>
            <a:ext cx="117853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9010" y="2724456"/>
            <a:ext cx="1015974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VERIFY OTP</a:t>
            </a:r>
          </a:p>
        </p:txBody>
      </p:sp>
      <p:pic>
        <p:nvPicPr>
          <p:cNvPr id="12" name="Picture 11" descr="phone_otp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6582" y="2803329"/>
            <a:ext cx="690862" cy="771931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6258403" y="3250236"/>
            <a:ext cx="1422364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20959" y="2724456"/>
            <a:ext cx="1137891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UPLOAD FILES</a:t>
            </a:r>
          </a:p>
        </p:txBody>
      </p:sp>
      <p:pic>
        <p:nvPicPr>
          <p:cNvPr id="15" name="Picture 14" descr="id_card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045" y="2925213"/>
            <a:ext cx="894057" cy="5687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9400" y="2179320"/>
            <a:ext cx="29718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sz="1000"/>
              <a:t>NATIONAL ID + BANK ACCOUNT</a:t>
            </a:r>
            <a:br>
              <a:rPr sz="1000"/>
            </a:br>
            <a:r>
              <a:rPr sz="1000"/>
              <a:t>TAX ID + BUSINESS LICENSE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96742" y="3250236"/>
            <a:ext cx="1097253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59298" y="2724456"/>
            <a:ext cx="894057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SUBMIT KYC</a:t>
            </a:r>
          </a:p>
        </p:txBody>
      </p:sp>
      <p:pic>
        <p:nvPicPr>
          <p:cNvPr id="19" name="Picture 18" descr="folder_cle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5912" y="2884585"/>
            <a:ext cx="650223" cy="731303"/>
          </a:xfrm>
          <a:prstGeom prst="rect">
            <a:avLst/>
          </a:prstGeom>
        </p:spPr>
      </p:pic>
      <p:pic>
        <p:nvPicPr>
          <p:cNvPr id="20" name="Picture 19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995" y="934443"/>
            <a:ext cx="894057" cy="8938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58300" y="1874520"/>
            <a:ext cx="19812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SYSTEM MANAGER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41023" y="2112654"/>
            <a:ext cx="0" cy="731303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363200" y="2308860"/>
            <a:ext cx="15240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REVIEW KYC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06774" y="3250236"/>
            <a:ext cx="568946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175720" y="3250236"/>
            <a:ext cx="0" cy="1706375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201400" y="3543300"/>
            <a:ext cx="952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000"/>
              <a:t>APPROVE</a:t>
            </a:r>
          </a:p>
        </p:txBody>
      </p:sp>
      <p:pic>
        <p:nvPicPr>
          <p:cNvPr id="27" name="Picture 26" descr="icon_approve_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9969" y="5078495"/>
            <a:ext cx="731501" cy="7313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362940" y="5931682"/>
            <a:ext cx="1625559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000"/>
              <a:t>ACCOUNT ACTIVE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78468" y="3615888"/>
            <a:ext cx="0" cy="1340723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737381" y="4956611"/>
            <a:ext cx="1341087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21854" y="4430831"/>
            <a:ext cx="731501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000"/>
              <a:t>REJECT</a:t>
            </a:r>
          </a:p>
        </p:txBody>
      </p:sp>
      <p:pic>
        <p:nvPicPr>
          <p:cNvPr id="32" name="Picture 31" descr="icon_reject_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643" y="4611273"/>
            <a:ext cx="690862" cy="690675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 flipV="1">
            <a:off x="8209074" y="3778400"/>
            <a:ext cx="0" cy="771931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27349" y="4144052"/>
            <a:ext cx="130044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RESUBMIT</a:t>
            </a:r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1F2899EC-1A04-762A-C987-C26E29AB325A}"/>
              </a:ext>
            </a:extLst>
          </p:cNvPr>
          <p:cNvSpPr txBox="1"/>
          <p:nvPr/>
        </p:nvSpPr>
        <p:spPr>
          <a:xfrm>
            <a:off x="794927" y="3716213"/>
            <a:ext cx="61746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lang="vi-VN" sz="1000" dirty="0" err="1"/>
              <a:t>REGISTER</a:t>
            </a:r>
            <a:r>
              <a:rPr lang="vi-VN" sz="1000" dirty="0"/>
              <a:t> AN </a:t>
            </a:r>
            <a:r>
              <a:rPr lang="vi-VN" sz="1000" dirty="0" err="1"/>
              <a:t>ACCOUNT</a:t>
            </a:r>
            <a:endParaRPr lang="vi-VN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1: REGISTRATION &amp; KYC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TC_KYC_01  Account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Enter Name, Email, Phone, Password -&gt; OTP sent.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Registration verified; redirect to secure login.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TC_KYC_02  2FA Login &amp; Role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Submit Email &amp; Password -&gt; Enter 6-digit OTP code.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Secure JWT issued; redirect to role-based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TC_KYC_03  KYC Dossier Submission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Enter 12-digit ID, Bank account, and upload 2 photos.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Dossier submitted; badge marked 'Pending Review'.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TC_KYC_04  System Manager KYC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Manager verifies identity credentials -&gt; Click Approve.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Status set to 'Verified'; full Affiliate features active.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89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TC_KYC_01  Duplicate Email / Weak Password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Duplicate Email: Display 'Email already registered'.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Password &lt;8 chars: Block submit, show inline error.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89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TC_KYC_02  Invalid Password / OTP Limit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Wrong password: Show secure error, protect identity.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&gt;5 wrong OTP: Lock account 15 mins against brute-force.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89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TC_KYC_03  Oversized File / Invalid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File &gt;5MB: Reject upload with clear size notification.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ID not 12 digits: Highlight red, disable submit button.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89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TC_KYC_04  Dossier Rejection with Feedback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Rejecting requires detailed mandatory feedback note.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Notify user to re-upload clear photos; retain account.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endParaRPr sz="1000" dirty="0"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3600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400" dirty="0">
                <a:latin typeface="Segoe UI"/>
              </a:rPr>
              <a:t>FLOW 2: DEALS &amp; LIVESTREAM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" y="1625118"/>
            <a:ext cx="812779" cy="812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2520000"/>
            <a:ext cx="1296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COLLABORATOR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754000"/>
            <a:ext cx="129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endParaRPr sz="1000" dirty="0">
              <a:latin typeface="Segoe UI"/>
            </a:endParaRPr>
          </a:p>
        </p:txBody>
      </p:sp>
      <p:pic>
        <p:nvPicPr>
          <p:cNvPr id="8" name="Picture 7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" y="4062796"/>
            <a:ext cx="812779" cy="812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" y="4953000"/>
            <a:ext cx="1752600" cy="2362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SHOP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" y="5227320"/>
            <a:ext cx="1752600" cy="2362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endParaRPr sz="1000" dirty="0">
              <a:latin typeface="Segoe U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706837" y="4469075"/>
            <a:ext cx="109725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47476" y="3943295"/>
            <a:ext cx="1015974" cy="4648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PUBLISH PRODUCT</a:t>
            </a:r>
          </a:p>
        </p:txBody>
      </p:sp>
      <p:pic>
        <p:nvPicPr>
          <p:cNvPr id="13" name="Picture 12" descr="icon_product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5367" y="4144052"/>
            <a:ext cx="650223" cy="6500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255" y="4855041"/>
            <a:ext cx="1300447" cy="6934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10% BASE RATE</a:t>
            </a:r>
          </a:p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Open offer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10479" y="3006469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072588" y="3006469"/>
            <a:ext cx="1137891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72588" y="2600189"/>
            <a:ext cx="0" cy="40628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28000" y="3060000"/>
            <a:ext cx="1368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DISCOVER PRODUCT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06837" y="2031398"/>
            <a:ext cx="1788115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96163" y="1766744"/>
            <a:ext cx="1980000" cy="4648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defRPr sz="850" b="1">
                <a:solidFill>
                  <a:srgbClr val="B88E4F"/>
                </a:solidFill>
                <a:latin typeface="Segoe UI"/>
              </a:defRPr>
            </a:pPr>
            <a:r>
              <a:rPr sz="1000">
                <a:latin typeface="Segoe UI"/>
              </a:rPr>
              <a:t>PROPOSE 13% RATE</a:t>
            </a:r>
          </a:p>
        </p:txBody>
      </p:sp>
      <p:pic>
        <p:nvPicPr>
          <p:cNvPr id="21" name="Picture 20" descr="icon_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6230" y="1706374"/>
            <a:ext cx="650223" cy="6500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68000" y="2376000"/>
            <a:ext cx="1512000" cy="57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PROPOSAL</a:t>
            </a:r>
          </a:p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Video quota and GMV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16869" y="4469075"/>
            <a:ext cx="1300448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917317" y="3412748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17317" y="3412748"/>
            <a:ext cx="40638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69265" y="3859871"/>
            <a:ext cx="1056613" cy="899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SHOP INVITATION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67093" y="2031398"/>
            <a:ext cx="650224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17317" y="2031398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17317" y="3087725"/>
            <a:ext cx="40638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91000" y="1680878"/>
            <a:ext cx="1409700" cy="472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DEAL AGREED</a:t>
            </a:r>
          </a:p>
        </p:txBody>
      </p:sp>
      <p:pic>
        <p:nvPicPr>
          <p:cNvPr id="31" name="Picture 30" descr="icon_deal_contr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984" y="2864271"/>
            <a:ext cx="731501" cy="77193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32534" y="3756660"/>
            <a:ext cx="167640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lang="vi-VN" sz="1000" dirty="0" err="1">
                <a:latin typeface="Segoe UI"/>
              </a:rPr>
              <a:t>CONTRACT</a:t>
            </a:r>
            <a:endParaRPr lang="vi-VN" sz="1000" dirty="0"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82385" y="2492353"/>
            <a:ext cx="2209800" cy="2514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Two-way deal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77125" y="3412748"/>
            <a:ext cx="40639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83515" y="3412748"/>
            <a:ext cx="0" cy="1218839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583515" y="4631587"/>
            <a:ext cx="975336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46071" y="4105807"/>
            <a:ext cx="731501" cy="4648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REJECT DEAL</a:t>
            </a:r>
          </a:p>
        </p:txBody>
      </p:sp>
      <p:pic>
        <p:nvPicPr>
          <p:cNvPr id="38" name="Picture 37" descr="icon_reject_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0448" y="4326877"/>
            <a:ext cx="609584" cy="60941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33739" y="5017553"/>
            <a:ext cx="1463003" cy="48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BASE RATE</a:t>
            </a:r>
          </a:p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Retain 10%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77125" y="3087725"/>
            <a:ext cx="1381726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36000" y="2412000"/>
            <a:ext cx="1296000" cy="54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APPROVE DEAL</a:t>
            </a:r>
          </a:p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rPr sz="1000">
                <a:latin typeface="Segoe UI"/>
              </a:rPr>
              <a:t>VIP Rate 13%</a:t>
            </a:r>
          </a:p>
        </p:txBody>
      </p:sp>
      <p:pic>
        <p:nvPicPr>
          <p:cNvPr id="42" name="Picture 41" descr="icon_approve_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0128" y="2762701"/>
            <a:ext cx="650223" cy="65004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44000" y="2412000"/>
            <a:ext cx="1224000" cy="25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Segoe UI"/>
              </a:defRPr>
            </a:pPr>
            <a:endParaRPr sz="1000"/>
          </a:p>
        </p:txBody>
      </p:sp>
      <p:cxnSp>
        <p:nvCxnSpPr>
          <p:cNvPr id="44" name="Connector 43"/>
          <p:cNvCxnSpPr/>
          <p:nvPr/>
        </p:nvCxnSpPr>
        <p:spPr>
          <a:xfrm>
            <a:off x="8371630" y="3087725"/>
            <a:ext cx="73150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80000" y="2592000"/>
            <a:ext cx="864000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AUTO-</a:t>
            </a:r>
            <a:br>
              <a:rPr sz="1000"/>
            </a:br>
            <a:r>
              <a:rPr sz="1000">
                <a:latin typeface="Segoe UI"/>
              </a:rPr>
              <a:t>STACK</a:t>
            </a:r>
          </a:p>
        </p:txBody>
      </p:sp>
      <p:pic>
        <p:nvPicPr>
          <p:cNvPr id="46" name="Picture 45" descr="icon_tier_sta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4729" y="2783015"/>
            <a:ext cx="609584" cy="60941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913331" y="3422286"/>
            <a:ext cx="115200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5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TIER BONUS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915912" y="3087725"/>
            <a:ext cx="650223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672307" y="2562503"/>
            <a:ext cx="1055693" cy="54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5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LIVE</a:t>
            </a:r>
            <a:br>
              <a:rPr sz="1000" dirty="0"/>
            </a:br>
            <a:r>
              <a:rPr sz="1000" dirty="0">
                <a:latin typeface="Segoe UI"/>
              </a:rPr>
              <a:t>BONUS</a:t>
            </a:r>
          </a:p>
        </p:txBody>
      </p:sp>
      <p:pic>
        <p:nvPicPr>
          <p:cNvPr id="50" name="Picture 49" descr="icon_livestrea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7733" y="2783015"/>
            <a:ext cx="609584" cy="60941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139426" y="3389853"/>
            <a:ext cx="1752600" cy="624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BONUS</a:t>
            </a:r>
          </a:p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While LIVE</a:t>
            </a:r>
          </a:p>
        </p:txBody>
      </p:sp>
      <p:cxnSp>
        <p:nvCxnSpPr>
          <p:cNvPr id="52" name="Connector 51"/>
          <p:cNvCxnSpPr>
            <a:cxnSpLocks/>
          </p:cNvCxnSpPr>
          <p:nvPr/>
        </p:nvCxnSpPr>
        <p:spPr>
          <a:xfrm>
            <a:off x="7965239" y="1917098"/>
            <a:ext cx="0" cy="75582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965239" y="1935499"/>
            <a:ext cx="48766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270800" y="2046557"/>
            <a:ext cx="914400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ACTIVATE</a:t>
            </a:r>
          </a:p>
        </p:txBody>
      </p:sp>
      <p:pic>
        <p:nvPicPr>
          <p:cNvPr id="55" name="Picture 54" descr="icon_lin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6411" y="1670951"/>
            <a:ext cx="568945" cy="56879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660448" y="1444677"/>
            <a:ext cx="2356370" cy="331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lang="vi-VN" sz="1000" dirty="0" err="1">
                <a:latin typeface="Segoe UI"/>
              </a:rPr>
              <a:t>EXCLUSIVE</a:t>
            </a:r>
            <a:r>
              <a:rPr lang="vi-VN" sz="1000" dirty="0">
                <a:latin typeface="Segoe UI"/>
              </a:rPr>
              <a:t> </a:t>
            </a:r>
            <a:r>
              <a:rPr lang="vi-VN" sz="1000" dirty="0" err="1">
                <a:latin typeface="Segoe UI"/>
              </a:rPr>
              <a:t>ASSETS</a:t>
            </a:r>
            <a:endParaRPr lang="vi-VN" sz="1000" dirty="0">
              <a:latin typeface="Segoe UI"/>
            </a:endParaRPr>
          </a:p>
          <a:p>
            <a:pPr algn="ctr">
              <a:defRPr lang="en-US" sz="10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lang="vi-VN" sz="1000" dirty="0">
                <a:latin typeface="Segoe UI"/>
              </a:rPr>
              <a:t>(</a:t>
            </a:r>
            <a:r>
              <a:rPr lang="vi-VN" sz="1000" dirty="0" err="1">
                <a:latin typeface="Segoe UI"/>
              </a:rPr>
              <a:t>voucher</a:t>
            </a:r>
            <a:r>
              <a:rPr lang="vi-VN" sz="1000" dirty="0">
                <a:latin typeface="Segoe UI"/>
              </a:rPr>
              <a:t>)</a:t>
            </a:r>
          </a:p>
          <a:p>
            <a:pPr>
              <a:defRPr sz="900">
                <a:solidFill>
                  <a:srgbClr val="7D715E"/>
                </a:solidFill>
                <a:latin typeface="Segoe UI"/>
              </a:defRPr>
            </a:pPr>
            <a:br>
              <a:rPr lang="fr-FR" sz="1000" dirty="0"/>
            </a:br>
            <a:r>
              <a:rPr lang="fr-FR" sz="1000" dirty="0">
                <a:latin typeface="Segoe UI"/>
              </a:rPr>
              <a:t>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2: VIP DEALS &amp; LIVESTREAM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TC_DEAL_01  Exclusive Deal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Shop selects product, proposes 13% rate &amp; GMV quota.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Deal card instantly appears in KOL chat via Socket.IO.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TC_DEAL_02  Deal Acceptance &amp; VIP Voucher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KOL clicks 'Accept Deal' directly inside chat room.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Deal marked Approved; VIP Voucher &amp; Smart Link issued.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800" y="4032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TC_DEAL_03  Live Broadcast &amp; +3% Bonus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800" y="429120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Shop pins Deal; KOL starts live video broadcast.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Red Live badge active; commission boosted to 16%.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800" y="49536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TC_DEAL_04  Live Session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800" y="521280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End stream -&gt; Summary analytics dashboard displays.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Chat &amp; pinned deals locked; rate returns to base 13%.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89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TC_DEAL_01  Rate Exceeds Cap (&gt;25%)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Input rate &gt;25%: API blocks submission with warning.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Network disconnect: Display auto-reconnect banner.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89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TC_DEAL_02  Proposal Rejected / 48h Timeout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KOL clicks Reject: Deal cancelled, retain base 10%.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No response after 48h: Proposal expires, locked.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89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TC_DEAL_03  Out of Stock / 25% Ceiling Cap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Stock = 0: Hide purchase button in live tray automatically.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Rate calculation: Automatically enforce 25% hard ceiling.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89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TC_DEAL_04  Tab Closed / Post-Stream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Tab closed: Server safely closes session after 5 mins.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Message after live: Display 'Live session has ended'.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" y="6408420"/>
            <a:ext cx="105918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BUSINESS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3600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6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FLOW 3: MULTI-CHANNEL ATTRIBUTION &amp; CHECKOUT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00" y="1260000"/>
            <a:ext cx="576000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89799" y="5193000"/>
            <a:ext cx="1800000" cy="64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DIRECT MARKETPLACE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9799" y="4650145"/>
            <a:ext cx="93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 b="1" dirty="0">
                <a:latin typeface="Segoe UI"/>
              </a:rPr>
              <a:t>Direct Order</a:t>
            </a:r>
            <a:endParaRPr sz="1000" b="1" dirty="0"/>
          </a:p>
        </p:txBody>
      </p:sp>
      <p:pic>
        <p:nvPicPr>
          <p:cNvPr id="8" name="Picture 7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2844000"/>
            <a:ext cx="792000" cy="7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3708000"/>
            <a:ext cx="165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924000"/>
            <a:ext cx="16560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5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endParaRPr sz="1000" dirty="0">
              <a:latin typeface="Segoe U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728000" y="1584000"/>
            <a:ext cx="504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56000" y="1296000"/>
            <a:ext cx="864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CLICKS LINK</a:t>
            </a:r>
          </a:p>
        </p:txBody>
      </p:sp>
      <p:pic>
        <p:nvPicPr>
          <p:cNvPr id="13" name="Picture 12" descr="icon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000" y="1260000"/>
            <a:ext cx="576000" cy="57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44000" y="1872000"/>
            <a:ext cx="1800000" cy="64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SMART LINK &amp; DYNAMIC QR</a:t>
            </a:r>
          </a:p>
          <a:p>
            <a:pPr algn="ctr">
              <a:defRPr sz="760">
                <a:solidFill>
                  <a:srgbClr val="B88E4F"/>
                </a:solidFill>
                <a:latin typeface="Segoe UI"/>
              </a:defRPr>
            </a:pPr>
            <a:r>
              <a:rPr sz="1000" dirty="0">
                <a:latin typeface="Segoe UI"/>
              </a:rPr>
              <a:t>Shared by COLLABORATOR (30-day Cookie)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28000" y="1584000"/>
            <a:ext cx="0" cy="3312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28000" y="3240000"/>
            <a:ext cx="50400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24000" y="3240000"/>
            <a:ext cx="504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05681" y="2853001"/>
            <a:ext cx="864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sz="780" b="1">
                <a:solidFill>
                  <a:srgbClr val="B88E4F"/>
                </a:solidFill>
                <a:latin typeface="Segoe UI"/>
              </a:defRPr>
            </a:pPr>
            <a:r>
              <a:rPr sz="1000" dirty="0">
                <a:latin typeface="Segoe UI"/>
              </a:rPr>
              <a:t>WATCHES LIVE</a:t>
            </a:r>
          </a:p>
        </p:txBody>
      </p:sp>
      <p:pic>
        <p:nvPicPr>
          <p:cNvPr id="19" name="Picture 18" descr="icon_livestr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0748" y="2954168"/>
            <a:ext cx="576000" cy="57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44000" y="3528000"/>
            <a:ext cx="1800000" cy="64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SHOP LIVE STREAM SESSION</a:t>
            </a:r>
            <a:endParaRPr lang="vi-VN" sz="1000" dirty="0">
              <a:latin typeface="Segoe UI"/>
            </a:endParaRPr>
          </a:p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endParaRPr sz="1000" dirty="0">
              <a:latin typeface="Segoe UI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672000" y="1584000"/>
            <a:ext cx="108000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52000" y="1584000"/>
            <a:ext cx="0" cy="1980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44000" y="1296000"/>
            <a:ext cx="93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1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Cookie Attributed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72000" y="3240000"/>
            <a:ext cx="108000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44000" y="2952000"/>
            <a:ext cx="93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 Live Deal</a:t>
            </a:r>
          </a:p>
        </p:txBody>
      </p:sp>
      <p:cxnSp>
        <p:nvCxnSpPr>
          <p:cNvPr id="26" name="Connector 25"/>
          <p:cNvCxnSpPr>
            <a:cxnSpLocks/>
          </p:cNvCxnSpPr>
          <p:nvPr/>
        </p:nvCxnSpPr>
        <p:spPr>
          <a:xfrm>
            <a:off x="1728000" y="4896000"/>
            <a:ext cx="860748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752000" y="3564000"/>
            <a:ext cx="0" cy="1332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2900" y="4716000"/>
            <a:ext cx="93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1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 DIRECT SEARCH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2000" y="3564000"/>
            <a:ext cx="360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88000" y="3312000"/>
            <a:ext cx="648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7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ADD TO CART</a:t>
            </a:r>
          </a:p>
        </p:txBody>
      </p:sp>
      <p:pic>
        <p:nvPicPr>
          <p:cNvPr id="31" name="Picture 30" descr="icon_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865" y="3330000"/>
            <a:ext cx="648000" cy="648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80000" y="3960000"/>
            <a:ext cx="1512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MARKETPLACE CART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32000" y="3564000"/>
            <a:ext cx="648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16000" y="3060000"/>
            <a:ext cx="1080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SECURE CHECKOUT</a:t>
            </a:r>
          </a:p>
        </p:txBody>
      </p:sp>
      <p:pic>
        <p:nvPicPr>
          <p:cNvPr id="35" name="Picture 34" descr="icon_lock_au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0000" y="3240000"/>
            <a:ext cx="612000" cy="61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76000" y="3924000"/>
            <a:ext cx="1656000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QUICK LOGIN MODAL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28000" y="3564000"/>
            <a:ext cx="648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56000" y="3060000"/>
            <a:ext cx="792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PAY VIETQR</a:t>
            </a:r>
          </a:p>
        </p:txBody>
      </p:sp>
      <p:pic>
        <p:nvPicPr>
          <p:cNvPr id="39" name="Picture 38" descr="icon_qr_paym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000" y="3240000"/>
            <a:ext cx="576000" cy="612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489246" y="3987000"/>
            <a:ext cx="1440000" cy="72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 err="1">
                <a:latin typeface="Segoe UI"/>
              </a:rPr>
              <a:t>VIETQR</a:t>
            </a:r>
            <a:r>
              <a:rPr sz="1000" dirty="0">
                <a:latin typeface="Segoe UI"/>
              </a:rPr>
              <a:t> / PAYOS 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96000" y="3564000"/>
            <a:ext cx="720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24000" y="3060000"/>
            <a:ext cx="864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WEBHOOK VERIFY</a:t>
            </a:r>
          </a:p>
        </p:txBody>
      </p:sp>
      <p:pic>
        <p:nvPicPr>
          <p:cNvPr id="43" name="Picture 42" descr="icon_system_moni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000" y="3240000"/>
            <a:ext cx="612000" cy="612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84000" y="2592000"/>
            <a:ext cx="1656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PAYMENT GATEWAY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200384" y="3412748"/>
            <a:ext cx="365751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566135" y="2843957"/>
            <a:ext cx="0" cy="568791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566135" y="2843957"/>
            <a:ext cx="40639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362940" y="2523917"/>
            <a:ext cx="731501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PAID</a:t>
            </a:r>
          </a:p>
        </p:txBody>
      </p:sp>
      <p:pic>
        <p:nvPicPr>
          <p:cNvPr id="49" name="Picture 48" descr="icon_approve_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3164" y="2559561"/>
            <a:ext cx="568945" cy="56879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553700" y="3200400"/>
            <a:ext cx="1524000" cy="792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ORDER PAID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200384" y="3737772"/>
            <a:ext cx="365751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66135" y="3737772"/>
            <a:ext cx="0" cy="568791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566135" y="4306563"/>
            <a:ext cx="40639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937792" y="4328160"/>
            <a:ext cx="952500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PENDING</a:t>
            </a:r>
          </a:p>
        </p:txBody>
      </p:sp>
      <p:pic>
        <p:nvPicPr>
          <p:cNvPr id="55" name="Picture 54" descr="icon_timer_escr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3164" y="4022168"/>
            <a:ext cx="568945" cy="56879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15600" y="4686300"/>
            <a:ext cx="1562100" cy="876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UNPAID ORDERS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252" y="2916000"/>
            <a:ext cx="576000" cy="576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-92365" y="3456000"/>
            <a:ext cx="184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7D715E"/>
                </a:solidFill>
                <a:latin typeface="Segoe UI"/>
              </a:defRPr>
            </a:pPr>
            <a:endParaRPr sz="1000"/>
          </a:p>
        </p:txBody>
      </p:sp>
      <p:sp>
        <p:nvSpPr>
          <p:cNvPr id="59" name="TextBox 58"/>
          <p:cNvSpPr txBox="1"/>
          <p:nvPr/>
        </p:nvSpPr>
        <p:spPr>
          <a:xfrm>
            <a:off x="-92365" y="3762000"/>
            <a:ext cx="184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7D715E"/>
                </a:solidFill>
                <a:latin typeface="Segoe UI"/>
              </a:defRPr>
            </a:pPr>
            <a:endParaRPr sz="1000"/>
          </a:p>
        </p:txBody>
      </p:sp>
      <p:pic>
        <p:nvPicPr>
          <p:cNvPr id="60" name="Picture 59" descr="search_ic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01799" y="4497145"/>
            <a:ext cx="576000" cy="576000"/>
          </a:xfrm>
          <a:prstGeom prst="rect">
            <a:avLst/>
          </a:prstGeom>
        </p:spPr>
      </p:pic>
      <p:cxnSp>
        <p:nvCxnSpPr>
          <p:cNvPr id="61" name="Connector 60"/>
          <p:cNvCxnSpPr/>
          <p:nvPr/>
        </p:nvCxnSpPr>
        <p:spPr>
          <a:xfrm>
            <a:off x="3672000" y="4896000"/>
            <a:ext cx="1080000" cy="0"/>
          </a:xfrm>
          <a:prstGeom prst="line">
            <a:avLst/>
          </a:prstGeom>
          <a:ln w="19050">
            <a:solidFill>
              <a:srgbClr val="7D7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3: ATTRIBUTION &amp; CHECKOUT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800" y="218694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TC_ATTR_01  Smart Link &amp; Dynamic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KOL selects product and clicks 'Generate Link'.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Generates /r/:slug &amp; QR code; download PNG supported.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800" y="310896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TC_ATTR_02  30-Day Marketing Cookie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Buyer clicks link -&gt; Redirect to product page.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Cookie stored 30 days; Last-Click updates new KOL.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800" y="403098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TC_ATTR_03  In-Place Modal Quick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Guest clicks Checkout -&gt; Login modal opens in-place.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Cart 100% preserved after login for instant checkout.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800" y="495300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TC_ATTR_04  VietQR Instant Order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Buyer scans VietQR -&gt; PayOS sends instant webhook.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Order marked PAID; commission sent to Escrow Vault.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7200" y="218694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TC_ATTR_01  Unverified KYC / Deleted 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Unverified KYC: Disable link generation with prompt.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Deleted product: Display 404 Discontinued Item page.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7200" y="310896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TC_ATTR_02  Invalid Slug / Cookie Expired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Invalid slug: Safely redirect buyer to Marketplace.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&gt;30 days: Attributed as organic order without commission.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7200" y="403098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TC_ATTR_03  Invalid Password / Unregistered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Wrong password: Show inline error without reload.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No account: 30-second Quick Register on same modal.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7200" y="495300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TC_ATTR_04  Underpaid Amount / Bad Signature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Underpaid: Keep order in Pending Payment tab.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Bad signature: Webhook returns 403, logged to security.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" y="6408420"/>
            <a:ext cx="105918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endParaRPr sz="1000" dirty="0"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3600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400" dirty="0">
                <a:latin typeface="Segoe UI"/>
              </a:rPr>
              <a:t>FLOW 4: FULFILLMENT &amp; DISPUTES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18" y="2803329"/>
            <a:ext cx="894057" cy="89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67" y="3778400"/>
            <a:ext cx="1625559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SHOP MANAGER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69393" y="3250236"/>
            <a:ext cx="1463003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92908" y="2731932"/>
            <a:ext cx="1137891" cy="670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CREATE SHIPMENT</a:t>
            </a:r>
          </a:p>
        </p:txBody>
      </p:sp>
      <p:pic>
        <p:nvPicPr>
          <p:cNvPr id="9" name="Picture 8" descr="icon_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674" y="2884585"/>
            <a:ext cx="812779" cy="731303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307732" y="3250236"/>
            <a:ext cx="121916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06438" y="2718953"/>
            <a:ext cx="1434683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8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/>
              <a:t>DELIVER PARCEL</a:t>
            </a:r>
          </a:p>
        </p:txBody>
      </p:sp>
      <p:pic>
        <p:nvPicPr>
          <p:cNvPr id="12" name="Picture 11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533" y="2815011"/>
            <a:ext cx="894057" cy="8938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01789" y="3778400"/>
            <a:ext cx="1625559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CUSTOMER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42876" y="3047097"/>
            <a:ext cx="325112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867988" y="2275165"/>
            <a:ext cx="0" cy="771932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67988" y="2275165"/>
            <a:ext cx="117853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1957" y="1803068"/>
            <a:ext cx="1305360" cy="670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HOLD 14-DAY ESCROW</a:t>
            </a:r>
          </a:p>
        </p:txBody>
      </p:sp>
      <p:pic>
        <p:nvPicPr>
          <p:cNvPr id="18" name="Picture 17" descr="icon_timer_esc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116" y="1929828"/>
            <a:ext cx="690862" cy="690675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8899937" y="2275165"/>
            <a:ext cx="1341086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62493" y="1749385"/>
            <a:ext cx="975335" cy="4648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14-DAY MATURED</a:t>
            </a:r>
          </a:p>
        </p:txBody>
      </p:sp>
      <p:pic>
        <p:nvPicPr>
          <p:cNvPr id="21" name="Picture 20" descr="icon_approve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3260" y="1929828"/>
            <a:ext cx="690862" cy="6906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95241" y="2595205"/>
            <a:ext cx="1866900" cy="792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RELEASE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42876" y="3453376"/>
            <a:ext cx="325112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67988" y="3453376"/>
            <a:ext cx="0" cy="934443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67988" y="4387819"/>
            <a:ext cx="1015974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78776" y="4006378"/>
            <a:ext cx="1028700" cy="495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OPEN DISPUTE</a:t>
            </a:r>
          </a:p>
        </p:txBody>
      </p:sp>
      <p:pic>
        <p:nvPicPr>
          <p:cNvPr id="27" name="Picture 26" descr="icon_video_disp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5240" y="4062796"/>
            <a:ext cx="650223" cy="6500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82917" y="4824110"/>
            <a:ext cx="1828800" cy="502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UNBOXING VIDEO</a:t>
            </a:r>
          </a:p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Return 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6103" y="4225308"/>
            <a:ext cx="528307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184410" y="3900284"/>
            <a:ext cx="0" cy="325024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84410" y="3900284"/>
            <a:ext cx="89405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36039" y="3474738"/>
            <a:ext cx="1295400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SHOP ACCEPTS RETURN</a:t>
            </a:r>
          </a:p>
        </p:txBody>
      </p:sp>
      <p:pic>
        <p:nvPicPr>
          <p:cNvPr id="33" name="Picture 32" descr="icon_approve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0384" y="3615888"/>
            <a:ext cx="568945" cy="56879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601200" y="4251960"/>
            <a:ext cx="2438400" cy="518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REFUND &amp; </a:t>
            </a:r>
            <a:r>
              <a:rPr sz="1000" dirty="0" err="1">
                <a:latin typeface="Segoe UI"/>
              </a:rPr>
              <a:t>CLAWBACK</a:t>
            </a:r>
            <a:endParaRPr sz="1000" dirty="0">
              <a:latin typeface="Segoe UI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8656103" y="4550331"/>
            <a:ext cx="528307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184410" y="4550331"/>
            <a:ext cx="0" cy="568792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184410" y="5119123"/>
            <a:ext cx="89405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258300" y="4655820"/>
            <a:ext cx="853440" cy="441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SHOP REJECTS</a:t>
            </a:r>
          </a:p>
        </p:txBody>
      </p:sp>
      <p:pic>
        <p:nvPicPr>
          <p:cNvPr id="39" name="Picture 38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384" y="4834727"/>
            <a:ext cx="568945" cy="56879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0000" y="5400000"/>
            <a:ext cx="3312000" cy="9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5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SYSTEM MANAGER ARBITRATION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4: FULFILLMENT &amp; DISPUTES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TC_FUL_01  GHN Waybill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Shop clicks 'Create Waybill' -&gt; GHN API connected.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Tracking code issued; status changed to In Transit.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TC_FUL_02  Delivery &amp; 14-Day Escrow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Delivery successful -&gt; 14-day Escrow clock starts.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Funds secured in Platform Vault; commission protected.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TC_FUL_03  Return Claim with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Buyer uploads unboxing video and submits claim.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Order set to Return Requested; Escrow frozen instantly.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TC_FUL_04  Dual-Video Platform Arbitration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System Manager reviews unboxing &amp; packaging videos.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Buyer valid: 100% wallet refund, commission clawed 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89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TC_FUL_01  Missing Dims / Carrier Busy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Missing weight/dims: Block form, prompt input.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GHN maintenance: Display 'Gateway busy, retry later'.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89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TC_FUL_02</a:t>
            </a:r>
            <a:r>
              <a:rPr dirty="0"/>
              <a:t>  Early Payout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/>
              <a:t>Withdrawal before 14 days: Alert 'Escrow lock active'.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89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TC_FUL_03  Expired 14 Days / Missing Video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&gt;14 days delivered: Return button automatically hidden.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Missing unboxing video: Block return claim submission.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89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TC_FUL_04  Dispute Rejected / Shop Inactive 48h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/>
              <a:t>Buyer invalid: Dismiss dispute, release Escrow to Shop.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rPr dirty="0"/>
              <a:t>Shop inactive </a:t>
            </a:r>
            <a:r>
              <a:rPr dirty="0" err="1"/>
              <a:t>48h</a:t>
            </a:r>
            <a:r>
              <a:rPr dirty="0"/>
              <a:t>: Platform auto-refunds buyer.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" y="6408420"/>
            <a:ext cx="105918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4000"/>
            <a:ext cx="121932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594000"/>
            <a:ext cx="12193200" cy="2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6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t>FLOW 5: COMMISSION &amp; REVENUE SETTLEMENT</a:t>
            </a:r>
          </a:p>
        </p:txBody>
      </p:sp>
      <p:pic>
        <p:nvPicPr>
          <p:cNvPr id="5" name="Picture 4" descr="icon_system_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00000" y="792000"/>
            <a:ext cx="0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3600000" y="756000"/>
            <a:ext cx="0" cy="54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endParaRPr/>
          </a:p>
        </p:txBody>
      </p:sp>
      <p:cxnSp>
        <p:nvCxnSpPr>
          <p:cNvPr id="7" name="Connector 6"/>
          <p:cNvCxnSpPr/>
          <p:nvPr/>
        </p:nvCxnSpPr>
        <p:spPr>
          <a:xfrm flipV="1">
            <a:off x="1404000" y="3456000"/>
            <a:ext cx="2340000" cy="122400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56000" y="4680000"/>
            <a:ext cx="129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19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t>REQUEST PAYOUT</a:t>
            </a:r>
          </a:p>
        </p:txBody>
      </p:sp>
      <p:pic>
        <p:nvPicPr>
          <p:cNvPr id="9" name="Picture 8" descr="avatar_prist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1656000"/>
            <a:ext cx="720000" cy="72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" y="2448000"/>
            <a:ext cx="1872000" cy="50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COLLABORATOR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04000" y="2016000"/>
            <a:ext cx="2340000" cy="115200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56000" y="1800000"/>
            <a:ext cx="129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19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t>REQUEST PAYOUT</a:t>
            </a:r>
          </a:p>
        </p:txBody>
      </p:sp>
      <p:pic>
        <p:nvPicPr>
          <p:cNvPr id="13" name="Picture 12" descr="icon_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0000" y="2916000"/>
            <a:ext cx="720000" cy="75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60000" y="2610000"/>
            <a:ext cx="2160000" cy="86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PAYOUT DOSSIER</a:t>
            </a:r>
            <a:endParaRPr lang="vi-VN" dirty="0"/>
          </a:p>
        </p:txBody>
      </p:sp>
      <p:pic>
        <p:nvPicPr>
          <p:cNvPr id="15" name="Picture 14" descr="avatar_prist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000" y="5040000"/>
            <a:ext cx="720000" cy="72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00000" y="5832000"/>
            <a:ext cx="28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t>SYSTEM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0000" y="6066000"/>
            <a:ext cx="28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5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endParaRPr dirty="0"/>
          </a:p>
        </p:txBody>
      </p:sp>
      <p:cxnSp>
        <p:nvCxnSpPr>
          <p:cNvPr id="18" name="Connector 17"/>
          <p:cNvCxnSpPr/>
          <p:nvPr/>
        </p:nvCxnSpPr>
        <p:spPr>
          <a:xfrm flipV="1">
            <a:off x="4140000" y="3708000"/>
            <a:ext cx="0" cy="126000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48000" y="4140000"/>
            <a:ext cx="1944000" cy="50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85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AUDIT &amp; APPROVE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36000" y="3294000"/>
            <a:ext cx="1764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44000" y="3015000"/>
            <a:ext cx="1620000" cy="39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19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DISPATCH NAPAS 24/7</a:t>
            </a:r>
          </a:p>
        </p:txBody>
      </p:sp>
      <p:pic>
        <p:nvPicPr>
          <p:cNvPr id="22" name="Picture 21" descr="icon_cash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000" y="2898000"/>
            <a:ext cx="792000" cy="792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32000" y="3744000"/>
            <a:ext cx="1800000" cy="50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NAPAS 24</a:t>
            </a:r>
            <a:r>
              <a:rPr lang="vi-VN" dirty="0"/>
              <a:t>/7</a:t>
            </a:r>
            <a:endParaRPr dirty="0"/>
          </a:p>
        </p:txBody>
      </p:sp>
      <p:cxnSp>
        <p:nvCxnSpPr>
          <p:cNvPr id="24" name="Connector 23"/>
          <p:cNvCxnSpPr/>
          <p:nvPr/>
        </p:nvCxnSpPr>
        <p:spPr>
          <a:xfrm>
            <a:off x="7128000" y="3294000"/>
            <a:ext cx="115200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0000" y="2664000"/>
            <a:ext cx="0" cy="630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80000" y="2664000"/>
            <a:ext cx="1008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52000" y="2376000"/>
            <a:ext cx="864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>
                <a:latin typeface="Segoe UI"/>
              </a:rPr>
              <a:t>SUCCESS</a:t>
            </a:r>
          </a:p>
        </p:txBody>
      </p:sp>
      <p:pic>
        <p:nvPicPr>
          <p:cNvPr id="28" name="Picture 27" descr="icon_approv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0000" y="2340000"/>
            <a:ext cx="648000" cy="648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0000" y="3060000"/>
            <a:ext cx="2160000" cy="57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5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dirty="0">
                <a:latin typeface="Segoe UI"/>
              </a:rPr>
              <a:t>BANK CREDITED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80000" y="3294000"/>
            <a:ext cx="0" cy="1026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80000" y="4320000"/>
            <a:ext cx="1008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52000" y="4032000"/>
            <a:ext cx="864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>
                <a:latin typeface="Segoe UI"/>
              </a:rPr>
              <a:t>FAILED</a:t>
            </a:r>
          </a:p>
        </p:txBody>
      </p:sp>
      <p:pic>
        <p:nvPicPr>
          <p:cNvPr id="33" name="Picture 32" descr="icon_reject_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0000" y="3996000"/>
            <a:ext cx="648000" cy="64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40000" y="4716000"/>
            <a:ext cx="2232000" cy="57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5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dirty="0">
                <a:latin typeface="Segoe UI"/>
              </a:rPr>
              <a:t>RESTORE WALLET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4320000"/>
            <a:ext cx="720000" cy="72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49807" y="5112000"/>
            <a:ext cx="13163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Segoe UI"/>
              </a:defRPr>
            </a:pPr>
            <a:r>
              <a:rPr dirty="0"/>
              <a:t>SHOP MANAGER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5: BONUSES &amp; PAYOUTS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TC_PAY_01  Monthly Milestone Bonus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Scans monthly net escrow revenue on month-end.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GMV &gt;50M VND earns +2% bonus (e.g. 52.4M * 2%).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TC_PAY_02  Withdrawal Request &amp; Tax Withheld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KOL requests 5,000,000 VND -&gt; 10% PIT tax withheld.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Net 4.5M disbursed; wallet funds locked to prevent double.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TC_PAY_03  Admin Audit &amp; Napas 24/7 Dispatch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System Admin verifies bank details and attaches receipt.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Order marked Disbursed; locked funds permanently deducted.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TC_PAY_04  Automatic Refund on Bank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Bank transfer fails or Admin rejects invalid account.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100% of requested funds safely restored to wallet.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89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TC_PAY_01  Returned Orders / Milestone Unmet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Returned orders: Automatically deducted from bonus GMV.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Target unmet: 0 VND bonus, original commission intact.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89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TC_PAY_02  Insufficient Balance / Below Minimum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/>
              <a:t>Amount &gt; Available balance: Form disables submit.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rPr dirty="0"/>
              <a:t>Amount &lt; 100,000 VND: Alert 'Minimum payout is </a:t>
            </a:r>
            <a:r>
              <a:rPr dirty="0" err="1"/>
              <a:t>100k</a:t>
            </a:r>
            <a:r>
              <a:rPr dirty="0"/>
              <a:t>'.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89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TC_PAY_03  Unauthorized Access / Missing Receipt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Non-admin user: RBAC immediately blocks with 403.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No bank receipt uploaded: Disburse button disabled.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89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TC_PAY_04  Bank Gateway Timeout / Stuck Order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Banking timeout: Flag order for reconciliation review.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Never suppress errors; keep funds locked until clear.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" y="6408420"/>
            <a:ext cx="105918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779" y="2275165"/>
            <a:ext cx="10566135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2762701"/>
            <a:ext cx="10566135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rPr dirty="0"/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3822120"/>
            <a:ext cx="10566135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SCANMS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4382</Words>
  <Application>Microsoft Office PowerPoint</Application>
  <PresentationFormat>Màn hình rộng</PresentationFormat>
  <Paragraphs>604</Paragraphs>
  <Slides>16</Slides>
  <Notes>16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Choc</dc:creator>
  <cp:keywords/>
  <dc:description>generated using python-pptx</dc:description>
  <cp:lastModifiedBy>Choc</cp:lastModifiedBy>
  <cp:revision>12</cp:revision>
  <dcterms:created xsi:type="dcterms:W3CDTF">2013-01-27T09:14:16Z</dcterms:created>
  <dcterms:modified xsi:type="dcterms:W3CDTF">2026-10-28T17:22:34Z</dcterms:modified>
  <cp:category/>
</cp:coreProperties>
</file>