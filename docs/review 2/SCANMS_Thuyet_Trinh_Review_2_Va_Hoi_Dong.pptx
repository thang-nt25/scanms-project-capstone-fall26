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4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4.png"/><Relationship Id="rId11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00447" y="1950142"/>
            <a:ext cx="5689457" cy="528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400" b="1">
                <a:solidFill>
                  <a:srgbClr val="1A1612"/>
                </a:solidFill>
                <a:latin typeface="Arial"/>
              </a:defRPr>
            </a:pPr>
            <a:r>
              <a:t>SCANMS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0447" y="2518933"/>
            <a:ext cx="6095847" cy="568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B88E4F"/>
                </a:solidFill>
                <a:latin typeface="Arial"/>
              </a:defRPr>
            </a:pPr>
            <a:r>
              <a:t>SALES COLLABORATOR &amp; AFFILIATE</a:t>
            </a:r>
          </a:p>
          <a:p>
            <a:pPr algn="l">
              <a:defRPr sz="2400" b="1">
                <a:solidFill>
                  <a:srgbClr val="B88E4F"/>
                </a:solidFill>
                <a:latin typeface="Arial"/>
              </a:defRPr>
            </a:pPr>
            <a:r>
              <a:t>NETWORK MANAGEMENT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00447" y="3250236"/>
            <a:ext cx="3982620" cy="0"/>
          </a:xfrm>
          <a:prstGeom prst="line">
            <a:avLst/>
          </a:prstGeom>
          <a:ln w="31750">
            <a:solidFill>
              <a:srgbClr val="C59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00447" y="3412748"/>
            <a:ext cx="6095847" cy="9750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0">
                <a:solidFill>
                  <a:srgbClr val="1A1612"/>
                </a:solidFill>
                <a:latin typeface="Arial"/>
              </a:defRPr>
            </a:pPr>
            <a:r>
              <a:t>CAPSTONE PROJECT DEFENSE  |  REVIEW 2</a:t>
            </a:r>
          </a:p>
          <a:p>
            <a:pPr algn="l">
              <a:defRPr sz="1800" b="0">
                <a:solidFill>
                  <a:srgbClr val="1A1612"/>
                </a:solidFill>
                <a:latin typeface="Arial"/>
              </a:defRPr>
            </a:pPr>
            <a:r>
              <a:t>Team: FA26SE032</a:t>
            </a:r>
          </a:p>
          <a:p>
            <a:pPr algn="l">
              <a:defRPr sz="1800" b="0">
                <a:solidFill>
                  <a:srgbClr val="1A1612"/>
                </a:solidFill>
                <a:latin typeface="Arial"/>
              </a:defRPr>
            </a:pPr>
            <a:r>
              <a:t>Team Leader: NGUYỄN THÀNH THẮNG</a:t>
            </a:r>
          </a:p>
          <a:p>
            <a:pPr algn="l">
              <a:defRPr sz="1800" b="0">
                <a:solidFill>
                  <a:srgbClr val="1A1612"/>
                </a:solidFill>
                <a:latin typeface="Arial"/>
              </a:defRPr>
            </a:pPr>
            <a:r>
              <a:t>Major: Software Engineering  |  FPT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00447" y="1787630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44281" y="1970456"/>
            <a:ext cx="487667" cy="325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B88E4F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13227" y="1909514"/>
            <a:ext cx="0" cy="467221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75783" y="1990770"/>
            <a:ext cx="8371630" cy="284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1A1612"/>
                </a:solidFill>
                <a:latin typeface="Arial"/>
              </a:defRPr>
            </a:pPr>
            <a:r>
              <a:t>OVERVIEW ARCHITECTURE (Kiến trúc Hệ thống Tổng quan)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00447" y="2701759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4281" y="2884585"/>
            <a:ext cx="487667" cy="325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B88E4F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13227" y="2823643"/>
            <a:ext cx="0" cy="467221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75783" y="2904899"/>
            <a:ext cx="8371630" cy="284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1A1612"/>
                </a:solidFill>
                <a:latin typeface="Arial"/>
              </a:defRPr>
            </a:pPr>
            <a:r>
              <a:t>CORE TECHNOLOGIES &amp; APPARATUS (Công nghệ Cốt lõi &amp; 4 Phân hệ Nền tảng)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00447" y="3615888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44281" y="3798714"/>
            <a:ext cx="487667" cy="325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B88E4F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13227" y="3737772"/>
            <a:ext cx="0" cy="467222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75783" y="3819028"/>
            <a:ext cx="8371630" cy="284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1A1612"/>
                </a:solidFill>
                <a:latin typeface="Arial"/>
              </a:defRPr>
            </a:pPr>
            <a:r>
              <a:t>CONCEPTUAL DATA MODEL (Mô hình Dữ liệu Thực thể Liên kết 16 Bảng)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00447" y="4530017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44281" y="4712843"/>
            <a:ext cx="487667" cy="325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B88E4F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13227" y="4651901"/>
            <a:ext cx="0" cy="467222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5783" y="4733157"/>
            <a:ext cx="8371630" cy="284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1A1612"/>
                </a:solidFill>
                <a:latin typeface="Arial"/>
              </a:defRPr>
            </a:pPr>
            <a:r>
              <a:t>5 MAIN BUSINESS FLOWS &amp; UAT TEST MATRICES (5 Quy trình Nghiệp vụ &amp; Kịch bản Test)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00447" y="5444146"/>
            <a:ext cx="9590800" cy="710989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44281" y="5626972"/>
            <a:ext cx="487667" cy="325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B88E4F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13227" y="5566030"/>
            <a:ext cx="0" cy="467222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75783" y="5647286"/>
            <a:ext cx="8371630" cy="284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1A1612"/>
                </a:solidFill>
                <a:latin typeface="Arial"/>
              </a:defRPr>
            </a:pPr>
            <a:r>
              <a:t>QUESTIONS &amp; ANSWERS (Giải đáp Câu hỏi &amp; Thảo luận Chuyên môn)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0223" y="2031398"/>
            <a:ext cx="3088562" cy="3250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600" b="1">
                <a:solidFill>
                  <a:srgbClr val="1A1612"/>
                </a:solidFill>
                <a:latin typeface="Arial"/>
              </a:defRPr>
            </a:pPr>
            <a:r>
              <a:t>SCANMS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223" y="2356421"/>
            <a:ext cx="3088562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B88E4F"/>
                </a:solidFill>
                <a:latin typeface="Arial"/>
              </a:defRPr>
            </a:pPr>
            <a:r>
              <a:t>MULTI-PORTAL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223" y="2600189"/>
            <a:ext cx="3088562" cy="812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>
                <a:solidFill>
                  <a:srgbClr val="7D715E"/>
                </a:solidFill>
                <a:latin typeface="Arial"/>
              </a:defRPr>
            </a:pPr>
            <a:r>
              <a:t>Nền tảng tích hợp 4 cổng chuyên biệt kết nối chặt chẽ Khách hàng, KOL/KOC, Chủ Shop và Chuyên viên vận hành trên cùng một hạ tầng.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3898" y="1056327"/>
            <a:ext cx="7477573" cy="109695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_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90" y="1381350"/>
            <a:ext cx="447028" cy="446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39234" y="1239152"/>
            <a:ext cx="6339681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A1612"/>
                </a:solidFill>
                <a:latin typeface="Arial"/>
              </a:defRPr>
            </a:pPr>
            <a:r>
              <a:t>CUSTOMER WEB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234" y="1482920"/>
            <a:ext cx="6339681" cy="528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7D715E"/>
                </a:solidFill>
                <a:latin typeface="Arial"/>
              </a:defRPr>
            </a:pPr>
            <a:r>
              <a:t>Storefront Marketplace, Live Shopping, Strict Buyer Auth &amp; VietQR Gateway</a:t>
            </a:r>
          </a:p>
          <a:p>
            <a:pPr algn="l">
              <a:defRPr sz="1300" b="0">
                <a:solidFill>
                  <a:srgbClr val="7D715E"/>
                </a:solidFill>
                <a:latin typeface="Arial"/>
              </a:defRPr>
            </a:pPr>
            <a:r>
              <a:t>Cổng mua sắm mượt mà, xác thực người mua chặt chẽ, giỏ hàng bảo toàn và thanh toán tức thì.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3898" y="2315793"/>
            <a:ext cx="7477573" cy="109695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_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690" y="2640817"/>
            <a:ext cx="447028" cy="446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39234" y="2498619"/>
            <a:ext cx="6339681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A1612"/>
                </a:solidFill>
                <a:latin typeface="Arial"/>
              </a:defRPr>
            </a:pPr>
            <a:r>
              <a:t>COLLABORATOR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9234" y="2742387"/>
            <a:ext cx="6339681" cy="528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7D715E"/>
                </a:solidFill>
                <a:latin typeface="Arial"/>
              </a:defRPr>
            </a:pPr>
            <a:r>
              <a:t>Affiliate Smart Links, Media Hub, Performance Analytics &amp; Exclusive Deals</a:t>
            </a:r>
          </a:p>
          <a:p>
            <a:pPr algn="l">
              <a:defRPr sz="1300" b="0">
                <a:solidFill>
                  <a:srgbClr val="7D715E"/>
                </a:solidFill>
                <a:latin typeface="Arial"/>
              </a:defRPr>
            </a:pPr>
            <a:r>
              <a:t>Cổng dành riêng cho KOL/KOC sinh Smart Link/QR, xin mẫu thử 14 ngày, đàm phán deal VIP và nhận hoa hồng.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3898" y="3575260"/>
            <a:ext cx="7477573" cy="109695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product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690" y="3900284"/>
            <a:ext cx="447028" cy="4469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39234" y="3758086"/>
            <a:ext cx="6339681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A1612"/>
                </a:solidFill>
                <a:latin typeface="Arial"/>
              </a:defRPr>
            </a:pPr>
            <a:r>
              <a:t>SHOP MANAGER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234" y="4001854"/>
            <a:ext cx="6339681" cy="528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7D715E"/>
                </a:solidFill>
                <a:latin typeface="Arial"/>
              </a:defRPr>
            </a:pPr>
            <a:r>
              <a:t>6-Block Product Matrix, Deal Negotiation, Order Fulfillment &amp; GHN Delivery</a:t>
            </a:r>
          </a:p>
          <a:p>
            <a:pPr algn="l">
              <a:defRPr sz="1300" b="0">
                <a:solidFill>
                  <a:srgbClr val="7D715E"/>
                </a:solidFill>
                <a:latin typeface="Arial"/>
              </a:defRPr>
            </a:pPr>
            <a:r>
              <a:t>Cổng vận hành Merchant: cấu hình ma trận sản phẩm 6 khối, duyệt hàng mẫu, mốc thưởng tháng (FR-09).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3898" y="4834727"/>
            <a:ext cx="7477573" cy="109695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vatar_prist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8690" y="5159751"/>
            <a:ext cx="447028" cy="4469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39234" y="5017553"/>
            <a:ext cx="6339681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A1612"/>
                </a:solidFill>
                <a:latin typeface="Arial"/>
              </a:defRPr>
            </a:pPr>
            <a:r>
              <a:t>SYSTEM ADMIN &amp; MANAGER CONSOLE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9234" y="5261321"/>
            <a:ext cx="6339681" cy="528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7D715E"/>
                </a:solidFill>
                <a:latin typeface="Arial"/>
              </a:defRPr>
            </a:pPr>
            <a:r>
              <a:t>Platform Operations, Multi-Tier KYC, User RBAC Governance &amp; Napas 24/7 Payouts</a:t>
            </a:r>
          </a:p>
          <a:p>
            <a:pPr algn="l">
              <a:defRPr sz="1300" b="0">
                <a:solidFill>
                  <a:srgbClr val="7D715E"/>
                </a:solidFill>
                <a:latin typeface="Arial"/>
              </a:defRPr>
            </a:pPr>
            <a:r>
              <a:t>Trung tâm điều hành: Chuyên viên thẩm định KYC/sản phẩm/trọng tài, Super Admin độc quyền quản trị và kho bạc.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45337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SYSTEM 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68791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MULTI-TIER ARCHITECTURE WITH DISTRIBUTED SERVICES &amp; INTEGRATIONS</a:t>
            </a:r>
          </a:p>
        </p:txBody>
      </p:sp>
      <p:pic>
        <p:nvPicPr>
          <p:cNvPr id="5" name="Picture 4" descr="SCANMS_OVERVIEW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1096954"/>
            <a:ext cx="11175720" cy="54441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45337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CONCEPTUAL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68791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CORE BUSINESS DOMAINS &amp; CHEN NOTATION CARDINALITIES (16 CORE ENTITIES)</a:t>
            </a:r>
          </a:p>
        </p:txBody>
      </p:sp>
      <p:pic>
        <p:nvPicPr>
          <p:cNvPr id="5" name="Picture 4" descr="SCANMS_ERD_01_Concep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1096954"/>
            <a:ext cx="11175720" cy="54441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45337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SECURITY &amp; ACCESS CONTROL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68791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SCANMS ACTORS &amp; 5 STANDARDIZED RBAC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0223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891" y="1259466"/>
            <a:ext cx="975335" cy="9750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01" y="2356421"/>
            <a:ext cx="1788115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01" y="2579875"/>
            <a:ext cx="178811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Khách Mua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01" y="2742387"/>
            <a:ext cx="178811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7D715E"/>
                </a:solidFill>
                <a:latin typeface="Arial"/>
              </a:defRPr>
            </a:pPr>
            <a:r>
              <a:t>Shopper &amp; End Buyer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779" y="2965841"/>
            <a:ext cx="1625560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2140" y="3087725"/>
            <a:ext cx="1706837" cy="1868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7D715E"/>
                </a:solidFill>
                <a:latin typeface="Arial"/>
              </a:defRPr>
            </a:pPr>
            <a:r>
              <a:t>Duyệt Marketplace, xem livestream, mua hàng qua link tiếp thị, theo dõi vận đơn GHN, khiếu nại đổi trả.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4728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396" y="1259466"/>
            <a:ext cx="975335" cy="9750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26006" y="2356421"/>
            <a:ext cx="1788115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COLLABORATOR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06" y="2579875"/>
            <a:ext cx="178811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Đối Tác Tiếp Thị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06" y="2742387"/>
            <a:ext cx="178811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7D715E"/>
                </a:solidFill>
                <a:latin typeface="Arial"/>
              </a:defRPr>
            </a:pPr>
            <a:r>
              <a:t>KOL / KOC Affiliate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07284" y="2965841"/>
            <a:ext cx="1625560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66645" y="3087725"/>
            <a:ext cx="1706837" cy="1868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7D715E"/>
                </a:solidFill>
                <a:latin typeface="Arial"/>
              </a:defRPr>
            </a:pPr>
            <a:r>
              <a:t>Định danh cá nhân, sinh Smart Link / Dynamic QR / Coupon độc quyền, xin mẫu thử 14 ngày, hưởng hoa hồng.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9234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901" y="1259466"/>
            <a:ext cx="975335" cy="9750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20511" y="2356421"/>
            <a:ext cx="1788115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SHOP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511" y="2579875"/>
            <a:ext cx="178811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Chủ Gian Hàng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511" y="2742387"/>
            <a:ext cx="178811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7D715E"/>
                </a:solidFill>
                <a:latin typeface="Arial"/>
              </a:defRPr>
            </a:pPr>
            <a:r>
              <a:t>Merchant &amp; Store Owner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01789" y="2965841"/>
            <a:ext cx="1625560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61150" y="3087725"/>
            <a:ext cx="1706837" cy="1868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7D715E"/>
                </a:solidFill>
                <a:latin typeface="Arial"/>
              </a:defRPr>
            </a:pPr>
            <a:r>
              <a:t>Quản lý sản phẩm 6 khối, duyệt hàng mẫu, deal VIP 2 chiều, cấu hình mốc thưởng tháng (FR-09), đối soát ví shop.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33739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6" y="1259466"/>
            <a:ext cx="975335" cy="97507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017" y="2356421"/>
            <a:ext cx="1788115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SYSTEM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017" y="2579875"/>
            <a:ext cx="178811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Chuyên Viên Vận Hành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017" y="2742387"/>
            <a:ext cx="178811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7D715E"/>
                </a:solidFill>
                <a:latin typeface="Arial"/>
              </a:defRPr>
            </a:pPr>
            <a:r>
              <a:t>Operations &amp; Moderator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96295" y="2965841"/>
            <a:ext cx="1625559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55656" y="3087725"/>
            <a:ext cx="1706837" cy="1868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7D715E"/>
                </a:solidFill>
                <a:latin typeface="Arial"/>
              </a:defRPr>
            </a:pPr>
            <a:r>
              <a:t>Thẩm định hồ sơ KYC, kiểm duyệt sản phẩm mới, trọng tài hàng mẫu &amp; phân xử khiếu nại đổi trả độc lập.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28244" y="1056327"/>
            <a:ext cx="1950671" cy="47940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912" y="1259466"/>
            <a:ext cx="975335" cy="97507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09522" y="2356421"/>
            <a:ext cx="1788115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SYSTEM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522" y="2579875"/>
            <a:ext cx="178811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Quản Trị Tối Cao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522" y="2742387"/>
            <a:ext cx="178811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7D715E"/>
                </a:solidFill>
                <a:latin typeface="Arial"/>
              </a:defRPr>
            </a:pPr>
            <a:r>
              <a:t>Super Admin Governance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590800" y="2965841"/>
            <a:ext cx="1625559" cy="0"/>
          </a:xfrm>
          <a:prstGeom prst="line">
            <a:avLst/>
          </a:prstGeom>
          <a:ln w="1270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550161" y="3087725"/>
            <a:ext cx="1706837" cy="1868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7D715E"/>
                </a:solidFill>
                <a:latin typeface="Arial"/>
              </a:defRPr>
            </a:pPr>
            <a:r>
              <a:t>Toàn quyền vận hành + ĐỘC QUYỀN: Quản trị tài khoản/phân quyền (/admin/users) &amp; Báo cáo tài chính tổng (/admin/analytics).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65651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MAIN BUSINESS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89105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FLOW 1: USER REGISTRATION &amp; MULTI-TIER KYC VERIFICATION</a:t>
            </a:r>
          </a:p>
        </p:txBody>
      </p:sp>
      <p:pic>
        <p:nvPicPr>
          <p:cNvPr id="5" name="Picture 4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" y="2803329"/>
            <a:ext cx="894057" cy="89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67" y="3778400"/>
            <a:ext cx="1625559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1A1612"/>
                </a:solidFill>
                <a:latin typeface="Arial"/>
              </a:defRPr>
            </a:pPr>
            <a:r>
              <a:t>COLLABORATOR / SHOP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69393" y="3250236"/>
            <a:ext cx="1503642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31949" y="3067411"/>
            <a:ext cx="1219169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ENTER INFORMATION</a:t>
            </a:r>
          </a:p>
        </p:txBody>
      </p:sp>
      <p:pic>
        <p:nvPicPr>
          <p:cNvPr id="9" name="Picture 8" descr="form_checklist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674" y="2783015"/>
            <a:ext cx="812779" cy="812559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267093" y="3250236"/>
            <a:ext cx="117853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89010" y="3067411"/>
            <a:ext cx="1015974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VERIFY 2FA / OTP</a:t>
            </a:r>
          </a:p>
        </p:txBody>
      </p:sp>
      <p:pic>
        <p:nvPicPr>
          <p:cNvPr id="12" name="Picture 11" descr="phone_otp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6582" y="2803329"/>
            <a:ext cx="690862" cy="771931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6258403" y="3250236"/>
            <a:ext cx="1422364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20959" y="3067411"/>
            <a:ext cx="1137891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UPLOAD DOSSIER</a:t>
            </a:r>
          </a:p>
        </p:txBody>
      </p:sp>
      <p:pic>
        <p:nvPicPr>
          <p:cNvPr id="15" name="Picture 14" descr="id_card_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2045" y="2925213"/>
            <a:ext cx="894057" cy="5687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96295" y="3615888"/>
            <a:ext cx="1625559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7D715E"/>
                </a:solidFill>
                <a:latin typeface="Arial"/>
              </a:defRPr>
            </a:pPr>
            <a:r>
              <a:t>CCCD + STK / MST + LICENSE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96742" y="3250236"/>
            <a:ext cx="1097253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59298" y="3067411"/>
            <a:ext cx="894057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SUBMIT KYC</a:t>
            </a:r>
          </a:p>
        </p:txBody>
      </p:sp>
      <p:pic>
        <p:nvPicPr>
          <p:cNvPr id="19" name="Picture 18" descr="folder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5912" y="2884585"/>
            <a:ext cx="650223" cy="731303"/>
          </a:xfrm>
          <a:prstGeom prst="rect">
            <a:avLst/>
          </a:prstGeom>
        </p:spPr>
      </p:pic>
      <p:pic>
        <p:nvPicPr>
          <p:cNvPr id="20" name="Picture 19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995" y="934443"/>
            <a:ext cx="894057" cy="8938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28244" y="1868886"/>
            <a:ext cx="1625559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1A1612"/>
                </a:solidFill>
                <a:latin typeface="Arial"/>
              </a:defRPr>
            </a:pPr>
            <a:r>
              <a:t>SYSTEM MANAGER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241023" y="2112654"/>
            <a:ext cx="0" cy="731303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322301" y="2356421"/>
            <a:ext cx="1137891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A1612"/>
                </a:solidFill>
                <a:latin typeface="Arial"/>
              </a:defRPr>
            </a:pPr>
            <a:r>
              <a:t>AUDIT KYC DOSSIER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606774" y="3250236"/>
            <a:ext cx="568946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175720" y="3250236"/>
            <a:ext cx="0" cy="1706375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216359" y="3575260"/>
            <a:ext cx="731501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Arial"/>
              </a:defRPr>
            </a:pPr>
            <a:r>
              <a:t>APPROVE</a:t>
            </a:r>
          </a:p>
        </p:txBody>
      </p:sp>
      <p:pic>
        <p:nvPicPr>
          <p:cNvPr id="27" name="Picture 26" descr="icon_approv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9969" y="5078495"/>
            <a:ext cx="731501" cy="73130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362940" y="5931682"/>
            <a:ext cx="1625559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059669"/>
                </a:solidFill>
                <a:latin typeface="Arial"/>
              </a:defRPr>
            </a:pPr>
            <a:r>
              <a:t>ACTIVE ROLE ACCOUNT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78468" y="3615888"/>
            <a:ext cx="0" cy="1340723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737381" y="4956611"/>
            <a:ext cx="1341087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21854" y="4773785"/>
            <a:ext cx="731501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Arial"/>
              </a:defRPr>
            </a:pPr>
            <a:r>
              <a:t>REJECT</a:t>
            </a:r>
          </a:p>
        </p:txBody>
      </p:sp>
      <p:pic>
        <p:nvPicPr>
          <p:cNvPr id="32" name="Picture 31" descr="icon_reject_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643" y="4611273"/>
            <a:ext cx="690862" cy="690675"/>
          </a:xfrm>
          <a:prstGeom prst="rect">
            <a:avLst/>
          </a:prstGeom>
        </p:spPr>
      </p:pic>
      <p:cxnSp>
        <p:nvCxnSpPr>
          <p:cNvPr id="33" name="Connector 32"/>
          <p:cNvCxnSpPr/>
          <p:nvPr/>
        </p:nvCxnSpPr>
        <p:spPr>
          <a:xfrm flipV="1">
            <a:off x="8209074" y="3778400"/>
            <a:ext cx="0" cy="771931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27349" y="4144052"/>
            <a:ext cx="1300447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1A1612"/>
                </a:solidFill>
                <a:latin typeface="Arial"/>
              </a:defRPr>
            </a:pPr>
            <a:r>
              <a:t>RE-SUBMIT WITH REASON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45337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MAIN BUSINESS FLOW - TEST &amp;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68791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FLOW 1: USER REGISTRATION &amp; MULTI-TIER KYC - UAT TEST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6327"/>
            <a:ext cx="5201789" cy="51191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3" y="1218838"/>
            <a:ext cx="568945" cy="5687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35" y="1848572"/>
            <a:ext cx="471412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KỲ VỌNG THÀNH CÔNG (HAPPY PATH)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B88E4F"/>
                </a:solidFill>
                <a:latin typeface="Arial"/>
              </a:defRPr>
            </a:pPr>
            <a:r>
              <a:t>Kết quả trả về khi dữ liệu hợp lệ &amp; luồng xử lý hoàn tất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5335" y="2214223"/>
            <a:ext cx="4714122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35" y="235642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52" y="2457991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9489" y="243767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TC_KYC_01: Đăng ký tài khoản (FR-01, FR-02)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9489" y="260018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HTTP 201 Created; Mật khẩu mã hóa Argon2id an toàn.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Tài khoản ở trạng thái UNVERIFIED; Điều hướng sang trang /login.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35" y="3189295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52" y="3290864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9489" y="3270550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TC_KYC_02: Đăng nhập an toàn &amp; 2FA OTP (FR-03)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9489" y="3433062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HTTP 200 OK; Cấp JWT Access &amp; Refresh Token trong HttpOnly Cookie.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RBAC Guard đối soát vai trò, tự động điều hướng đúng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35" y="4022168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52" y="4123738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489" y="4103424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TC_KYC_03: Nộp hồ sơ định danh KYC (FR-05)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9489" y="4265936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Regex kiểm tra CCCD (12 số) &amp; STK; Upload ảnh Cloudinary CDN.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Hồ sơ chuyển PENDING_REVIEW; Hiển thị huy hiệu 'Chờ thẩm định'.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35" y="485504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52" y="4956611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9489" y="493629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TC_KYC_04: System Manager phê duyệt KYC (FR-06)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9489" y="509880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Hồ sơ chuyển sang APPROVED; Kích hoạt toàn bộ tính năng tiếp thị.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KOL được phép sinh Smart Link, tạo mã QR và hưởng hoa hồng.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335" y="5870740"/>
            <a:ext cx="4714122" cy="203139"/>
          </a:xfrm>
          <a:prstGeom prst="roundRect">
            <a:avLst/>
          </a:prstGeom>
          <a:solidFill>
            <a:srgbClr val="FBF5EB"/>
          </a:solidFill>
          <a:ln w="1270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335" y="591136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KẾT QUẢ THỰC NGHIỆM: 4/4 TEST SCENARIOS ĐẠT CHUẨN (100% PASS)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6327"/>
            <a:ext cx="5201789" cy="51191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825" y="1218838"/>
            <a:ext cx="568945" cy="56879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02237" y="1848572"/>
            <a:ext cx="471412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XỬ LÝ THẤT BẠI &amp; NGOẠI LỆ (FAIL-SAFE)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Arial"/>
              </a:defRPr>
            </a:pPr>
            <a:r>
              <a:t>Cơ chế phòng vệ, mã lỗi HTTP và phản hồi an toàn cho người dùng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02237" y="2214223"/>
            <a:ext cx="4714122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02237" y="235642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24154" y="2457991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390" y="243767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TC_KYC_01: Trùng Email / SĐT hoặc Mật khẩu yếu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390" y="260018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Trùng lặp: HTTP 409 Conflict, thông báo đỏ 'Email/SĐT đã tồn tại'.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Mật khẩu yếu: HTTP 422 Unprocessable, báo lỗi chi tiết tại ô nhập.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02237" y="3189295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24154" y="3290864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390" y="3270550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TC_KYC_02: Sai thông tin đăng nhập hoặc Quá lượt OTP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390" y="3433062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Sai pass: HTTP 401 Unauthorized kèm thông báo bảo mật.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Sai OTP quá 5 lần: HTTP 429 Rate Limit, khóa tạm 15 phút chống brute-force.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02237" y="4022168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24154" y="4123738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390" y="4103424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TC_KYC_03: Ảnh sai định dạng hoặc CCCD không đúng chuẩn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390" y="4265936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File &gt;5MB hoặc sai định dạng: Chặn tải lên, báo 'Chỉ nhận JPG/PNG &lt; 5MB'.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CCCD sai 12 số: Form báo đỏ tại chỗ, vô hiệu hóa submit.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02237" y="485504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4154" y="4956611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390" y="493629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TC_KYC_04: Hồ sơ KYC mờ / Không đạt yêu cầu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390" y="509880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System Manager chọn REJECT bắt buộc nhập lý do; Hồ sơ chuyển REJECTED.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Gửi email yêu cầu nộp lại ảnh rõ nét; Tài khoản giữ nguyên.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02237" y="5870740"/>
            <a:ext cx="4714122" cy="203139"/>
          </a:xfrm>
          <a:prstGeom prst="roundRect">
            <a:avLst/>
          </a:prstGeom>
          <a:solidFill>
            <a:srgbClr val="FBF5EB"/>
          </a:solidFill>
          <a:ln w="1270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2237" y="591136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CƠ CHẾ PHÒNG VỆ: BẢO MẬT ĐA TẦNG &amp; TUYỆT ĐỐI KHÔNG NUỐT LỖI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779" y="6378590"/>
            <a:ext cx="1056613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7D715E"/>
                </a:solidFill>
                <a:latin typeface="Arial"/>
              </a:defRPr>
            </a:pPr>
            <a:r>
              <a:t>Tài liệu chi tiết 20 Test Cases UAT: docs/review 2/SCANMS_Demo_Test_Cases_Review2.xlsx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65651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MAIN BUSINESS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89105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FLOW 2: 2-WAY COMMISSION DEAL NEGOTIATION &amp; LIVESTREAM ENGINE</a:t>
            </a:r>
          </a:p>
        </p:txBody>
      </p:sp>
      <p:pic>
        <p:nvPicPr>
          <p:cNvPr id="5" name="Picture 4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" y="1625118"/>
            <a:ext cx="812779" cy="812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67" y="2518933"/>
            <a:ext cx="1463003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1A1612"/>
                </a:solidFill>
                <a:latin typeface="Arial"/>
              </a:defRPr>
            </a:pPr>
            <a:r>
              <a:t>COLLABORATOR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67" y="2701759"/>
            <a:ext cx="1463003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7D715E"/>
                </a:solidFill>
                <a:latin typeface="Arial"/>
              </a:defRPr>
            </a:pPr>
            <a:r>
              <a:t>(KOL / KOC Affiliate)</a:t>
            </a:r>
          </a:p>
        </p:txBody>
      </p:sp>
      <p:pic>
        <p:nvPicPr>
          <p:cNvPr id="8" name="Picture 7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" y="4062796"/>
            <a:ext cx="812779" cy="8125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7667" y="4956611"/>
            <a:ext cx="1463003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1A1612"/>
                </a:solidFill>
                <a:latin typeface="Arial"/>
              </a:defRPr>
            </a:pPr>
            <a:r>
              <a:t>SHOP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5139437"/>
            <a:ext cx="1463003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7D715E"/>
                </a:solidFill>
                <a:latin typeface="Arial"/>
              </a:defRPr>
            </a:pPr>
            <a:r>
              <a:t>(Merchant Store Owner)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06837" y="4469075"/>
            <a:ext cx="1097252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47476" y="4286250"/>
            <a:ext cx="1015974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PUBLISH PRODUCT</a:t>
            </a:r>
          </a:p>
        </p:txBody>
      </p:sp>
      <p:pic>
        <p:nvPicPr>
          <p:cNvPr id="13" name="Picture 12" descr="icon_product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67" y="4144052"/>
            <a:ext cx="650223" cy="6500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60255" y="4855041"/>
            <a:ext cx="1300447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BASE 10% FLOOR RATE</a:t>
            </a:r>
          </a:p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(Standard Open Offer)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210479" y="3006469"/>
            <a:ext cx="0" cy="1056327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072588" y="3006469"/>
            <a:ext cx="1137891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072588" y="2600189"/>
            <a:ext cx="0" cy="40628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13227" y="2843957"/>
            <a:ext cx="1056613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DISCOVER PRODUCT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06837" y="2031398"/>
            <a:ext cx="1788115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88115" y="1848572"/>
            <a:ext cx="1625559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PROPOSE 18% VIP RATE</a:t>
            </a:r>
          </a:p>
        </p:txBody>
      </p:sp>
      <p:pic>
        <p:nvPicPr>
          <p:cNvPr id="21" name="Picture 20" descr="icon_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230" y="1706374"/>
            <a:ext cx="650223" cy="65004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251118" y="2457991"/>
            <a:ext cx="1300447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PROPOSAL &amp; COMMITMENT</a:t>
            </a:r>
          </a:p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(Video Quota &amp; GMV Target)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16869" y="4469075"/>
            <a:ext cx="1300448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917317" y="3412748"/>
            <a:ext cx="0" cy="1056327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17317" y="3412748"/>
            <a:ext cx="406389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20064" y="4286250"/>
            <a:ext cx="1056613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SHOP DEAL INVITE</a:t>
            </a:r>
          </a:p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(Chat Socket.IO)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67093" y="2031398"/>
            <a:ext cx="650224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17317" y="2031398"/>
            <a:ext cx="0" cy="1056327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17317" y="3087725"/>
            <a:ext cx="406389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48371" y="1848572"/>
            <a:ext cx="568945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DEAL AGREED</a:t>
            </a:r>
          </a:p>
        </p:txBody>
      </p:sp>
      <p:pic>
        <p:nvPicPr>
          <p:cNvPr id="31" name="Picture 30" descr="icon_deal_contr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4984" y="2864271"/>
            <a:ext cx="731501" cy="77193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957956" y="2600189"/>
            <a:ext cx="1625559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1A1612"/>
                </a:solidFill>
                <a:latin typeface="Arial"/>
              </a:defRPr>
            </a:pPr>
            <a:r>
              <a:t>EXCLUSIVE DEAL 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7956" y="2783015"/>
            <a:ext cx="1625559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(FR-27 2-WAY NEGOTIATION)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77125" y="3412748"/>
            <a:ext cx="406390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83515" y="3412748"/>
            <a:ext cx="0" cy="1218839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583515" y="4631587"/>
            <a:ext cx="975336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46071" y="4448761"/>
            <a:ext cx="731501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Arial"/>
              </a:defRPr>
            </a:pPr>
            <a:r>
              <a:t>REJECT DEAL</a:t>
            </a:r>
          </a:p>
        </p:txBody>
      </p:sp>
      <p:pic>
        <p:nvPicPr>
          <p:cNvPr id="38" name="Picture 37" descr="icon_reject_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0448" y="4326877"/>
            <a:ext cx="609584" cy="60941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33739" y="5017553"/>
            <a:ext cx="1463003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Arial"/>
              </a:defRPr>
            </a:pPr>
            <a:r>
              <a:t>FALLBACK TO FLOOR RATE</a:t>
            </a:r>
          </a:p>
          <a:p>
            <a:pPr algn="ctr">
              <a:defRPr sz="1200" b="1">
                <a:solidFill>
                  <a:srgbClr val="DC2626"/>
                </a:solidFill>
                <a:latin typeface="Arial"/>
              </a:defRPr>
            </a:pPr>
            <a:r>
              <a:t>Maintains 10% Base Open Offer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77125" y="3087725"/>
            <a:ext cx="1381726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39681" y="2904899"/>
            <a:ext cx="1056613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Arial"/>
              </a:defRPr>
            </a:pPr>
            <a:r>
              <a:t>APPROVE VIP DEAL</a:t>
            </a:r>
          </a:p>
        </p:txBody>
      </p:sp>
      <p:pic>
        <p:nvPicPr>
          <p:cNvPr id="42" name="Picture 41" descr="icon_approv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0128" y="2762701"/>
            <a:ext cx="650223" cy="65004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233739" y="2640817"/>
            <a:ext cx="1463003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  <a:latin typeface="Arial"/>
              </a:defRPr>
            </a:pPr>
            <a:r>
              <a:t>DEAL ACCEPTED (18% VIP)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71630" y="3087725"/>
            <a:ext cx="731502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412269" y="2904899"/>
            <a:ext cx="650223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AUTO-STACK</a:t>
            </a:r>
          </a:p>
        </p:txBody>
      </p:sp>
      <p:pic>
        <p:nvPicPr>
          <p:cNvPr id="46" name="Picture 45" descr="icon_tier_sta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4729" y="2783015"/>
            <a:ext cx="609584" cy="60941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859298" y="3514318"/>
            <a:ext cx="1300447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TIER RANK BOOST</a:t>
            </a:r>
          </a:p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(Silver +1% | Gold +2% | Diamond +3%)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915912" y="3087725"/>
            <a:ext cx="650223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915912" y="2904899"/>
            <a:ext cx="650223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Arial"/>
              </a:defRPr>
            </a:pPr>
            <a:r>
              <a:t>+ LIVE BONUS</a:t>
            </a:r>
          </a:p>
        </p:txBody>
      </p:sp>
      <p:pic>
        <p:nvPicPr>
          <p:cNvPr id="50" name="Picture 49" descr="icon_livestrea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7733" y="2783015"/>
            <a:ext cx="609584" cy="60941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322301" y="3514318"/>
            <a:ext cx="1300447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Arial"/>
              </a:defRPr>
            </a:pPr>
            <a:r>
              <a:t>+2% TO +3% LIVE BONUS</a:t>
            </a:r>
          </a:p>
          <a:p>
            <a:pPr algn="ctr">
              <a:defRPr sz="1100" b="1">
                <a:solidFill>
                  <a:srgbClr val="DC2626"/>
                </a:solidFill>
                <a:latin typeface="Arial"/>
              </a:defRPr>
            </a:pPr>
            <a:r>
              <a:t>(Session Status = LIVE)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509522" y="3778400"/>
            <a:ext cx="0" cy="487536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509522" y="4265936"/>
            <a:ext cx="487668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550161" y="4083110"/>
            <a:ext cx="568945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A1612"/>
                </a:solidFill>
                <a:latin typeface="Arial"/>
              </a:defRPr>
            </a:pPr>
            <a:r>
              <a:t>ACTIVATE</a:t>
            </a:r>
          </a:p>
        </p:txBody>
      </p:sp>
      <p:pic>
        <p:nvPicPr>
          <p:cNvPr id="55" name="Picture 54" descr="icon_lin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9107" y="3981540"/>
            <a:ext cx="568945" cy="56879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753356" y="4631587"/>
            <a:ext cx="1463003" cy="2640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EXCLUSIVE ASSETS ISSUED</a:t>
            </a:r>
          </a:p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• Custom Voucher Code (FR-12)</a:t>
            </a:r>
          </a:p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• Free Sample Dispatched (FR-14)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45337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MAIN BUSINESS FLOW - TEST &amp;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68791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FLOW 2: 2-WAY COMMISSION DEAL &amp; LIVESTREAM - UAT TEST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6327"/>
            <a:ext cx="5201789" cy="51191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3" y="1218838"/>
            <a:ext cx="568945" cy="5687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35" y="1848572"/>
            <a:ext cx="471412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KỲ VỌNG THÀNH CÔNG (HAPPY PATH)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B88E4F"/>
                </a:solidFill>
                <a:latin typeface="Arial"/>
              </a:defRPr>
            </a:pPr>
            <a:r>
              <a:t>Kết quả trả về khi dữ liệu hợp lệ &amp; luồng xử lý hoàn tất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5335" y="2214223"/>
            <a:ext cx="4714122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35" y="235642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52" y="2457991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9489" y="243767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TC_DEAL_01: Shop gửi lời mời Deal qua Chat (FR-27)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9489" y="260018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Socket.IO phát event real-time, hiển thị thẻ Deal trên chat 2 bên.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Bản ghi DealContract khởi tạo với status = PENDING kèm cam kết GMV.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35" y="3189295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52" y="3290864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9489" y="3270550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TC_DEAL_02: KOL chấp thuận Deal VIP &amp; Sinh Voucher (FR-27)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9489" y="3433062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Deal chuyển status = ACTIVE; Thẻ chat đổi sang xanh 'ĐÃ CHẤP THUẬN'.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Tự động sinh Voucher Code độc quyền và kích hoạt rate VIP 18%.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35" y="4022168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52" y="4123738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489" y="4103424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TC_DEAL_03: Mở phòng Live &amp; Kích hoạt Live Bonus +3% (FR-15)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9489" y="4265936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Phiên chuyển status = LIVE, mở Room Socket.IO nhận tương tác.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Engine tự động cộng dồn Live Bonus (+3%), nâng tổng rate lên 21%.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35" y="485504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52" y="4956611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9489" y="493629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TC_DEAL_04: Kết thúc phiên Live &amp; Khóa tương tác (FR-15)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9489" y="509880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Chuyển status = ENDED; Màn hình Ended Stream Overlay xuất hiện.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Khóa chat/ghim deal; Gỡ thưởng Live Bonus đưa hoa hồng về 18%.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335" y="5870740"/>
            <a:ext cx="4714122" cy="203139"/>
          </a:xfrm>
          <a:prstGeom prst="roundRect">
            <a:avLst/>
          </a:prstGeom>
          <a:solidFill>
            <a:srgbClr val="FBF5EB"/>
          </a:solidFill>
          <a:ln w="1270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335" y="591136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KẾT QUẢ THỰC NGHIỆM: 4/4 TEST SCENARIOS ĐẠT CHUẨN (100% PASS)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6327"/>
            <a:ext cx="5201789" cy="51191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825" y="1218838"/>
            <a:ext cx="568945" cy="56879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02237" y="1848572"/>
            <a:ext cx="471412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XỬ LÝ THẤT BẠI &amp; NGOẠI LỆ (FAIL-SAFE)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Arial"/>
              </a:defRPr>
            </a:pPr>
            <a:r>
              <a:t>Cơ chế phòng vệ, mã lỗi HTTP và phản hồi an toàn cho người dùng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02237" y="2214223"/>
            <a:ext cx="4714122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02237" y="235642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24154" y="2457991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390" y="243767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TC_DEAL_01: Đặt mức hoa hồng vượt trần sàn (&gt;25%)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390" y="260018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Chặn ngay tại API, trả về HTTP 400: 'Hoa hồng không được vượt 25%'.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Mất kết nối Socket: Client tự động retry và hiển thị cảnh báo offline.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02237" y="3189295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24154" y="3290864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390" y="3270550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TC_DEAL_02: KOL từ chối Deal hoặc Đề xuất quá hạn 48h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390" y="3433062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KOL từ chối: Deal chuyển REJECTED, sản phẩm duy trì rate sàn 10%.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Quá hạn 48h: Thẻ tự động chuyển EXPIRED, khóa nút chấp thuận.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02237" y="4022168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24154" y="4123738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390" y="4103424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TC_DEAL_03: Sản phẩm hết hàng hoặc Hoa hồng vượt trần sàn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390" y="4265936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Kho hết hàng: Giỏ Live tự động ẩn nút mua, báo 'Tạm hết hàng'.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Rate cộng dồn vượt 25%: Tự động cắt về trần 25% (Math.min(25, rate)).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02237" y="485504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4154" y="4956611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390" y="493629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TC_DEAL_04: Tắt tab đột ngột hoặc Nhắn tin sau khi đóng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390" y="509880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KOL tắt tab: Sau 5 phút timeout server tự động đóng phòng an toàn.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Khán giả gửi tin sau live: Socket từ chối báo 'Phiên đã kết thúc'.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02237" y="5870740"/>
            <a:ext cx="4714122" cy="203139"/>
          </a:xfrm>
          <a:prstGeom prst="roundRect">
            <a:avLst/>
          </a:prstGeom>
          <a:solidFill>
            <a:srgbClr val="FBF5EB"/>
          </a:solidFill>
          <a:ln w="1270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2237" y="591136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CƠ CHẾ PHÒNG VỆ: BẢO MẬT ĐA TẦNG &amp; TUYỆT ĐỐI KHÔNG NUỐT LỖI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779" y="6378590"/>
            <a:ext cx="1056613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7D715E"/>
                </a:solidFill>
                <a:latin typeface="Arial"/>
              </a:defRPr>
            </a:pPr>
            <a:r>
              <a:t>Tài liệu chi tiết 20 Test Cases UAT: docs/review 2/SCANMS_Demo_Test_Cases_Review2.xlsx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65651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MAIN BUSINESS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89105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FLOW 3: MULTI-CHANNEL AFFILIATE PROMOTION &amp; BUYER CHECKOUT</a:t>
            </a:r>
          </a:p>
        </p:txBody>
      </p:sp>
      <p:pic>
        <p:nvPicPr>
          <p:cNvPr id="5" name="Picture 4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" y="1543862"/>
            <a:ext cx="812779" cy="812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67" y="2437677"/>
            <a:ext cx="1463003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1A1612"/>
                </a:solidFill>
                <a:latin typeface="Arial"/>
              </a:defRPr>
            </a:pPr>
            <a:r>
              <a:t>COLLABORATOR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67" y="2620503"/>
            <a:ext cx="1463003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7D715E"/>
                </a:solidFill>
                <a:latin typeface="Arial"/>
              </a:defRPr>
            </a:pPr>
            <a:r>
              <a:t>(KOL / KOC Affiliate)</a:t>
            </a:r>
          </a:p>
        </p:txBody>
      </p:sp>
      <p:pic>
        <p:nvPicPr>
          <p:cNvPr id="8" name="Picture 7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" y="4144052"/>
            <a:ext cx="812779" cy="8125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7667" y="5037867"/>
            <a:ext cx="1463003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1A1612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5220693"/>
            <a:ext cx="1463003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7D715E"/>
                </a:solidFill>
                <a:latin typeface="Arial"/>
              </a:defRPr>
            </a:pPr>
            <a:r>
              <a:t>(Marketplace Shopper)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06837" y="1950142"/>
            <a:ext cx="81278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47476" y="1767316"/>
            <a:ext cx="812779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CREATE ATTRIBUTION</a:t>
            </a:r>
          </a:p>
        </p:txBody>
      </p:sp>
      <p:pic>
        <p:nvPicPr>
          <p:cNvPr id="13" name="Picture 12" descr="icon_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575" y="1645432"/>
            <a:ext cx="609584" cy="6094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35144" y="2315793"/>
            <a:ext cx="1300447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SMART LINK &amp; QR (FR-10, 11)</a:t>
            </a:r>
          </a:p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30-Day Last-Click Cookie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06837" y="2112654"/>
            <a:ext cx="81278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88115" y="2112654"/>
            <a:ext cx="0" cy="1056327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88115" y="3168981"/>
            <a:ext cx="731502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28754" y="2986155"/>
            <a:ext cx="69086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HOST LIVE (FR-15)</a:t>
            </a:r>
          </a:p>
        </p:txBody>
      </p:sp>
      <p:pic>
        <p:nvPicPr>
          <p:cNvPr id="19" name="Picture 18" descr="icon_livestr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255" y="2843957"/>
            <a:ext cx="650223" cy="6500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35144" y="3554946"/>
            <a:ext cx="1300447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Arial"/>
              </a:defRPr>
            </a:pPr>
            <a:r>
              <a:t>LIVESTREAM SHOPPING</a:t>
            </a:r>
          </a:p>
          <a:p>
            <a:pPr algn="ctr">
              <a:defRPr sz="1100" b="1">
                <a:solidFill>
                  <a:srgbClr val="DC2626"/>
                </a:solidFill>
                <a:latin typeface="Arial"/>
              </a:defRPr>
            </a:pPr>
            <a:r>
              <a:t>Real-time Deal Pin (+3% Live Bonus)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51118" y="1950142"/>
            <a:ext cx="1056614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07732" y="1950142"/>
            <a:ext cx="0" cy="1625118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32396" y="1767316"/>
            <a:ext cx="894057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CLICK SMART LINK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51118" y="3168981"/>
            <a:ext cx="1056614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332396" y="2986155"/>
            <a:ext cx="894057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PIN LIVE DEALS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06837" y="4550331"/>
            <a:ext cx="2600895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307732" y="3575260"/>
            <a:ext cx="0" cy="975071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438339" y="4367505"/>
            <a:ext cx="1219169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DISCOVER &amp; BROWSE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07732" y="3575260"/>
            <a:ext cx="812779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89010" y="3392434"/>
            <a:ext cx="69086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ADD TO CART</a:t>
            </a:r>
          </a:p>
        </p:txBody>
      </p:sp>
      <p:pic>
        <p:nvPicPr>
          <p:cNvPr id="31" name="Picture 30" descr="icon_c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1789" y="3250236"/>
            <a:ext cx="650223" cy="65004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917317" y="3981540"/>
            <a:ext cx="1219169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A1612"/>
                </a:solidFill>
                <a:latin typeface="Arial"/>
              </a:defRPr>
            </a:pPr>
            <a:r>
              <a:t>MARKETPLACE CART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92652" y="3575260"/>
            <a:ext cx="731502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33291" y="3392434"/>
            <a:ext cx="69086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SECURE CHECKOUT</a:t>
            </a:r>
          </a:p>
        </p:txBody>
      </p:sp>
      <p:pic>
        <p:nvPicPr>
          <p:cNvPr id="35" name="Picture 34" descr="icon_lock_aut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5112" y="3270550"/>
            <a:ext cx="609584" cy="60941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99042" y="3981540"/>
            <a:ext cx="1381725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STRICT BUYER AUTH</a:t>
            </a:r>
          </a:p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Popup Login / 100% Cart Preserved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15017" y="3575260"/>
            <a:ext cx="609584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355656" y="3392434"/>
            <a:ext cx="568945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PAY VIETQR</a:t>
            </a:r>
          </a:p>
        </p:txBody>
      </p:sp>
      <p:pic>
        <p:nvPicPr>
          <p:cNvPr id="39" name="Picture 38" descr="icon_qr_paym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5879" y="3270550"/>
            <a:ext cx="568945" cy="60941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680767" y="3981540"/>
            <a:ext cx="1219169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VIETQR / PAYOS / COD</a:t>
            </a:r>
          </a:p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Instant Napas 24/7 Gateway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15464" y="3575260"/>
            <a:ext cx="894058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656103" y="3392434"/>
            <a:ext cx="812779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WEBHOOK VERIFY</a:t>
            </a:r>
          </a:p>
        </p:txBody>
      </p:sp>
      <p:pic>
        <p:nvPicPr>
          <p:cNvPr id="43" name="Picture 42" descr="icon_system_moni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0480" y="3270550"/>
            <a:ext cx="609584" cy="60941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265688" y="3128353"/>
            <a:ext cx="1219169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7D715E"/>
                </a:solidFill>
                <a:latin typeface="Arial"/>
              </a:defRPr>
            </a:pPr>
            <a:r>
              <a:t>PAYMENT GATEWAY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200384" y="3412748"/>
            <a:ext cx="365751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566135" y="2843957"/>
            <a:ext cx="0" cy="568791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566135" y="2843957"/>
            <a:ext cx="40639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362940" y="2661131"/>
            <a:ext cx="731501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Arial"/>
              </a:defRPr>
            </a:pPr>
            <a:r>
              <a:t>PAID</a:t>
            </a:r>
          </a:p>
        </p:txBody>
      </p:sp>
      <p:pic>
        <p:nvPicPr>
          <p:cNvPr id="49" name="Picture 48" descr="icon_approve_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13164" y="2559561"/>
            <a:ext cx="568945" cy="56879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688052" y="3189295"/>
            <a:ext cx="1219169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ORDER PAID</a:t>
            </a:r>
          </a:p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Pending Escrow Commission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200384" y="3737772"/>
            <a:ext cx="365751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66135" y="3737772"/>
            <a:ext cx="0" cy="568791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566135" y="4306563"/>
            <a:ext cx="40639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362940" y="4123738"/>
            <a:ext cx="731501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Arial"/>
              </a:defRPr>
            </a:pPr>
            <a:r>
              <a:t>PENDING</a:t>
            </a:r>
          </a:p>
        </p:txBody>
      </p:sp>
      <p:pic>
        <p:nvPicPr>
          <p:cNvPr id="55" name="Picture 54" descr="icon_timer_escro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3164" y="4022168"/>
            <a:ext cx="568945" cy="56879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688052" y="4651901"/>
            <a:ext cx="1219169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Arial"/>
              </a:defRPr>
            </a:pPr>
            <a:r>
              <a:t>UNPAID ORDERS TAB</a:t>
            </a:r>
          </a:p>
          <a:p>
            <a:pPr algn="ctr">
              <a:defRPr sz="1100" b="1">
                <a:solidFill>
                  <a:srgbClr val="DC2626"/>
                </a:solidFill>
                <a:latin typeface="Arial"/>
              </a:defRPr>
            </a:pPr>
            <a:r>
              <a:t>Pending Payment &amp; Timeout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45337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MAIN BUSINESS FLOW - TEST &amp;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68791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FLOW 3: AFFILIATE ATTRIBUTION &amp; BUYER CHECKOUT - UAT TEST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6327"/>
            <a:ext cx="5201789" cy="51191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3" y="1218838"/>
            <a:ext cx="568945" cy="5687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35" y="1848572"/>
            <a:ext cx="471412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KỲ VỌNG THÀNH CÔNG (HAPPY PATH)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B88E4F"/>
                </a:solidFill>
                <a:latin typeface="Arial"/>
              </a:defRPr>
            </a:pPr>
            <a:r>
              <a:t>Kết quả trả về khi dữ liệu hợp lệ &amp; luồng xử lý hoàn tất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5335" y="2214223"/>
            <a:ext cx="4714122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35" y="235642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52" y="2457991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9489" y="243767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TC_ATTR_01: KOL sinh Smart Link &amp; Dynamic QR (FR-10, 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9489" y="260018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Sinh link rút gọn /r/:slug tích hợp sẵn collaboratorId và UTM tag.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Render mã QR Vector sắc nét; Cho phép tải ảnh PNG chất lượng cao.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35" y="3189295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52" y="3290864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9489" y="3270550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TC_ATTR_02: Khách bấm link &amp; Ghi nhận Cookie 30 ngày (FR-13)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9489" y="3433062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Redirect 302 về trang sản phẩm; Tự động ghi Cookie scanms_ref 30 ngày.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Cơ chế Last-Click Attribution ghi đè mã người giới thiệu mới nhất.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35" y="4022168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52" y="4123738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489" y="4103424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TC_ATTR_03: Đăng nhập nhanh tại chỗ bảo toàn giỏ hàng (FR-16)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9489" y="4265936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Modal Quick Login mở tại chỗ; Đăng nhập thành công giữ 100% giỏ hàng.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Khách không bị văng trang, chuyển ngay sang thanh toán (Strict Auth).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35" y="485504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52" y="4956611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9489" y="493629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TC_ATTR_04: Thanh toán VietQR PayOS &amp; Webhook (FR-16, 17)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9489" y="509880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Backend xác thực chữ ký HMAC-SHA256, chuyển đơn sang status = PAID.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Ví hoa hồng KOL ghi nhận phần thưởng ở trạng thái PENDING_ESCROW.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335" y="5870740"/>
            <a:ext cx="4714122" cy="203139"/>
          </a:xfrm>
          <a:prstGeom prst="roundRect">
            <a:avLst/>
          </a:prstGeom>
          <a:solidFill>
            <a:srgbClr val="FBF5EB"/>
          </a:solidFill>
          <a:ln w="1270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335" y="591136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KẾT QUẢ THỰC NGHIỆM: 4/4 TEST SCENARIOS ĐẠT CHUẨN (100% PASS)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6327"/>
            <a:ext cx="5201789" cy="51191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825" y="1218838"/>
            <a:ext cx="568945" cy="56879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02237" y="1848572"/>
            <a:ext cx="471412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XỬ LÝ THẤT BẠI &amp; NGOẠI LỆ (FAIL-SAFE)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Arial"/>
              </a:defRPr>
            </a:pPr>
            <a:r>
              <a:t>Cơ chế phòng vệ, mã lỗi HTTP và phản hồi an toàn cho người dùng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02237" y="2214223"/>
            <a:ext cx="4714122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02237" y="235642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24154" y="2457991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390" y="243767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TC_ATTR_01: KOL chưa duyệt KYC hoặc Sản phẩm ngừng bán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390" y="260018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Chưa duyệt KYC: Nút tạo link bị khóa kèm cảnh báo 'Cần duyệt KYC'.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Sản phẩm đã xóa: Trả về HTTP 404 'Sản phẩm tạm dừng kinh doanh'.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02237" y="3189295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24154" y="3290864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390" y="3270550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TC_ATTR_02: Link hỏng hoặc Cookie đã quá hạn 30 ngày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390" y="3433062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Link sai slug: Chuyển hướng về Marketplace, báo 'Link không tồn tại'.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Quá hạn 30 ngày: Cookie tự hủy, đơn tính là đơn tự nhiên (0% hoa hồng).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02237" y="4022168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24154" y="4123738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390" y="4103424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TC_ATTR_03: Khách chưa có tài khoản hoặc Nhập sai 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390" y="4265936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Chưa có tài khoản: Nút 'Đăng ký nhanh 30s' ngay trên Modal tiện lợi.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Sai mật khẩu: Báo đỏ trực tiếp trên Modal, không reload giỏ hàng.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02237" y="485504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4154" y="4956611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390" y="493629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TC_ATTR_04: Sai chữ ký Webhook hoặc Khách chuyển thiếu tiền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390" y="509880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Sai chữ ký Webhook: Backend từ chối với HTTP 403, ghi log bảo mật.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Chuyển thiếu tiền: Đơn giữ PENDING_PAYMENT, yêu cầu chuyển đủ.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02237" y="5870740"/>
            <a:ext cx="4714122" cy="203139"/>
          </a:xfrm>
          <a:prstGeom prst="roundRect">
            <a:avLst/>
          </a:prstGeom>
          <a:solidFill>
            <a:srgbClr val="FBF5EB"/>
          </a:solidFill>
          <a:ln w="1270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2237" y="591136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CƠ CHẾ PHÒNG VỆ: BẢO MẬT ĐA TẦNG &amp; TUYỆT ĐỐI KHÔNG NUỐT LỖI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779" y="6378590"/>
            <a:ext cx="1056613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7D715E"/>
                </a:solidFill>
                <a:latin typeface="Arial"/>
              </a:defRPr>
            </a:pPr>
            <a:r>
              <a:t>Tài liệu chi tiết 20 Test Cases UAT: docs/review 2/SCANMS_Demo_Test_Cases_Review2.xlsx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65651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MAIN BUSINESS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89105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FLOW 4: FULFILLMENT, 14-DAY ESCROW &amp; DISPUTE ARBITRATION</a:t>
            </a:r>
          </a:p>
        </p:txBody>
      </p:sp>
      <p:pic>
        <p:nvPicPr>
          <p:cNvPr id="5" name="Picture 4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" y="2803329"/>
            <a:ext cx="894057" cy="89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67" y="3778400"/>
            <a:ext cx="1625559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1A1612"/>
                </a:solidFill>
                <a:latin typeface="Arial"/>
              </a:defRPr>
            </a:pPr>
            <a:r>
              <a:t>SHOP MANAGER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69393" y="3250236"/>
            <a:ext cx="1463003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31949" y="3067411"/>
            <a:ext cx="1137891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CREATE GHN SHIPMENT</a:t>
            </a:r>
          </a:p>
        </p:txBody>
      </p:sp>
      <p:pic>
        <p:nvPicPr>
          <p:cNvPr id="9" name="Picture 8" descr="icon_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674" y="2884585"/>
            <a:ext cx="812779" cy="731303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307732" y="3250236"/>
            <a:ext cx="1219169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70288" y="3067411"/>
            <a:ext cx="894057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DELIVER PARCEL</a:t>
            </a:r>
          </a:p>
        </p:txBody>
      </p:sp>
      <p:pic>
        <p:nvPicPr>
          <p:cNvPr id="12" name="Picture 11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40" y="2803329"/>
            <a:ext cx="894057" cy="8938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01789" y="3778400"/>
            <a:ext cx="1625559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1A1612"/>
                </a:solidFill>
                <a:latin typeface="Arial"/>
              </a:defRPr>
            </a:pPr>
            <a:r>
              <a:t>CUSTOMER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42876" y="3047097"/>
            <a:ext cx="325112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867988" y="2275165"/>
            <a:ext cx="0" cy="771932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67988" y="2275165"/>
            <a:ext cx="117853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89905" y="2092340"/>
            <a:ext cx="975335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HOLD 14-DAY ESCROW</a:t>
            </a:r>
          </a:p>
        </p:txBody>
      </p:sp>
      <p:pic>
        <p:nvPicPr>
          <p:cNvPr id="18" name="Picture 17" descr="icon_timer_esc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116" y="1929828"/>
            <a:ext cx="690862" cy="690675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8899937" y="2275165"/>
            <a:ext cx="1341086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62493" y="2092340"/>
            <a:ext cx="975335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14-DAY MATURED</a:t>
            </a:r>
          </a:p>
        </p:txBody>
      </p:sp>
      <p:pic>
        <p:nvPicPr>
          <p:cNvPr id="21" name="Picture 20" descr="icon_approve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3260" y="1929828"/>
            <a:ext cx="690862" cy="6906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34634" y="2762701"/>
            <a:ext cx="1788115" cy="2234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Arial"/>
              </a:defRPr>
            </a:pPr>
            <a:r>
              <a:t>ORDER COMPLETED &amp; RELEASE FUNDS</a:t>
            </a:r>
          </a:p>
          <a:p>
            <a:pPr algn="ctr">
              <a:defRPr sz="1300" b="1">
                <a:solidFill>
                  <a:srgbClr val="059669"/>
                </a:solidFill>
                <a:latin typeface="Arial"/>
              </a:defRPr>
            </a:pPr>
            <a:r>
              <a:t>Shop Receives Revenue, KOL Receives Commission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42876" y="3453376"/>
            <a:ext cx="325112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67988" y="3453376"/>
            <a:ext cx="0" cy="934443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67988" y="4387819"/>
            <a:ext cx="1015974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30544" y="4204994"/>
            <a:ext cx="731501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Arial"/>
              </a:defRPr>
            </a:pPr>
            <a:r>
              <a:t>OPEN DISPUTE</a:t>
            </a:r>
          </a:p>
        </p:txBody>
      </p:sp>
      <p:pic>
        <p:nvPicPr>
          <p:cNvPr id="27" name="Picture 26" descr="icon_video_dispu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5240" y="4062796"/>
            <a:ext cx="650223" cy="6500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99490" y="4794099"/>
            <a:ext cx="1381725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BUYER UNBOXING VIDEO</a:t>
            </a:r>
          </a:p>
          <a:p>
            <a:pPr algn="ctr">
              <a:defRPr sz="1100" b="1">
                <a:solidFill>
                  <a:srgbClr val="1A1612"/>
                </a:solidFill>
                <a:latin typeface="Arial"/>
              </a:defRPr>
            </a:pPr>
            <a:r>
              <a:t>&amp; RETURN REQUEST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6103" y="4225308"/>
            <a:ext cx="528307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184410" y="3900284"/>
            <a:ext cx="0" cy="325024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84410" y="3900284"/>
            <a:ext cx="894058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225049" y="3717458"/>
            <a:ext cx="853418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Arial"/>
              </a:defRPr>
            </a:pPr>
            <a:r>
              <a:t>SHOP ACCEPTS RETURN</a:t>
            </a:r>
          </a:p>
        </p:txBody>
      </p:sp>
      <p:pic>
        <p:nvPicPr>
          <p:cNvPr id="33" name="Picture 32" descr="icon_approve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384" y="3615888"/>
            <a:ext cx="568945" cy="56879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93995" y="4245622"/>
            <a:ext cx="1381725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REFUND BUYER &amp; CLAWBACK</a:t>
            </a:r>
          </a:p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Commission reversed from wallet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56103" y="4550331"/>
            <a:ext cx="528307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184410" y="4550331"/>
            <a:ext cx="0" cy="568792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184410" y="5119123"/>
            <a:ext cx="894058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225049" y="4936297"/>
            <a:ext cx="812779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Arial"/>
              </a:defRPr>
            </a:pPr>
            <a:r>
              <a:t>SHOP REJECTS</a:t>
            </a:r>
          </a:p>
        </p:txBody>
      </p:sp>
      <p:pic>
        <p:nvPicPr>
          <p:cNvPr id="39" name="Picture 38" descr="avatar_prist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384" y="4834727"/>
            <a:ext cx="568945" cy="56879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631439" y="5464460"/>
            <a:ext cx="1706837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SYSTEM MANAGER ARBITRATION</a:t>
            </a:r>
          </a:p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Audits Unboxing Video vs Packing Camera</a:t>
            </a:r>
          </a:p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Final Binding Settlement &amp; Escrow Decision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45337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MAIN BUSINESS FLOW - TEST &amp;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68791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FLOW 4: FULFILLMENT &amp; ESCROW ARBITRATION - UAT TEST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6327"/>
            <a:ext cx="5201789" cy="51191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3" y="1218838"/>
            <a:ext cx="568945" cy="5687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35" y="1848572"/>
            <a:ext cx="471412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KỲ VỌNG THÀNH CÔNG (HAPPY PATH)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B88E4F"/>
                </a:solidFill>
                <a:latin typeface="Arial"/>
              </a:defRPr>
            </a:pPr>
            <a:r>
              <a:t>Kết quả trả về khi dữ liệu hợp lệ &amp; luồng xử lý hoàn tất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5335" y="2214223"/>
            <a:ext cx="4714122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35" y="235642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52" y="2457991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9489" y="243767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TC_FUL_01: Shop đóng gói &amp; Tạo vận đơn GHN (FR-20)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9489" y="260018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Gọi API GHN thành công; Sinh mã vận đơn, chuyển status = SHIPPING.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Khởi tạo Timeline theo dõi hành trình giao nhận cho Khách và Shop.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35" y="3189295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52" y="3290864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9489" y="3270550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TC_FUL_02: Khách nhận hàng &amp; Khởi động Escrow 14 ngày (FR-21)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9489" y="3433062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Đơn cập nhật DELIVERED; Bắt đầu đếm ngược thời gian Escrow 14 ngày.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Tiền giữ tại tài khoản trung gian của Sàn; Hoa hồng KOL ở PENDING_ESCROW.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35" y="4022168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52" y="4123738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489" y="4103424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TC_FUL_03: Khách mở tranh chấp với Video Unboxing (FR-22)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9489" y="4265936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Đơn chuyển sang RETURN_REQUESTED; Đồng hồ Escrow LẬP TỨC ĐÓNG BĂNG.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Hồ sơ khiếu nại hiển thị trong tab 'Trả hàng / Hoàn tiền' của Shop.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35" y="485504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52" y="4956611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9489" y="493629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TC_FUL_04: System Manager trọng tài đối soát 2 Video (FR-23)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9489" y="509880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System Manager đối soát video 2 bên, ra phán quyết hoàn tiền 100% cho khách.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Cơ chế Clawback tự động: Thu hồi toàn bộ hoa hồng tạm khỏi ví KOL.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335" y="5870740"/>
            <a:ext cx="4714122" cy="203139"/>
          </a:xfrm>
          <a:prstGeom prst="roundRect">
            <a:avLst/>
          </a:prstGeom>
          <a:solidFill>
            <a:srgbClr val="FBF5EB"/>
          </a:solidFill>
          <a:ln w="1270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335" y="591136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KẾT QUẢ THỰC NGHIỆM: 4/4 TEST SCENARIOS ĐẠT CHUẨN (100% PASS)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6327"/>
            <a:ext cx="5201789" cy="51191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825" y="1218838"/>
            <a:ext cx="568945" cy="56879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02237" y="1848572"/>
            <a:ext cx="471412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XỬ LÝ THẤT BẠI &amp; NGOẠI LỆ (FAIL-SAFE)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Arial"/>
              </a:defRPr>
            </a:pPr>
            <a:r>
              <a:t>Cơ chế phòng vệ, mã lỗi HTTP và phản hồi an toàn cho người dùng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02237" y="2214223"/>
            <a:ext cx="4714122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02237" y="235642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24154" y="2457991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390" y="243767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TC_FUL_01: Thiếu thông số đóng gói hoặc Cổng GHN bảo trì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390" y="260018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Thiếu cân nặng/kích thước: Form chặn submit, yêu cầu nhập số gram.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Cổng GHN gián đoạn: Báo 'Cổng vận chuyển bận, vui lòng thử lại', giữ đơn.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02237" y="3189295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24154" y="3290864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390" y="3270550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TC_FUL_02: Giao hàng thất bại 3 lần hoặc KOL cố rút tiền non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390" y="3433062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Giao thất bại: Chuyển sang RETURNING (chuyển hoàn kho Shop), hủy hoa hồng.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Rút tiền non: Từ chối vì số dư khả dụng sau Escrow = 0đ, chống gian lận.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02237" y="4022168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24154" y="4123738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390" y="4103424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TC_FUL_03: Khiếu nại quá hạn 14 ngày hoặc Không có video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390" y="4265936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Quá hạn 14 ngày: Nút khiếu nại bị ẩn, báo 'Đã hết thời hạn đổi trả'.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Không có video: Bắt buộc đính kèm video mở hộp mới cho phép gửi yêu cầu.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02237" y="485504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4154" y="4956611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390" y="493629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TC_FUL_04: Phán quyết Bác bỏ khiếu nại hoặc Shop im lặng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390" y="509880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Bác bỏ khiếu nại: Mở đóng băng Escrow, tiếp tục giải ngân bình thường.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Shop không phản hồi sau 48h: Tự động xử thắng cho Khách hàng.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02237" y="5870740"/>
            <a:ext cx="4714122" cy="203139"/>
          </a:xfrm>
          <a:prstGeom prst="roundRect">
            <a:avLst/>
          </a:prstGeom>
          <a:solidFill>
            <a:srgbClr val="FBF5EB"/>
          </a:solidFill>
          <a:ln w="1270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2237" y="591136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CƠ CHẾ PHÒNG VỆ: BẢO MẬT ĐA TẦNG &amp; TUYỆT ĐỐI KHÔNG NUỐT LỖI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779" y="6378590"/>
            <a:ext cx="1056613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7D715E"/>
                </a:solidFill>
                <a:latin typeface="Arial"/>
              </a:defRPr>
            </a:pPr>
            <a:r>
              <a:t>Tài liệu chi tiết 20 Test Cases UAT: docs/review 2/SCANMS_Demo_Test_Cases_Review2.xlsx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65651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MAIN BUSINESS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89105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FLOW 5: COMMISSION SETTLEMENT &amp; NAPAS 24/7 TRANSFER</a:t>
            </a:r>
          </a:p>
        </p:txBody>
      </p:sp>
      <p:pic>
        <p:nvPicPr>
          <p:cNvPr id="5" name="Picture 4" descr="icon_system_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96" y="1828258"/>
            <a:ext cx="731501" cy="731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67" y="2640817"/>
            <a:ext cx="1625559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7D715E"/>
                </a:solidFill>
                <a:latin typeface="Arial"/>
              </a:defRPr>
            </a:pPr>
            <a:r>
              <a:t>AUTOMATED CRONJOB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00447" y="2843957"/>
            <a:ext cx="0" cy="528163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81725" y="3047097"/>
            <a:ext cx="1056613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A1612"/>
                </a:solidFill>
                <a:latin typeface="Arial"/>
              </a:defRPr>
            </a:pPr>
            <a:r>
              <a:t>MATURE ESCROW FUNDS</a:t>
            </a:r>
          </a:p>
        </p:txBody>
      </p:sp>
      <p:pic>
        <p:nvPicPr>
          <p:cNvPr id="9" name="Picture 8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57" y="3494004"/>
            <a:ext cx="812779" cy="8125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7667" y="4428447"/>
            <a:ext cx="1625559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1A1612"/>
                </a:solidFill>
                <a:latin typeface="Arial"/>
              </a:defRPr>
            </a:pPr>
            <a:r>
              <a:t>COLLABORATOR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88115" y="3900284"/>
            <a:ext cx="158492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50671" y="3717458"/>
            <a:ext cx="1219169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REQUEST WITHDRAWAL</a:t>
            </a:r>
          </a:p>
        </p:txBody>
      </p:sp>
      <p:pic>
        <p:nvPicPr>
          <p:cNvPr id="13" name="Picture 12" descr="icon_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313" y="3514318"/>
            <a:ext cx="731501" cy="7719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07284" y="3392434"/>
            <a:ext cx="1625559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7D715E"/>
                </a:solidFill>
                <a:latin typeface="Arial"/>
              </a:defRPr>
            </a:pPr>
            <a:r>
              <a:t>PAYOUT DOSSIER &amp; 10% PIT TAX</a:t>
            </a:r>
          </a:p>
        </p:txBody>
      </p:sp>
      <p:pic>
        <p:nvPicPr>
          <p:cNvPr id="15" name="Picture 14" descr="avatar_pris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994" y="5058181"/>
            <a:ext cx="772140" cy="7719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04089" y="5891054"/>
            <a:ext cx="2031949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1A1612"/>
                </a:solidFill>
                <a:latin typeface="Arial"/>
              </a:defRPr>
            </a:pPr>
            <a:r>
              <a:t>SYSTEM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4089" y="6073880"/>
            <a:ext cx="2031949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B88E4F"/>
                </a:solidFill>
                <a:latin typeface="Arial"/>
              </a:defRPr>
            </a:pPr>
            <a:r>
              <a:t>(Super Admin Treasury Vault Governance)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820064" y="4387819"/>
            <a:ext cx="0" cy="60942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901342" y="4631587"/>
            <a:ext cx="1463003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B88E4F"/>
                </a:solidFill>
                <a:latin typeface="Arial"/>
              </a:defRPr>
            </a:pPr>
            <a:r>
              <a:t>AUDIT &amp; APPROVE PAYOUT</a:t>
            </a:r>
          </a:p>
          <a:p>
            <a:pPr algn="l">
              <a:defRPr sz="1200" b="1">
                <a:solidFill>
                  <a:srgbClr val="B88E4F"/>
                </a:solidFill>
                <a:latin typeface="Arial"/>
              </a:defRPr>
            </a:pPr>
            <a:r>
              <a:t>(EXCLUSIVELY SYSTEM ADMIN)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67093" y="3900284"/>
            <a:ext cx="1584920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29649" y="3717458"/>
            <a:ext cx="1137891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A1612"/>
                </a:solidFill>
                <a:latin typeface="Arial"/>
              </a:defRPr>
            </a:pPr>
            <a:r>
              <a:t>DISPATCH NAPAS 24/7</a:t>
            </a:r>
          </a:p>
        </p:txBody>
      </p:sp>
      <p:pic>
        <p:nvPicPr>
          <p:cNvPr id="22" name="Picture 21" descr="icon_cash_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3291" y="3494004"/>
            <a:ext cx="812779" cy="81255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08179" y="4387819"/>
            <a:ext cx="1463003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7D715E"/>
                </a:solidFill>
                <a:latin typeface="Arial"/>
              </a:defRPr>
            </a:pPr>
            <a:r>
              <a:t>NAPAS 24/7 GATEWAY</a:t>
            </a:r>
          </a:p>
          <a:p>
            <a:pPr algn="ctr">
              <a:defRPr sz="1100" b="1">
                <a:solidFill>
                  <a:srgbClr val="7D715E"/>
                </a:solidFill>
                <a:latin typeface="Arial"/>
              </a:defRPr>
            </a:pPr>
            <a:r>
              <a:t>Instant Bank Transfer API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27349" y="3900284"/>
            <a:ext cx="1381725" cy="0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09074" y="3250236"/>
            <a:ext cx="0" cy="650048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09074" y="3250236"/>
            <a:ext cx="1056614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71630" y="3067411"/>
            <a:ext cx="731501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Arial"/>
              </a:defRPr>
            </a:pPr>
            <a:r>
              <a:t>SUCCESS</a:t>
            </a:r>
          </a:p>
        </p:txBody>
      </p:sp>
      <p:pic>
        <p:nvPicPr>
          <p:cNvPr id="28" name="Picture 27" descr="icon_approve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7924" y="2904899"/>
            <a:ext cx="690862" cy="6906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40576" y="3697144"/>
            <a:ext cx="1625559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Arial"/>
              </a:defRPr>
            </a:pPr>
            <a:r>
              <a:t>BANK ACCOUNT CREDITED</a:t>
            </a:r>
          </a:p>
          <a:p>
            <a:pPr algn="ctr">
              <a:defRPr sz="1400" b="1">
                <a:solidFill>
                  <a:srgbClr val="059669"/>
                </a:solidFill>
                <a:latin typeface="Arial"/>
              </a:defRPr>
            </a:pPr>
            <a:r>
              <a:t>Instant 24/7 Transfer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09074" y="3900284"/>
            <a:ext cx="0" cy="893815"/>
          </a:xfrm>
          <a:prstGeom prst="line">
            <a:avLst/>
          </a:prstGeom>
          <a:ln w="25400">
            <a:solidFill>
              <a:srgbClr val="1A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09074" y="4794099"/>
            <a:ext cx="1056614" cy="0"/>
          </a:xfrm>
          <a:prstGeom prst="line">
            <a:avLst/>
          </a:prstGeom>
          <a:ln w="25400">
            <a:solidFill>
              <a:srgbClr val="1A16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71630" y="4611273"/>
            <a:ext cx="731501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Arial"/>
              </a:defRPr>
            </a:pPr>
            <a:r>
              <a:t>FAILED</a:t>
            </a:r>
          </a:p>
        </p:txBody>
      </p:sp>
      <p:pic>
        <p:nvPicPr>
          <p:cNvPr id="33" name="Picture 32" descr="icon_reject_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8244" y="4469075"/>
            <a:ext cx="650223" cy="65004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59298" y="5241007"/>
            <a:ext cx="1788115" cy="20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Arial"/>
              </a:defRPr>
            </a:pPr>
            <a:r>
              <a:t>RESTORE WALLET</a:t>
            </a:r>
          </a:p>
          <a:p>
            <a:pPr algn="ctr">
              <a:defRPr sz="1400" b="1">
                <a:solidFill>
                  <a:srgbClr val="DC2626"/>
                </a:solidFill>
                <a:latin typeface="Arial"/>
              </a:defRPr>
            </a:pPr>
            <a:r>
              <a:t>Pessimistic Lock &amp; Rollback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39" y="345337"/>
            <a:ext cx="8940576" cy="182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8E4F"/>
                </a:solidFill>
                <a:latin typeface="Arial"/>
              </a:defRPr>
            </a:pPr>
            <a:r>
              <a:t>MAIN BUSINESS FLOW - TEST &amp;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9" y="568791"/>
            <a:ext cx="8940576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A1612"/>
                </a:solidFill>
                <a:latin typeface="Arial"/>
              </a:defRPr>
            </a:pPr>
            <a:r>
              <a:t>FLOW 5: MONTHLY BONUS &amp; NAPAS PAYOUT AUDIT - UAT TEST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1056327"/>
            <a:ext cx="5201789" cy="51191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approv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3" y="1218838"/>
            <a:ext cx="568945" cy="5687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35" y="1848572"/>
            <a:ext cx="471412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KỲ VỌNG THÀNH CÔNG (HAPPY PATH)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203139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B88E4F"/>
                </a:solidFill>
                <a:latin typeface="Arial"/>
              </a:defRPr>
            </a:pPr>
            <a:r>
              <a:t>Kết quả trả về khi dữ liệu hợp lệ &amp; luồng xử lý hoàn tất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5335" y="2214223"/>
            <a:ext cx="4714122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5335" y="235642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52" y="2457991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9489" y="243767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TC_PAY_01: Quyết toán Thưởng mốc doanh số tháng (FR-09)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9489" y="260018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Hệ thống quét tổng doanh số ròng qua Escrow, tính theo công thức bậc thang.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Tính đúng số tiền thưởng (ví dụ: 52.4tr * 2% = 1.048.000 ₫); Diễn giải rõ ràng.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335" y="3189295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52" y="3290864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9489" y="3270550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TC_PAY_02: KOL tạo lệnh rút tiền &amp; Khấu trừ thuế TNCN (FR-24)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9489" y="3433062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Lệnh rút tạo thành công ở PENDING_APPROVAL; Thực nhận 4.5tr (sau thuế 10% 500k).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Pessimistic Lock: Khóa số dư khả dụng ngay lập tức chống rút trùng.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35" y="4022168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52" y="4123738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489" y="4103424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TC_PAY_03: System Admin độc quyền duyệt Payout Napas (FR-24)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9489" y="4265936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Gọi API Napas 24/7 Instant Transfer; Tiền về tài khoản ngân hàng tức thì.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Lệnh chuyển COMPLETED; Xóa số dư phong tỏa vĩnh viễn khỏi ví.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35" y="485504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52" y="4956611"/>
            <a:ext cx="73150" cy="7313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9489" y="493629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TC_PAY_04: Cơ chế Rollback an toàn khi API Ngân hàng lỗi (FR-24)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9489" y="509880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TUYỆT ĐỐI KHÔNG NUỐT LỖI: Ghi log chi tiết mã lỗi từ phía ngân hàng.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Database Rollback: Mở khóa và hoàn trả 100% số dư phong tỏa về ví khả dụng.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335" y="5870740"/>
            <a:ext cx="4714122" cy="203139"/>
          </a:xfrm>
          <a:prstGeom prst="roundRect">
            <a:avLst/>
          </a:prstGeom>
          <a:solidFill>
            <a:srgbClr val="FBF5EB"/>
          </a:solidFill>
          <a:ln w="1270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335" y="591136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KẾT QUẢ THỰC NGHIỆM: 4/4 TEST SCENARIOS ĐẠT CHUẨN (100% PASS)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8403" y="1056327"/>
            <a:ext cx="5201789" cy="51191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_reject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825" y="1218838"/>
            <a:ext cx="568945" cy="56879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02237" y="1848572"/>
            <a:ext cx="4714122" cy="16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1A1612"/>
                </a:solidFill>
                <a:latin typeface="Arial"/>
              </a:defRPr>
            </a:pPr>
            <a:r>
              <a:t>XỬ LÝ THẤT BẠI &amp; NGOẠI LỆ (FAIL-SAFE)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237" y="203139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Arial"/>
              </a:defRPr>
            </a:pPr>
            <a:r>
              <a:t>Cơ chế phòng vệ, mã lỗi HTTP và phản hồi an toàn cho người dùng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02237" y="2214223"/>
            <a:ext cx="4714122" cy="0"/>
          </a:xfrm>
          <a:prstGeom prst="line">
            <a:avLst/>
          </a:prstGeom>
          <a:ln w="19050">
            <a:solidFill>
              <a:srgbClr val="EAE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02237" y="235642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24154" y="2457991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390" y="243767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TC_PAY_01: Đơn bị hoàn tiền hoặc KOL chưa đạt mốc tối thiểu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390" y="260018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Đơn đổi trả: Tự động trừ khỏi doanh số ròng trước khi áp dụng công thức.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Chưa đạt mốc: Ghi nhận 0đ thưởng tháng, giữ nguyên hoa hồng đơn.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02237" y="3189295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24154" y="3290864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390" y="3270550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TC_PAY_02: Số dư không đủ hoặc Rút dưới hạn mức tối thiểu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390" y="3433062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Không đủ số dư: Form chặn submit, báo lỗi 'Số dư khả dụng không đủ'.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Rút dưới hạn mức (&lt;100.000 ₫): Báo lỗi 'Số tiền rút tối thiểu 100.000 ₫'.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02237" y="4022168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24154" y="4123738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390" y="4103424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TC_PAY_03: User không phải System Admin hoặc STK sai lệch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390" y="4265936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Không phải Super Admin: RBAC Guard chặn ngay lập tức với HTTP 403 Forbidden.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Admin từ chối lệnh: Bắt buộc nhập lý do, hoàn trả số dư về ví khả dụng.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02237" y="4855041"/>
            <a:ext cx="4714122" cy="751617"/>
          </a:xfrm>
          <a:prstGeom prst="roundRect">
            <a:avLst/>
          </a:prstGeom>
          <a:solidFill>
            <a:srgbClr val="F3EFE6"/>
          </a:solidFill>
          <a:ln w="1905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4154" y="4956611"/>
            <a:ext cx="73150" cy="7313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390" y="4936297"/>
            <a:ext cx="4389010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A1612"/>
                </a:solidFill>
                <a:latin typeface="Arial"/>
              </a:defRPr>
            </a:pPr>
            <a:r>
              <a:t>TC_PAY_04: Lỗi Timeout mạng ngân hàng chưa rõ kết quả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390" y="5098809"/>
            <a:ext cx="4389010" cy="446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Lệnh đưa vào trạng thái PROCESSING_VERIFY; Cronjob đối soát 5 phút/lần.</a:t>
            </a:r>
          </a:p>
          <a:p>
            <a:pPr algn="l">
              <a:defRPr sz="1200" b="0">
                <a:solidFill>
                  <a:srgbClr val="7D715E"/>
                </a:solidFill>
                <a:latin typeface="Arial"/>
              </a:defRPr>
            </a:pPr>
            <a:r>
              <a:t>Chỉ hoàn tiền sau khi đối soát đối ứng với Napas, bảo toàn ngân quỹ sàn.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02237" y="5870740"/>
            <a:ext cx="4714122" cy="203139"/>
          </a:xfrm>
          <a:prstGeom prst="roundRect">
            <a:avLst/>
          </a:prstGeom>
          <a:solidFill>
            <a:srgbClr val="FBF5EB"/>
          </a:solidFill>
          <a:ln w="12700">
            <a:solidFill>
              <a:srgbClr val="EA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2237" y="5911368"/>
            <a:ext cx="4714122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8E4F"/>
                </a:solidFill>
                <a:latin typeface="Arial"/>
              </a:defRPr>
            </a:pPr>
            <a:r>
              <a:t>CƠ CHẾ PHÒNG VỆ: BẢO MẬT ĐA TẦNG &amp; TUYỆT ĐỐI KHÔNG NUỐT LỖI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779" y="6378590"/>
            <a:ext cx="10566135" cy="1421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7D715E"/>
                </a:solidFill>
                <a:latin typeface="Arial"/>
              </a:defRPr>
            </a:pPr>
            <a:r>
              <a:t>Tài liệu chi tiết 20 Test Cases UAT: docs/review 2/SCANMS_Demo_Test_Cases_Review2.xlsx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779" y="2275165"/>
            <a:ext cx="10566135" cy="3656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600" b="1">
                <a:solidFill>
                  <a:srgbClr val="1A1612"/>
                </a:solidFill>
                <a:latin typeface="Arial"/>
              </a:defRPr>
            </a:pPr>
            <a:r>
              <a:t>THANK YOU FOR LISTENING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2762701"/>
            <a:ext cx="10566135" cy="4875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400" b="1">
                <a:solidFill>
                  <a:srgbClr val="B88E4F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3372120"/>
            <a:ext cx="10566135" cy="243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7D715E"/>
                </a:solidFill>
                <a:latin typeface="Arial"/>
              </a:defRPr>
            </a:pPr>
            <a:r>
              <a:t>Sales Collaborator &amp; Affiliate Network Management System (SCANMS)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