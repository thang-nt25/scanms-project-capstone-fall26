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1097280"/>
            <a:ext cx="2926080" cy="804672"/>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nms-logo-transparent.png"/>
          <p:cNvPicPr>
            <a:picLocks noChangeAspect="1"/>
          </p:cNvPicPr>
          <p:nvPr/>
        </p:nvPicPr>
        <p:blipFill>
          <a:blip r:embed="rId2"/>
          <a:stretch>
            <a:fillRect/>
          </a:stretch>
        </p:blipFill>
        <p:spPr>
          <a:xfrm>
            <a:off x="1325880" y="1143000"/>
            <a:ext cx="2743200" cy="831715"/>
          </a:xfrm>
          <a:prstGeom prst="rect">
            <a:avLst/>
          </a:prstGeom>
        </p:spPr>
      </p:pic>
      <p:sp>
        <p:nvSpPr>
          <p:cNvPr id="7" name="Rounded Rectangle 6"/>
          <p:cNvSpPr/>
          <p:nvPr/>
        </p:nvSpPr>
        <p:spPr>
          <a:xfrm>
            <a:off x="1234440" y="2084831"/>
            <a:ext cx="3474720" cy="292608"/>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B88E4F"/>
                </a:solidFill>
                <a:latin typeface="Segoe UI"/>
              </a:defRPr>
            </a:pPr>
            <a:r>
              <a:t>ĐỒ ÁN TỐT NGHIỆP KỸ THUẬT PHẦN MỀM • FA26SE032</a:t>
            </a:r>
          </a:p>
        </p:txBody>
      </p:sp>
      <p:sp>
        <p:nvSpPr>
          <p:cNvPr id="8" name="TextBox 7"/>
          <p:cNvSpPr txBox="1"/>
          <p:nvPr/>
        </p:nvSpPr>
        <p:spPr>
          <a:xfrm>
            <a:off x="1234440" y="2468880"/>
            <a:ext cx="9601200" cy="1280160"/>
          </a:xfrm>
          <a:prstGeom prst="rect">
            <a:avLst/>
          </a:prstGeom>
          <a:noFill/>
        </p:spPr>
        <p:txBody>
          <a:bodyPr wrap="square">
            <a:spAutoFit/>
          </a:bodyPr>
          <a:lstStyle/>
          <a:p>
            <a:pPr>
              <a:defRPr sz="4400" b="1">
                <a:solidFill>
                  <a:srgbClr val="231D15"/>
                </a:solidFill>
                <a:latin typeface="Segoe UI"/>
              </a:defRPr>
            </a:pPr>
            <a:r>
              <a:t>SCANMS</a:t>
            </a:r>
          </a:p>
          <a:p>
            <a:pPr>
              <a:defRPr sz="1900" b="1">
                <a:solidFill>
                  <a:srgbClr val="B88E4F"/>
                </a:solidFill>
                <a:latin typeface="Segoe UI"/>
              </a:defRPr>
            </a:pPr>
            <a:r>
              <a:t>Sales Collaborator &amp; Affiliate Network Management System</a:t>
            </a:r>
          </a:p>
          <a:p>
            <a:pPr>
              <a:defRPr sz="1200">
                <a:solidFill>
                  <a:srgbClr val="7D715E"/>
                </a:solidFill>
                <a:latin typeface="Segoe UI"/>
              </a:defRPr>
            </a:pPr>
            <a:r>
              <a:t>Sàn Tiếp Thị Liên Kết &amp; Mạng Lưới Gian Hàng Đối Tác Đa Nền Tảng (Multi-Merchant &amp; Multi-KOL Network)</a:t>
            </a:r>
          </a:p>
        </p:txBody>
      </p:sp>
      <p:sp>
        <p:nvSpPr>
          <p:cNvPr id="9" name="Rectangle 8"/>
          <p:cNvSpPr/>
          <p:nvPr/>
        </p:nvSpPr>
        <p:spPr>
          <a:xfrm>
            <a:off x="1234440" y="3977639"/>
            <a:ext cx="9601200"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4114800"/>
            <a:ext cx="4572000" cy="1645920"/>
          </a:xfrm>
          <a:prstGeom prst="rect">
            <a:avLst/>
          </a:prstGeom>
          <a:noFill/>
        </p:spPr>
        <p:txBody>
          <a:bodyPr wrap="none">
            <a:spAutoFit/>
          </a:bodyPr>
          <a:lstStyle/>
          <a:p>
            <a:pPr>
              <a:defRPr sz="1000" b="1">
                <a:solidFill>
                  <a:srgbClr val="B88E4F"/>
                </a:solidFill>
                <a:latin typeface="Segoe UI"/>
              </a:defRPr>
            </a:pPr>
            <a:r>
              <a:t>GIẢNG VIÊN HƯỚNG DẪN</a:t>
            </a:r>
          </a:p>
          <a:p>
            <a:pPr>
              <a:defRPr sz="1300" b="1">
                <a:solidFill>
                  <a:srgbClr val="1A1612"/>
                </a:solidFill>
                <a:latin typeface="Segoe UI"/>
              </a:defRPr>
            </a:pPr>
            <a:r>
              <a:t>ThS. Tôn Thất Hoàng Minh (MinhTTH5)</a:t>
            </a:r>
          </a:p>
          <a:p>
            <a:pPr>
              <a:defRPr sz="1100">
                <a:solidFill>
                  <a:srgbClr val="7D715E"/>
                </a:solidFill>
                <a:latin typeface="Segoe UI"/>
              </a:defRPr>
            </a:pPr>
            <a:r>
              <a:t>Khoa Kỹ thuật Phần mềm (SE) - Đại học FPT TP.HCM</a:t>
            </a:r>
          </a:p>
        </p:txBody>
      </p:sp>
      <p:sp>
        <p:nvSpPr>
          <p:cNvPr id="11" name="TextBox 10"/>
          <p:cNvSpPr txBox="1"/>
          <p:nvPr/>
        </p:nvSpPr>
        <p:spPr>
          <a:xfrm>
            <a:off x="6035040" y="4114800"/>
            <a:ext cx="4846320" cy="1645920"/>
          </a:xfrm>
          <a:prstGeom prst="rect">
            <a:avLst/>
          </a:prstGeom>
          <a:noFill/>
        </p:spPr>
        <p:txBody>
          <a:bodyPr wrap="none">
            <a:spAutoFit/>
          </a:bodyPr>
          <a:lstStyle/>
          <a:p>
            <a:pPr>
              <a:defRPr sz="1000" b="1">
                <a:solidFill>
                  <a:srgbClr val="B88E4F"/>
                </a:solidFill>
                <a:latin typeface="Segoe UI"/>
              </a:defRPr>
            </a:pPr>
            <a:r>
              <a:t>NHÓM SINH VIÊN THỰC HIỆN (FA26SE032)</a:t>
            </a:r>
          </a:p>
          <a:p>
            <a:pPr>
              <a:defRPr sz="1100">
                <a:solidFill>
                  <a:srgbClr val="1A1612"/>
                </a:solidFill>
                <a:latin typeface="Segoe UI"/>
              </a:defRPr>
            </a:pPr>
            <a:r>
              <a:t>1. Nguyễn Thành Thắng (Leader) - MSSV: SE184251</a:t>
            </a:r>
          </a:p>
          <a:p>
            <a:pPr>
              <a:defRPr sz="1100">
                <a:solidFill>
                  <a:srgbClr val="1A1612"/>
                </a:solidFill>
                <a:latin typeface="Segoe UI"/>
              </a:defRPr>
            </a:pPr>
            <a:r>
              <a:t>2. Nguyễn Đình Tuấn - MSSV: SE180104</a:t>
            </a:r>
          </a:p>
          <a:p>
            <a:pPr>
              <a:defRPr sz="1100">
                <a:solidFill>
                  <a:srgbClr val="1A1612"/>
                </a:solidFill>
                <a:latin typeface="Segoe UI"/>
              </a:defRPr>
            </a:pPr>
            <a:r>
              <a:t>3. Nguyễn Phú Quý - MSSV: SE180104</a:t>
            </a:r>
          </a:p>
          <a:p>
            <a:pPr>
              <a:defRPr sz="1100">
                <a:solidFill>
                  <a:srgbClr val="1A1612"/>
                </a:solidFill>
                <a:latin typeface="Segoe UI"/>
              </a:defRPr>
            </a:pPr>
            <a:r>
              <a:t>4. Phan Xuân Thịnh - MSSV: SE184527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MỤC LỤC BÁO CÁO</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Nội Dung Thuyết Trình Review 2 &amp; Hội Đồng 1.1</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Cấu trúc báo cáo toàn diện bám sát chuẩn thẩm định đồ án tốt nghiệp Capstone FPT University</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02</a:t>
            </a:r>
          </a:p>
        </p:txBody>
      </p:sp>
      <p:sp>
        <p:nvSpPr>
          <p:cNvPr id="12" name="Rounded Rectangle 11"/>
          <p:cNvSpPr/>
          <p:nvPr/>
        </p:nvSpPr>
        <p:spPr>
          <a:xfrm>
            <a:off x="731520" y="1463040"/>
            <a:ext cx="10728655" cy="80467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1627632"/>
            <a:ext cx="594360" cy="475488"/>
          </a:xfrm>
          <a:prstGeom prst="roundRect">
            <a:avLst/>
          </a:prstGeom>
          <a:solidFill>
            <a:srgbClr val="F3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1D15"/>
                </a:solidFill>
                <a:latin typeface="Segoe UI"/>
              </a:defRPr>
            </a:pPr>
            <a:r>
              <a:t>01</a:t>
            </a:r>
          </a:p>
        </p:txBody>
      </p:sp>
      <p:sp>
        <p:nvSpPr>
          <p:cNvPr id="14" name="TextBox 13"/>
          <p:cNvSpPr txBox="1"/>
          <p:nvPr/>
        </p:nvSpPr>
        <p:spPr>
          <a:xfrm>
            <a:off x="1737360" y="1554480"/>
            <a:ext cx="9418320" cy="621792"/>
          </a:xfrm>
          <a:prstGeom prst="rect">
            <a:avLst/>
          </a:prstGeom>
          <a:noFill/>
        </p:spPr>
        <p:txBody>
          <a:bodyPr wrap="square">
            <a:spAutoFit/>
          </a:bodyPr>
          <a:lstStyle/>
          <a:p>
            <a:pPr>
              <a:defRPr sz="1300" b="1">
                <a:solidFill>
                  <a:srgbClr val="1A1612"/>
                </a:solidFill>
                <a:latin typeface="Segoe UI"/>
              </a:defRPr>
            </a:pPr>
            <a:r>
              <a:t>Kiến Trúc Hệ Thống Tổng Quan (System Architecture Overview)</a:t>
            </a:r>
          </a:p>
          <a:p>
            <a:pPr>
              <a:defRPr sz="1050">
                <a:solidFill>
                  <a:srgbClr val="7D715E"/>
                </a:solidFill>
                <a:latin typeface="Segoe UI"/>
              </a:defRPr>
            </a:pPr>
            <a:r>
              <a:t>Kiến trúc 5 tầng Modular Monolith: Client Web, Security Gateway, Business Logic, Realtime Socket và Data Persistence.</a:t>
            </a:r>
          </a:p>
        </p:txBody>
      </p:sp>
      <p:sp>
        <p:nvSpPr>
          <p:cNvPr id="15" name="Rounded Rectangle 14"/>
          <p:cNvSpPr/>
          <p:nvPr/>
        </p:nvSpPr>
        <p:spPr>
          <a:xfrm>
            <a:off x="731520" y="2395728"/>
            <a:ext cx="10728655" cy="80467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0120" y="2560320"/>
            <a:ext cx="594360" cy="475488"/>
          </a:xfrm>
          <a:prstGeom prst="roundRect">
            <a:avLst/>
          </a:prstGeom>
          <a:solidFill>
            <a:srgbClr val="F3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1D15"/>
                </a:solidFill>
                <a:latin typeface="Segoe UI"/>
              </a:defRPr>
            </a:pPr>
            <a:r>
              <a:t>02</a:t>
            </a:r>
          </a:p>
        </p:txBody>
      </p:sp>
      <p:sp>
        <p:nvSpPr>
          <p:cNvPr id="17" name="TextBox 16"/>
          <p:cNvSpPr txBox="1"/>
          <p:nvPr/>
        </p:nvSpPr>
        <p:spPr>
          <a:xfrm>
            <a:off x="1737360" y="2487168"/>
            <a:ext cx="9418320" cy="621792"/>
          </a:xfrm>
          <a:prstGeom prst="rect">
            <a:avLst/>
          </a:prstGeom>
          <a:noFill/>
        </p:spPr>
        <p:txBody>
          <a:bodyPr wrap="square">
            <a:spAutoFit/>
          </a:bodyPr>
          <a:lstStyle/>
          <a:p>
            <a:pPr>
              <a:defRPr sz="1300" b="1">
                <a:solidFill>
                  <a:srgbClr val="1A1612"/>
                </a:solidFill>
                <a:latin typeface="Segoe UI"/>
              </a:defRPr>
            </a:pPr>
            <a:r>
              <a:t>Công Nghệ Xây Dựng Hệ Thống (Technology Stack)</a:t>
            </a:r>
          </a:p>
          <a:p>
            <a:pPr>
              <a:defRPr sz="1050">
                <a:solidFill>
                  <a:srgbClr val="7D715E"/>
                </a:solidFill>
                <a:latin typeface="Segoe UI"/>
              </a:defRPr>
            </a:pPr>
            <a:r>
              <a:t>React 19, TypeScript, NestJS 11, Prisma ORM 7, PostgreSQL 16 (Pessimistic Locking), Redis 7 và hệ sinh thái tích hợp PayOS / GHN.</a:t>
            </a:r>
          </a:p>
        </p:txBody>
      </p:sp>
      <p:sp>
        <p:nvSpPr>
          <p:cNvPr id="18" name="Rounded Rectangle 17"/>
          <p:cNvSpPr/>
          <p:nvPr/>
        </p:nvSpPr>
        <p:spPr>
          <a:xfrm>
            <a:off x="731520" y="3328416"/>
            <a:ext cx="10728655" cy="80467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3493008"/>
            <a:ext cx="594360" cy="475488"/>
          </a:xfrm>
          <a:prstGeom prst="roundRect">
            <a:avLst/>
          </a:prstGeom>
          <a:solidFill>
            <a:srgbClr val="F3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1D15"/>
                </a:solidFill>
                <a:latin typeface="Segoe UI"/>
              </a:defRPr>
            </a:pPr>
            <a:r>
              <a:t>03</a:t>
            </a:r>
          </a:p>
        </p:txBody>
      </p:sp>
      <p:sp>
        <p:nvSpPr>
          <p:cNvPr id="20" name="TextBox 19"/>
          <p:cNvSpPr txBox="1"/>
          <p:nvPr/>
        </p:nvSpPr>
        <p:spPr>
          <a:xfrm>
            <a:off x="1737360" y="3419856"/>
            <a:ext cx="9418320" cy="621792"/>
          </a:xfrm>
          <a:prstGeom prst="rect">
            <a:avLst/>
          </a:prstGeom>
          <a:noFill/>
        </p:spPr>
        <p:txBody>
          <a:bodyPr wrap="square">
            <a:spAutoFit/>
          </a:bodyPr>
          <a:lstStyle/>
          <a:p>
            <a:pPr>
              <a:defRPr sz="1300" b="1">
                <a:solidFill>
                  <a:srgbClr val="1A1612"/>
                </a:solidFill>
                <a:latin typeface="Segoe UI"/>
              </a:defRPr>
            </a:pPr>
            <a:r>
              <a:t>Sơ Đồ Dữ Liệu Khái Niệm (Conceptual Data Model)</a:t>
            </a:r>
          </a:p>
          <a:p>
            <a:pPr>
              <a:defRPr sz="1050">
                <a:solidFill>
                  <a:srgbClr val="7D715E"/>
                </a:solidFill>
                <a:latin typeface="Segoe UI"/>
              </a:defRPr>
            </a:pPr>
            <a:r>
              <a:t>16 thực thể hạt nhân chia 5 cụm: Danh tính &amp; KYC, Danh mục hàng hóa, Chiến dịch Affiliate, Hậu cần vận chuyển và Ví tiền Escrow.</a:t>
            </a:r>
          </a:p>
        </p:txBody>
      </p:sp>
      <p:sp>
        <p:nvSpPr>
          <p:cNvPr id="21" name="Rounded Rectangle 20"/>
          <p:cNvSpPr/>
          <p:nvPr/>
        </p:nvSpPr>
        <p:spPr>
          <a:xfrm>
            <a:off x="731520" y="4261104"/>
            <a:ext cx="10728655" cy="80467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120" y="4425696"/>
            <a:ext cx="594360" cy="475488"/>
          </a:xfrm>
          <a:prstGeom prst="roundRect">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04</a:t>
            </a:r>
          </a:p>
        </p:txBody>
      </p:sp>
      <p:sp>
        <p:nvSpPr>
          <p:cNvPr id="23" name="TextBox 22"/>
          <p:cNvSpPr txBox="1"/>
          <p:nvPr/>
        </p:nvSpPr>
        <p:spPr>
          <a:xfrm>
            <a:off x="1737360" y="4352544"/>
            <a:ext cx="9418320" cy="621792"/>
          </a:xfrm>
          <a:prstGeom prst="rect">
            <a:avLst/>
          </a:prstGeom>
          <a:noFill/>
        </p:spPr>
        <p:txBody>
          <a:bodyPr wrap="square">
            <a:spAutoFit/>
          </a:bodyPr>
          <a:lstStyle/>
          <a:p>
            <a:pPr>
              <a:defRPr sz="1300" b="1">
                <a:solidFill>
                  <a:srgbClr val="1A1612"/>
                </a:solidFill>
                <a:latin typeface="Segoe UI"/>
              </a:defRPr>
            </a:pPr>
            <a:r>
              <a:t>5 Luồng Nghiệp Vụ Cốt Lõi (5 Core Business Mainflows)</a:t>
            </a:r>
          </a:p>
          <a:p>
            <a:pPr>
              <a:defRPr sz="1050">
                <a:solidFill>
                  <a:srgbClr val="7D715E"/>
                </a:solidFill>
                <a:latin typeface="Segoe UI"/>
              </a:defRPr>
            </a:pPr>
            <a:r>
              <a:t>5 quy trình nghiệp vụ xương sống: Đăng ký &amp; KYC ➔ Hàng mẫu &amp; Deal VIP ➔ Smart Tracking &amp; Mua hàng ➔ Escrow 14 ngày &amp; Đổi trả ➔ Ví tiền &amp; Napas 24/7.</a:t>
            </a:r>
          </a:p>
        </p:txBody>
      </p:sp>
      <p:sp>
        <p:nvSpPr>
          <p:cNvPr id="24" name="Rounded Rectangle 23"/>
          <p:cNvSpPr/>
          <p:nvPr/>
        </p:nvSpPr>
        <p:spPr>
          <a:xfrm>
            <a:off x="731520" y="5193792"/>
            <a:ext cx="10728655" cy="80467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120" y="5358384"/>
            <a:ext cx="594360" cy="475488"/>
          </a:xfrm>
          <a:prstGeom prst="roundRect">
            <a:avLst/>
          </a:prstGeom>
          <a:solidFill>
            <a:srgbClr val="F3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1D15"/>
                </a:solidFill>
                <a:latin typeface="Segoe UI"/>
              </a:defRPr>
            </a:pPr>
            <a:r>
              <a:t>05</a:t>
            </a:r>
          </a:p>
        </p:txBody>
      </p:sp>
      <p:sp>
        <p:nvSpPr>
          <p:cNvPr id="26" name="TextBox 25"/>
          <p:cNvSpPr txBox="1"/>
          <p:nvPr/>
        </p:nvSpPr>
        <p:spPr>
          <a:xfrm>
            <a:off x="1737360" y="5285232"/>
            <a:ext cx="9418320" cy="621792"/>
          </a:xfrm>
          <a:prstGeom prst="rect">
            <a:avLst/>
          </a:prstGeom>
          <a:noFill/>
        </p:spPr>
        <p:txBody>
          <a:bodyPr wrap="square">
            <a:spAutoFit/>
          </a:bodyPr>
          <a:lstStyle/>
          <a:p>
            <a:pPr>
              <a:defRPr sz="1300" b="1">
                <a:solidFill>
                  <a:srgbClr val="1A1612"/>
                </a:solidFill>
                <a:latin typeface="Segoe UI"/>
              </a:defRPr>
            </a:pPr>
            <a:r>
              <a:t>Hệ Thống Tác Vụ Tự Động (Recurring &amp; On-Demand Jobs)</a:t>
            </a:r>
          </a:p>
          <a:p>
            <a:pPr>
              <a:defRPr sz="1050">
                <a:solidFill>
                  <a:srgbClr val="7D715E"/>
                </a:solidFill>
                <a:latin typeface="Segoe UI"/>
              </a:defRPr>
            </a:pPr>
            <a:r>
              <a:t>Cơ chế Cronjob giải phóng Escrow 14 ngày, đếm ngược nghiệm thu video mẫu, làm sạch Cookie 30 ngày và hàng đợi gửi hóa đơn BullMQ.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1 • KIẾN TRÚC HỆ THỐNG</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Kiến Trúc Tổng Quan SCANMS (System Architecture)</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Thiết kế kiến trúc 5 tầng chuẩn công nghiệp: Client Layer, Gateway &amp; Guard, Modular Monolith, Realtime Socket và Data Storage</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03</a:t>
            </a:r>
          </a:p>
        </p:txBody>
      </p:sp>
      <p:sp>
        <p:nvSpPr>
          <p:cNvPr id="12" name="Rounded Rectangle 11"/>
          <p:cNvSpPr/>
          <p:nvPr/>
        </p:nvSpPr>
        <p:spPr>
          <a:xfrm>
            <a:off x="731520" y="1371600"/>
            <a:ext cx="6217920" cy="4892040"/>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ANMS_OVERVIEW_ARCHITECTURE.png"/>
          <p:cNvPicPr>
            <a:picLocks noChangeAspect="1"/>
          </p:cNvPicPr>
          <p:nvPr/>
        </p:nvPicPr>
        <p:blipFill>
          <a:blip r:embed="rId3"/>
          <a:stretch>
            <a:fillRect/>
          </a:stretch>
        </p:blipFill>
        <p:spPr>
          <a:xfrm>
            <a:off x="822960" y="1463040"/>
            <a:ext cx="6035040" cy="4709160"/>
          </a:xfrm>
          <a:prstGeom prst="rect">
            <a:avLst/>
          </a:prstGeom>
        </p:spPr>
      </p:pic>
      <p:sp>
        <p:nvSpPr>
          <p:cNvPr id="14" name="Rounded Rectangle 13"/>
          <p:cNvSpPr/>
          <p:nvPr/>
        </p:nvSpPr>
        <p:spPr>
          <a:xfrm>
            <a:off x="7132320" y="1371600"/>
            <a:ext cx="4327855" cy="111556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444752"/>
            <a:ext cx="4069080" cy="960120"/>
          </a:xfrm>
          <a:prstGeom prst="rect">
            <a:avLst/>
          </a:prstGeom>
          <a:noFill/>
        </p:spPr>
        <p:txBody>
          <a:bodyPr wrap="square">
            <a:spAutoFit/>
          </a:bodyPr>
          <a:lstStyle/>
          <a:p>
            <a:pPr>
              <a:defRPr sz="1100" b="1">
                <a:solidFill>
                  <a:srgbClr val="B88E4F"/>
                </a:solidFill>
                <a:latin typeface="Segoe UI"/>
              </a:defRPr>
            </a:pPr>
            <a:r>
              <a:t>TẦNG 1: MULTI-ACTOR CLIENT LAYER</a:t>
            </a:r>
          </a:p>
          <a:p>
            <a:pPr>
              <a:defRPr sz="950">
                <a:solidFill>
                  <a:srgbClr val="1A1612"/>
                </a:solidFill>
                <a:latin typeface="Segoe UI"/>
              </a:defRPr>
            </a:pPr>
            <a:r>
              <a:t>Giao diện React 19 + TypeScript phân quyền 4 cổng riêng biệt: Buyer Portal (Khách mua), KOL Portal (Nhà sáng tạo), Merchant Portal (Chủ Shop) và Admin Portal (Ban quản trị sàn).</a:t>
            </a:r>
          </a:p>
        </p:txBody>
      </p:sp>
      <p:sp>
        <p:nvSpPr>
          <p:cNvPr id="16" name="Rounded Rectangle 15"/>
          <p:cNvSpPr/>
          <p:nvPr/>
        </p:nvSpPr>
        <p:spPr>
          <a:xfrm>
            <a:off x="7132320" y="2606040"/>
            <a:ext cx="4327855" cy="111556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2679192"/>
            <a:ext cx="4069080" cy="960120"/>
          </a:xfrm>
          <a:prstGeom prst="rect">
            <a:avLst/>
          </a:prstGeom>
          <a:noFill/>
        </p:spPr>
        <p:txBody>
          <a:bodyPr wrap="square">
            <a:spAutoFit/>
          </a:bodyPr>
          <a:lstStyle/>
          <a:p>
            <a:pPr>
              <a:defRPr sz="1100" b="1">
                <a:solidFill>
                  <a:srgbClr val="B88E4F"/>
                </a:solidFill>
                <a:latin typeface="Segoe UI"/>
              </a:defRPr>
            </a:pPr>
            <a:r>
              <a:t>TẦNG 2: SECURITY GATEWAY &amp; RATE LIMIT</a:t>
            </a:r>
          </a:p>
          <a:p>
            <a:pPr>
              <a:defRPr sz="950">
                <a:solidFill>
                  <a:srgbClr val="1A1612"/>
                </a:solidFill>
                <a:latin typeface="Segoe UI"/>
              </a:defRPr>
            </a:pPr>
            <a:r>
              <a:t>Reverse Proxy NGINX kết hợp Cloudflare SSL/TLS, xác thực đa nhân tố JWT (Argon2id), RBAC Guard và Redis Sliding Window Rate Limit chặn đứng spam click tiếp thị.</a:t>
            </a:r>
          </a:p>
        </p:txBody>
      </p:sp>
      <p:sp>
        <p:nvSpPr>
          <p:cNvPr id="18" name="Rounded Rectangle 17"/>
          <p:cNvSpPr/>
          <p:nvPr/>
        </p:nvSpPr>
        <p:spPr>
          <a:xfrm>
            <a:off x="7132320" y="3840480"/>
            <a:ext cx="4327855" cy="1115568"/>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480" y="3913632"/>
            <a:ext cx="4069080" cy="960120"/>
          </a:xfrm>
          <a:prstGeom prst="rect">
            <a:avLst/>
          </a:prstGeom>
          <a:noFill/>
        </p:spPr>
        <p:txBody>
          <a:bodyPr wrap="square">
            <a:spAutoFit/>
          </a:bodyPr>
          <a:lstStyle/>
          <a:p>
            <a:pPr>
              <a:defRPr sz="1100" b="1">
                <a:solidFill>
                  <a:srgbClr val="B88E4F"/>
                </a:solidFill>
                <a:latin typeface="Segoe UI"/>
              </a:defRPr>
            </a:pPr>
            <a:r>
              <a:t>TẦNG 3: APPLICATION SERVICES (MODULAR MONOLITH)</a:t>
            </a:r>
          </a:p>
          <a:p>
            <a:pPr>
              <a:defRPr sz="950">
                <a:solidFill>
                  <a:srgbClr val="1A1612"/>
                </a:solidFill>
                <a:latin typeface="Segoe UI"/>
              </a:defRPr>
            </a:pPr>
            <a:r>
              <a:t>NestJS 11 cấu trúc module độc lập cao: Auth &amp; Identity (FR01-08), Products &amp; Catalog (FR09-16), Collaboration &amp; Deals (FR17-24), Orders, Escrow &amp; Wallets (FR25-32).</a:t>
            </a:r>
          </a:p>
        </p:txBody>
      </p:sp>
      <p:sp>
        <p:nvSpPr>
          <p:cNvPr id="20" name="Rounded Rectangle 19"/>
          <p:cNvSpPr/>
          <p:nvPr/>
        </p:nvSpPr>
        <p:spPr>
          <a:xfrm>
            <a:off x="7132320" y="5074920"/>
            <a:ext cx="4327855" cy="111556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5148072"/>
            <a:ext cx="4069080" cy="960120"/>
          </a:xfrm>
          <a:prstGeom prst="rect">
            <a:avLst/>
          </a:prstGeom>
          <a:noFill/>
        </p:spPr>
        <p:txBody>
          <a:bodyPr wrap="square">
            <a:spAutoFit/>
          </a:bodyPr>
          <a:lstStyle/>
          <a:p>
            <a:pPr>
              <a:defRPr sz="1100" b="1">
                <a:solidFill>
                  <a:srgbClr val="B88E4F"/>
                </a:solidFill>
                <a:latin typeface="Segoe UI"/>
              </a:defRPr>
            </a:pPr>
            <a:r>
              <a:t>TẦNG 4 &amp; 5: REALTIME SOCKET &amp; DATA PERSISTENCE</a:t>
            </a:r>
          </a:p>
          <a:p>
            <a:pPr>
              <a:defRPr sz="950">
                <a:solidFill>
                  <a:srgbClr val="1A1612"/>
                </a:solidFill>
                <a:latin typeface="Segoe UI"/>
              </a:defRPr>
            </a:pPr>
            <a:r>
              <a:t>PostgreSQL 16 bảo toàn tính toàn vẹn ACID, Prisma ORM 7, Redis 7 In-memory Cache &amp; BullMQ Queue, WebSockets Socket.IO (Livestream/Chat), tích hợp VietQR PayOS &amp; GHN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2 • CÔNG NGHỆ XÂY DỰNG</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Công Nghệ Xây Dựng Hệ Thống (Technology Stack)</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Lựa chọn công nghệ hiện đại, tối ưu hiệu năng cao, an toàn giao dịch tài chính và mở rộng linh hoạt</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04</a:t>
            </a:r>
          </a:p>
        </p:txBody>
      </p:sp>
      <p:sp>
        <p:nvSpPr>
          <p:cNvPr id="12" name="Rounded Rectangle 11"/>
          <p:cNvSpPr/>
          <p:nvPr/>
        </p:nvSpPr>
        <p:spPr>
          <a:xfrm>
            <a:off x="731520" y="1371600"/>
            <a:ext cx="2578608" cy="4892040"/>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1508760"/>
            <a:ext cx="2304288" cy="274320"/>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88E4F"/>
                </a:solidFill>
                <a:latin typeface="Segoe UI"/>
              </a:defRPr>
            </a:pPr>
            <a:r>
              <a:t>FRONTEND &amp; CLIENT</a:t>
            </a:r>
          </a:p>
        </p:txBody>
      </p:sp>
      <p:sp>
        <p:nvSpPr>
          <p:cNvPr id="14" name="TextBox 13"/>
          <p:cNvSpPr txBox="1"/>
          <p:nvPr/>
        </p:nvSpPr>
        <p:spPr>
          <a:xfrm>
            <a:off x="841248" y="1828800"/>
            <a:ext cx="2359152" cy="320040"/>
          </a:xfrm>
          <a:prstGeom prst="rect">
            <a:avLst/>
          </a:prstGeom>
          <a:noFill/>
        </p:spPr>
        <p:txBody>
          <a:bodyPr wrap="none">
            <a:spAutoFit/>
          </a:bodyPr>
          <a:lstStyle/>
          <a:p>
            <a:pPr algn="ctr">
              <a:defRPr sz="1100" b="1">
                <a:solidFill>
                  <a:srgbClr val="1A1612"/>
                </a:solidFill>
                <a:latin typeface="Segoe UI"/>
              </a:defRPr>
            </a:pPr>
            <a:r>
              <a:t>Giao Diện &amp; Trải Nghiệm</a:t>
            </a:r>
          </a:p>
        </p:txBody>
      </p:sp>
      <p:sp>
        <p:nvSpPr>
          <p:cNvPr id="15" name="TextBox 14"/>
          <p:cNvSpPr txBox="1"/>
          <p:nvPr/>
        </p:nvSpPr>
        <p:spPr>
          <a:xfrm>
            <a:off x="841248" y="2240280"/>
            <a:ext cx="2359152" cy="502920"/>
          </a:xfrm>
          <a:prstGeom prst="rect">
            <a:avLst/>
          </a:prstGeom>
          <a:noFill/>
        </p:spPr>
        <p:txBody>
          <a:bodyPr wrap="square">
            <a:spAutoFit/>
          </a:bodyPr>
          <a:lstStyle/>
          <a:p>
            <a:pPr>
              <a:defRPr sz="1000" b="1">
                <a:solidFill>
                  <a:srgbClr val="231D15"/>
                </a:solidFill>
                <a:latin typeface="Segoe UI"/>
              </a:defRPr>
            </a:pPr>
            <a:r>
              <a:t>• React 19 &amp; TypeScript</a:t>
            </a:r>
          </a:p>
          <a:p>
            <a:pPr>
              <a:defRPr sz="850">
                <a:solidFill>
                  <a:srgbClr val="7D715E"/>
                </a:solidFill>
                <a:latin typeface="Segoe UI"/>
              </a:defRPr>
            </a:pPr>
            <a:r>
              <a:t>Xây dựng SPA hiệu năng cao, kiểm soát kiểu dữ liệu tĩnh 100%.</a:t>
            </a:r>
          </a:p>
        </p:txBody>
      </p:sp>
      <p:sp>
        <p:nvSpPr>
          <p:cNvPr id="16" name="TextBox 15"/>
          <p:cNvSpPr txBox="1"/>
          <p:nvPr/>
        </p:nvSpPr>
        <p:spPr>
          <a:xfrm>
            <a:off x="841248" y="2770632"/>
            <a:ext cx="2359152" cy="502920"/>
          </a:xfrm>
          <a:prstGeom prst="rect">
            <a:avLst/>
          </a:prstGeom>
          <a:noFill/>
        </p:spPr>
        <p:txBody>
          <a:bodyPr wrap="square">
            <a:spAutoFit/>
          </a:bodyPr>
          <a:lstStyle/>
          <a:p>
            <a:pPr>
              <a:defRPr sz="1000" b="1">
                <a:solidFill>
                  <a:srgbClr val="231D15"/>
                </a:solidFill>
                <a:latin typeface="Segoe UI"/>
              </a:defRPr>
            </a:pPr>
            <a:r>
              <a:t>• TailwindCSS v4 (Warm Sand)</a:t>
            </a:r>
          </a:p>
          <a:p>
            <a:pPr>
              <a:defRPr sz="850">
                <a:solidFill>
                  <a:srgbClr val="7D715E"/>
                </a:solidFill>
                <a:latin typeface="Segoe UI"/>
              </a:defRPr>
            </a:pPr>
            <a:r>
              <a:t>Hệ thống Atomic Design Tokens chuẩn Vàng Be sang trọng.</a:t>
            </a:r>
          </a:p>
        </p:txBody>
      </p:sp>
      <p:sp>
        <p:nvSpPr>
          <p:cNvPr id="17" name="TextBox 16"/>
          <p:cNvSpPr txBox="1"/>
          <p:nvPr/>
        </p:nvSpPr>
        <p:spPr>
          <a:xfrm>
            <a:off x="841248" y="3300984"/>
            <a:ext cx="2359152" cy="502920"/>
          </a:xfrm>
          <a:prstGeom prst="rect">
            <a:avLst/>
          </a:prstGeom>
          <a:noFill/>
        </p:spPr>
        <p:txBody>
          <a:bodyPr wrap="square">
            <a:spAutoFit/>
          </a:bodyPr>
          <a:lstStyle/>
          <a:p>
            <a:pPr>
              <a:defRPr sz="1000" b="1">
                <a:solidFill>
                  <a:srgbClr val="231D15"/>
                </a:solidFill>
                <a:latin typeface="Segoe UI"/>
              </a:defRPr>
            </a:pPr>
            <a:r>
              <a:t>• Vite Build Engine</a:t>
            </a:r>
          </a:p>
          <a:p>
            <a:pPr>
              <a:defRPr sz="850">
                <a:solidFill>
                  <a:srgbClr val="7D715E"/>
                </a:solidFill>
                <a:latin typeface="Segoe UI"/>
              </a:defRPr>
            </a:pPr>
            <a:r>
              <a:t>Tối ưu bundling siêu nhanh, chia chunk tải trang tức thời.</a:t>
            </a:r>
          </a:p>
        </p:txBody>
      </p:sp>
      <p:sp>
        <p:nvSpPr>
          <p:cNvPr id="18" name="TextBox 17"/>
          <p:cNvSpPr txBox="1"/>
          <p:nvPr/>
        </p:nvSpPr>
        <p:spPr>
          <a:xfrm>
            <a:off x="841248" y="3831336"/>
            <a:ext cx="2359152" cy="502920"/>
          </a:xfrm>
          <a:prstGeom prst="rect">
            <a:avLst/>
          </a:prstGeom>
          <a:noFill/>
        </p:spPr>
        <p:txBody>
          <a:bodyPr wrap="square">
            <a:spAutoFit/>
          </a:bodyPr>
          <a:lstStyle/>
          <a:p>
            <a:pPr>
              <a:defRPr sz="1000" b="1">
                <a:solidFill>
                  <a:srgbClr val="231D15"/>
                </a:solidFill>
                <a:latin typeface="Segoe UI"/>
              </a:defRPr>
            </a:pPr>
            <a:r>
              <a:t>• Lucide Icons &amp; Three.js</a:t>
            </a:r>
          </a:p>
          <a:p>
            <a:pPr>
              <a:defRPr sz="850">
                <a:solidFill>
                  <a:srgbClr val="7D715E"/>
                </a:solidFill>
                <a:latin typeface="Segoe UI"/>
              </a:defRPr>
            </a:pPr>
            <a:r>
              <a:t>Hệ thống icon ngữ cảnh chuẩn TMĐT và 3D Shopping Scene.</a:t>
            </a:r>
          </a:p>
        </p:txBody>
      </p:sp>
      <p:sp>
        <p:nvSpPr>
          <p:cNvPr id="19" name="TextBox 18"/>
          <p:cNvSpPr txBox="1"/>
          <p:nvPr/>
        </p:nvSpPr>
        <p:spPr>
          <a:xfrm>
            <a:off x="841248" y="4361688"/>
            <a:ext cx="2359152" cy="502920"/>
          </a:xfrm>
          <a:prstGeom prst="rect">
            <a:avLst/>
          </a:prstGeom>
          <a:noFill/>
        </p:spPr>
        <p:txBody>
          <a:bodyPr wrap="square">
            <a:spAutoFit/>
          </a:bodyPr>
          <a:lstStyle/>
          <a:p>
            <a:pPr>
              <a:defRPr sz="1000" b="1">
                <a:solidFill>
                  <a:srgbClr val="231D15"/>
                </a:solidFill>
                <a:latin typeface="Segoe UI"/>
              </a:defRPr>
            </a:pPr>
            <a:r>
              <a:t>• Zod &amp; React Hook Form</a:t>
            </a:r>
          </a:p>
          <a:p>
            <a:pPr>
              <a:defRPr sz="850">
                <a:solidFill>
                  <a:srgbClr val="7D715E"/>
                </a:solidFill>
                <a:latin typeface="Segoe UI"/>
              </a:defRPr>
            </a:pPr>
            <a:r>
              <a:t>Kiểm thực dữ liệu form 2 lớp chặt chẽ trước khi gửi API.</a:t>
            </a:r>
          </a:p>
        </p:txBody>
      </p:sp>
      <p:sp>
        <p:nvSpPr>
          <p:cNvPr id="20" name="Rounded Rectangle 19"/>
          <p:cNvSpPr/>
          <p:nvPr/>
        </p:nvSpPr>
        <p:spPr>
          <a:xfrm>
            <a:off x="3456432" y="1371600"/>
            <a:ext cx="2578608" cy="489204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93592" y="1508760"/>
            <a:ext cx="2304288" cy="274320"/>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88E4F"/>
                </a:solidFill>
                <a:latin typeface="Segoe UI"/>
              </a:defRPr>
            </a:pPr>
            <a:r>
              <a:t>BACKEND &amp; SERVICES</a:t>
            </a:r>
          </a:p>
        </p:txBody>
      </p:sp>
      <p:sp>
        <p:nvSpPr>
          <p:cNvPr id="22" name="TextBox 21"/>
          <p:cNvSpPr txBox="1"/>
          <p:nvPr/>
        </p:nvSpPr>
        <p:spPr>
          <a:xfrm>
            <a:off x="3566160" y="1828800"/>
            <a:ext cx="2359152" cy="320040"/>
          </a:xfrm>
          <a:prstGeom prst="rect">
            <a:avLst/>
          </a:prstGeom>
          <a:noFill/>
        </p:spPr>
        <p:txBody>
          <a:bodyPr wrap="none">
            <a:spAutoFit/>
          </a:bodyPr>
          <a:lstStyle/>
          <a:p>
            <a:pPr algn="ctr">
              <a:defRPr sz="1100" b="1">
                <a:solidFill>
                  <a:srgbClr val="1A1612"/>
                </a:solidFill>
                <a:latin typeface="Segoe UI"/>
              </a:defRPr>
            </a:pPr>
            <a:r>
              <a:t>Xử Lý Nghiệp Vụ &amp; API</a:t>
            </a:r>
          </a:p>
        </p:txBody>
      </p:sp>
      <p:sp>
        <p:nvSpPr>
          <p:cNvPr id="23" name="TextBox 22"/>
          <p:cNvSpPr txBox="1"/>
          <p:nvPr/>
        </p:nvSpPr>
        <p:spPr>
          <a:xfrm>
            <a:off x="3566160" y="2240280"/>
            <a:ext cx="2359152" cy="502920"/>
          </a:xfrm>
          <a:prstGeom prst="rect">
            <a:avLst/>
          </a:prstGeom>
          <a:noFill/>
        </p:spPr>
        <p:txBody>
          <a:bodyPr wrap="square">
            <a:spAutoFit/>
          </a:bodyPr>
          <a:lstStyle/>
          <a:p>
            <a:pPr>
              <a:defRPr sz="1000" b="1">
                <a:solidFill>
                  <a:srgbClr val="231D15"/>
                </a:solidFill>
                <a:latin typeface="Segoe UI"/>
              </a:defRPr>
            </a:pPr>
            <a:r>
              <a:t>• NestJS 11 &amp; TypeScript</a:t>
            </a:r>
          </a:p>
          <a:p>
            <a:pPr>
              <a:defRPr sz="850">
                <a:solidFill>
                  <a:srgbClr val="7D715E"/>
                </a:solidFill>
                <a:latin typeface="Segoe UI"/>
              </a:defRPr>
            </a:pPr>
            <a:r>
              <a:t>Kiến trúc Modular Monolith hướng đối tượng, DI container mạnh mẽ.</a:t>
            </a:r>
          </a:p>
        </p:txBody>
      </p:sp>
      <p:sp>
        <p:nvSpPr>
          <p:cNvPr id="24" name="TextBox 23"/>
          <p:cNvSpPr txBox="1"/>
          <p:nvPr/>
        </p:nvSpPr>
        <p:spPr>
          <a:xfrm>
            <a:off x="3566160" y="2770632"/>
            <a:ext cx="2359152" cy="502920"/>
          </a:xfrm>
          <a:prstGeom prst="rect">
            <a:avLst/>
          </a:prstGeom>
          <a:noFill/>
        </p:spPr>
        <p:txBody>
          <a:bodyPr wrap="square">
            <a:spAutoFit/>
          </a:bodyPr>
          <a:lstStyle/>
          <a:p>
            <a:pPr>
              <a:defRPr sz="1000" b="1">
                <a:solidFill>
                  <a:srgbClr val="231D15"/>
                </a:solidFill>
                <a:latin typeface="Segoe UI"/>
              </a:defRPr>
            </a:pPr>
            <a:r>
              <a:t>• Argon2id Password Hashing</a:t>
            </a:r>
          </a:p>
          <a:p>
            <a:pPr>
              <a:defRPr sz="850">
                <a:solidFill>
                  <a:srgbClr val="7D715E"/>
                </a:solidFill>
                <a:latin typeface="Segoe UI"/>
              </a:defRPr>
            </a:pPr>
            <a:r>
              <a:t>Thuật toán băm mật khẩu bảo mật cao nhất theo OWASP.</a:t>
            </a:r>
          </a:p>
        </p:txBody>
      </p:sp>
      <p:sp>
        <p:nvSpPr>
          <p:cNvPr id="25" name="TextBox 24"/>
          <p:cNvSpPr txBox="1"/>
          <p:nvPr/>
        </p:nvSpPr>
        <p:spPr>
          <a:xfrm>
            <a:off x="3566160" y="3300984"/>
            <a:ext cx="2359152" cy="502920"/>
          </a:xfrm>
          <a:prstGeom prst="rect">
            <a:avLst/>
          </a:prstGeom>
          <a:noFill/>
        </p:spPr>
        <p:txBody>
          <a:bodyPr wrap="square">
            <a:spAutoFit/>
          </a:bodyPr>
          <a:lstStyle/>
          <a:p>
            <a:pPr>
              <a:defRPr sz="1000" b="1">
                <a:solidFill>
                  <a:srgbClr val="231D15"/>
                </a:solidFill>
                <a:latin typeface="Segoe UI"/>
              </a:defRPr>
            </a:pPr>
            <a:r>
              <a:t>• JWT (Access &amp; Refresh)</a:t>
            </a:r>
          </a:p>
          <a:p>
            <a:pPr>
              <a:defRPr sz="850">
                <a:solidFill>
                  <a:srgbClr val="7D715E"/>
                </a:solidFill>
                <a:latin typeface="Segoe UI"/>
              </a:defRPr>
            </a:pPr>
            <a:r>
              <a:t>Cơ chế cấp lại phiên không gián đoạn, bảo mật Stateless.</a:t>
            </a:r>
          </a:p>
        </p:txBody>
      </p:sp>
      <p:sp>
        <p:nvSpPr>
          <p:cNvPr id="26" name="TextBox 25"/>
          <p:cNvSpPr txBox="1"/>
          <p:nvPr/>
        </p:nvSpPr>
        <p:spPr>
          <a:xfrm>
            <a:off x="3566160" y="3831336"/>
            <a:ext cx="2359152" cy="502920"/>
          </a:xfrm>
          <a:prstGeom prst="rect">
            <a:avLst/>
          </a:prstGeom>
          <a:noFill/>
        </p:spPr>
        <p:txBody>
          <a:bodyPr wrap="square">
            <a:spAutoFit/>
          </a:bodyPr>
          <a:lstStyle/>
          <a:p>
            <a:pPr>
              <a:defRPr sz="1000" b="1">
                <a:solidFill>
                  <a:srgbClr val="231D15"/>
                </a:solidFill>
                <a:latin typeface="Segoe UI"/>
              </a:defRPr>
            </a:pPr>
            <a:r>
              <a:t>• Socket.IO WebSockets</a:t>
            </a:r>
          </a:p>
          <a:p>
            <a:pPr>
              <a:defRPr sz="850">
                <a:solidFill>
                  <a:srgbClr val="7D715E"/>
                </a:solidFill>
                <a:latin typeface="Segoe UI"/>
              </a:defRPr>
            </a:pPr>
            <a:r>
              <a:t>Kênh tương tác Realtime: Livestream chat, chốt đơn, tin nhắn.</a:t>
            </a:r>
          </a:p>
        </p:txBody>
      </p:sp>
      <p:sp>
        <p:nvSpPr>
          <p:cNvPr id="27" name="TextBox 26"/>
          <p:cNvSpPr txBox="1"/>
          <p:nvPr/>
        </p:nvSpPr>
        <p:spPr>
          <a:xfrm>
            <a:off x="3566160" y="4361688"/>
            <a:ext cx="2359152" cy="502920"/>
          </a:xfrm>
          <a:prstGeom prst="rect">
            <a:avLst/>
          </a:prstGeom>
          <a:noFill/>
        </p:spPr>
        <p:txBody>
          <a:bodyPr wrap="square">
            <a:spAutoFit/>
          </a:bodyPr>
          <a:lstStyle/>
          <a:p>
            <a:pPr>
              <a:defRPr sz="1000" b="1">
                <a:solidFill>
                  <a:srgbClr val="231D15"/>
                </a:solidFill>
                <a:latin typeface="Segoe UI"/>
              </a:defRPr>
            </a:pPr>
            <a:r>
              <a:t>• BullMQ &amp; Redis Streams</a:t>
            </a:r>
          </a:p>
          <a:p>
            <a:pPr>
              <a:defRPr sz="850">
                <a:solidFill>
                  <a:srgbClr val="7D715E"/>
                </a:solidFill>
                <a:latin typeface="Segoe UI"/>
              </a:defRPr>
            </a:pPr>
            <a:r>
              <a:t>Quản lý hàng đợi tác vụ nền bất đồng bộ (Background Jobs).</a:t>
            </a:r>
          </a:p>
        </p:txBody>
      </p:sp>
      <p:sp>
        <p:nvSpPr>
          <p:cNvPr id="28" name="Rounded Rectangle 27"/>
          <p:cNvSpPr/>
          <p:nvPr/>
        </p:nvSpPr>
        <p:spPr>
          <a:xfrm>
            <a:off x="6181344" y="1371600"/>
            <a:ext cx="2578608" cy="489204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18504" y="1508760"/>
            <a:ext cx="2304288" cy="274320"/>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88E4F"/>
                </a:solidFill>
                <a:latin typeface="Segoe UI"/>
              </a:defRPr>
            </a:pPr>
            <a:r>
              <a:t>DATABASE &amp; CACHE</a:t>
            </a:r>
          </a:p>
        </p:txBody>
      </p:sp>
      <p:sp>
        <p:nvSpPr>
          <p:cNvPr id="30" name="TextBox 29"/>
          <p:cNvSpPr txBox="1"/>
          <p:nvPr/>
        </p:nvSpPr>
        <p:spPr>
          <a:xfrm>
            <a:off x="6291072" y="1828800"/>
            <a:ext cx="2359152" cy="320040"/>
          </a:xfrm>
          <a:prstGeom prst="rect">
            <a:avLst/>
          </a:prstGeom>
          <a:noFill/>
        </p:spPr>
        <p:txBody>
          <a:bodyPr wrap="none">
            <a:spAutoFit/>
          </a:bodyPr>
          <a:lstStyle/>
          <a:p>
            <a:pPr algn="ctr">
              <a:defRPr sz="1100" b="1">
                <a:solidFill>
                  <a:srgbClr val="1A1612"/>
                </a:solidFill>
                <a:latin typeface="Segoe UI"/>
              </a:defRPr>
            </a:pPr>
            <a:r>
              <a:t>Cơ Sở Dữ Liệu &amp; Khóa Dòng</a:t>
            </a:r>
          </a:p>
        </p:txBody>
      </p:sp>
      <p:sp>
        <p:nvSpPr>
          <p:cNvPr id="31" name="TextBox 30"/>
          <p:cNvSpPr txBox="1"/>
          <p:nvPr/>
        </p:nvSpPr>
        <p:spPr>
          <a:xfrm>
            <a:off x="6291072" y="2240280"/>
            <a:ext cx="2359152" cy="502920"/>
          </a:xfrm>
          <a:prstGeom prst="rect">
            <a:avLst/>
          </a:prstGeom>
          <a:noFill/>
        </p:spPr>
        <p:txBody>
          <a:bodyPr wrap="square">
            <a:spAutoFit/>
          </a:bodyPr>
          <a:lstStyle/>
          <a:p>
            <a:pPr>
              <a:defRPr sz="1000" b="1">
                <a:solidFill>
                  <a:srgbClr val="231D15"/>
                </a:solidFill>
                <a:latin typeface="Segoe UI"/>
              </a:defRPr>
            </a:pPr>
            <a:r>
              <a:t>• PostgreSQL 16 (ACID)</a:t>
            </a:r>
          </a:p>
          <a:p>
            <a:pPr>
              <a:defRPr sz="850">
                <a:solidFill>
                  <a:srgbClr val="7D715E"/>
                </a:solidFill>
                <a:latin typeface="Segoe UI"/>
              </a:defRPr>
            </a:pPr>
            <a:r>
              <a:t>Hệ quản trị CSDL quan hệ chuẩn mực, bảo vệ giao dịch tiền tệ.</a:t>
            </a:r>
          </a:p>
        </p:txBody>
      </p:sp>
      <p:sp>
        <p:nvSpPr>
          <p:cNvPr id="32" name="TextBox 31"/>
          <p:cNvSpPr txBox="1"/>
          <p:nvPr/>
        </p:nvSpPr>
        <p:spPr>
          <a:xfrm>
            <a:off x="6291072" y="2770632"/>
            <a:ext cx="2359152" cy="502920"/>
          </a:xfrm>
          <a:prstGeom prst="rect">
            <a:avLst/>
          </a:prstGeom>
          <a:noFill/>
        </p:spPr>
        <p:txBody>
          <a:bodyPr wrap="square">
            <a:spAutoFit/>
          </a:bodyPr>
          <a:lstStyle/>
          <a:p>
            <a:pPr>
              <a:defRPr sz="1000" b="1">
                <a:solidFill>
                  <a:srgbClr val="231D15"/>
                </a:solidFill>
                <a:latin typeface="Segoe UI"/>
              </a:defRPr>
            </a:pPr>
            <a:r>
              <a:t>• Prisma ORM 7</a:t>
            </a:r>
          </a:p>
          <a:p>
            <a:pPr>
              <a:defRPr sz="850">
                <a:solidFill>
                  <a:srgbClr val="7D715E"/>
                </a:solidFill>
                <a:latin typeface="Segoe UI"/>
              </a:defRPr>
            </a:pPr>
            <a:r>
              <a:t>Type-safe Database Client, tự động đồng bộ Migration schema.</a:t>
            </a:r>
          </a:p>
        </p:txBody>
      </p:sp>
      <p:sp>
        <p:nvSpPr>
          <p:cNvPr id="33" name="TextBox 32"/>
          <p:cNvSpPr txBox="1"/>
          <p:nvPr/>
        </p:nvSpPr>
        <p:spPr>
          <a:xfrm>
            <a:off x="6291072" y="3300984"/>
            <a:ext cx="2359152" cy="502920"/>
          </a:xfrm>
          <a:prstGeom prst="rect">
            <a:avLst/>
          </a:prstGeom>
          <a:noFill/>
        </p:spPr>
        <p:txBody>
          <a:bodyPr wrap="square">
            <a:spAutoFit/>
          </a:bodyPr>
          <a:lstStyle/>
          <a:p>
            <a:pPr>
              <a:defRPr sz="1000" b="1">
                <a:solidFill>
                  <a:srgbClr val="231D15"/>
                </a:solidFill>
                <a:latin typeface="Segoe UI"/>
              </a:defRPr>
            </a:pPr>
            <a:r>
              <a:t>• Pessimistic Locking</a:t>
            </a:r>
          </a:p>
          <a:p>
            <a:pPr>
              <a:defRPr sz="850">
                <a:solidFill>
                  <a:srgbClr val="7D715E"/>
                </a:solidFill>
                <a:latin typeface="Segoe UI"/>
              </a:defRPr>
            </a:pPr>
            <a:r>
              <a:t>Lệnh SELECT FOR UPDATE chống gian lận rút tiền đồng thời.</a:t>
            </a:r>
          </a:p>
        </p:txBody>
      </p:sp>
      <p:sp>
        <p:nvSpPr>
          <p:cNvPr id="34" name="TextBox 33"/>
          <p:cNvSpPr txBox="1"/>
          <p:nvPr/>
        </p:nvSpPr>
        <p:spPr>
          <a:xfrm>
            <a:off x="6291072" y="3831336"/>
            <a:ext cx="2359152" cy="502920"/>
          </a:xfrm>
          <a:prstGeom prst="rect">
            <a:avLst/>
          </a:prstGeom>
          <a:noFill/>
        </p:spPr>
        <p:txBody>
          <a:bodyPr wrap="square">
            <a:spAutoFit/>
          </a:bodyPr>
          <a:lstStyle/>
          <a:p>
            <a:pPr>
              <a:defRPr sz="1000" b="1">
                <a:solidFill>
                  <a:srgbClr val="231D15"/>
                </a:solidFill>
                <a:latin typeface="Segoe UI"/>
              </a:defRPr>
            </a:pPr>
            <a:r>
              <a:t>• Redis 7 In-Memory</a:t>
            </a:r>
          </a:p>
          <a:p>
            <a:pPr>
              <a:defRPr sz="850">
                <a:solidFill>
                  <a:srgbClr val="7D715E"/>
                </a:solidFill>
                <a:latin typeface="Segoe UI"/>
              </a:defRPr>
            </a:pPr>
            <a:r>
              <a:t>Sliding window rate limit, Session cache &amp; Leaderboard rankings.</a:t>
            </a:r>
          </a:p>
        </p:txBody>
      </p:sp>
      <p:sp>
        <p:nvSpPr>
          <p:cNvPr id="35" name="TextBox 34"/>
          <p:cNvSpPr txBox="1"/>
          <p:nvPr/>
        </p:nvSpPr>
        <p:spPr>
          <a:xfrm>
            <a:off x="6291072" y="4361688"/>
            <a:ext cx="2359152" cy="502920"/>
          </a:xfrm>
          <a:prstGeom prst="rect">
            <a:avLst/>
          </a:prstGeom>
          <a:noFill/>
        </p:spPr>
        <p:txBody>
          <a:bodyPr wrap="square">
            <a:spAutoFit/>
          </a:bodyPr>
          <a:lstStyle/>
          <a:p>
            <a:pPr>
              <a:defRPr sz="1000" b="1">
                <a:solidFill>
                  <a:srgbClr val="231D15"/>
                </a:solidFill>
                <a:latin typeface="Segoe UI"/>
              </a:defRPr>
            </a:pPr>
            <a:r>
              <a:t>• Financial Ledger (Append-Only)</a:t>
            </a:r>
          </a:p>
          <a:p>
            <a:pPr>
              <a:defRPr sz="850">
                <a:solidFill>
                  <a:srgbClr val="7D715E"/>
                </a:solidFill>
                <a:latin typeface="Segoe UI"/>
              </a:defRPr>
            </a:pPr>
            <a:r>
              <a:t>Sổ cái tài chính bất biến, không cho phép sửa/xóa lịch sử.</a:t>
            </a:r>
          </a:p>
        </p:txBody>
      </p:sp>
      <p:sp>
        <p:nvSpPr>
          <p:cNvPr id="36" name="Rounded Rectangle 35"/>
          <p:cNvSpPr/>
          <p:nvPr/>
        </p:nvSpPr>
        <p:spPr>
          <a:xfrm>
            <a:off x="8906256" y="1371600"/>
            <a:ext cx="2578608" cy="4892040"/>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43416" y="1508760"/>
            <a:ext cx="2304288" cy="274320"/>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88E4F"/>
                </a:solidFill>
                <a:latin typeface="Segoe UI"/>
              </a:defRPr>
            </a:pPr>
            <a:r>
              <a:t>INTEGRATION &amp; DEVOPS</a:t>
            </a:r>
          </a:p>
        </p:txBody>
      </p:sp>
      <p:sp>
        <p:nvSpPr>
          <p:cNvPr id="38" name="TextBox 37"/>
          <p:cNvSpPr txBox="1"/>
          <p:nvPr/>
        </p:nvSpPr>
        <p:spPr>
          <a:xfrm>
            <a:off x="9015984" y="1828800"/>
            <a:ext cx="2359152" cy="320040"/>
          </a:xfrm>
          <a:prstGeom prst="rect">
            <a:avLst/>
          </a:prstGeom>
          <a:noFill/>
        </p:spPr>
        <p:txBody>
          <a:bodyPr wrap="none">
            <a:spAutoFit/>
          </a:bodyPr>
          <a:lstStyle/>
          <a:p>
            <a:pPr algn="ctr">
              <a:defRPr sz="1100" b="1">
                <a:solidFill>
                  <a:srgbClr val="1A1612"/>
                </a:solidFill>
                <a:latin typeface="Segoe UI"/>
              </a:defRPr>
            </a:pPr>
            <a:r>
              <a:t>Tích Hợp &amp; Triển Khai</a:t>
            </a:r>
          </a:p>
        </p:txBody>
      </p:sp>
      <p:sp>
        <p:nvSpPr>
          <p:cNvPr id="39" name="TextBox 38"/>
          <p:cNvSpPr txBox="1"/>
          <p:nvPr/>
        </p:nvSpPr>
        <p:spPr>
          <a:xfrm>
            <a:off x="9015984" y="2240280"/>
            <a:ext cx="2359152" cy="502920"/>
          </a:xfrm>
          <a:prstGeom prst="rect">
            <a:avLst/>
          </a:prstGeom>
          <a:noFill/>
        </p:spPr>
        <p:txBody>
          <a:bodyPr wrap="square">
            <a:spAutoFit/>
          </a:bodyPr>
          <a:lstStyle/>
          <a:p>
            <a:pPr>
              <a:defRPr sz="1000" b="1">
                <a:solidFill>
                  <a:srgbClr val="231D15"/>
                </a:solidFill>
                <a:latin typeface="Segoe UI"/>
              </a:defRPr>
            </a:pPr>
            <a:r>
              <a:t>• PayOS / VietQR Napas 24/7</a:t>
            </a:r>
          </a:p>
          <a:p>
            <a:pPr>
              <a:defRPr sz="850">
                <a:solidFill>
                  <a:srgbClr val="7D715E"/>
                </a:solidFill>
                <a:latin typeface="Segoe UI"/>
              </a:defRPr>
            </a:pPr>
            <a:r>
              <a:t>Cổng thanh toán tự động và chi trả hoa hồng hàng loạt.</a:t>
            </a:r>
          </a:p>
        </p:txBody>
      </p:sp>
      <p:sp>
        <p:nvSpPr>
          <p:cNvPr id="40" name="TextBox 39"/>
          <p:cNvSpPr txBox="1"/>
          <p:nvPr/>
        </p:nvSpPr>
        <p:spPr>
          <a:xfrm>
            <a:off x="9015984" y="2770632"/>
            <a:ext cx="2359152" cy="502920"/>
          </a:xfrm>
          <a:prstGeom prst="rect">
            <a:avLst/>
          </a:prstGeom>
          <a:noFill/>
        </p:spPr>
        <p:txBody>
          <a:bodyPr wrap="square">
            <a:spAutoFit/>
          </a:bodyPr>
          <a:lstStyle/>
          <a:p>
            <a:pPr>
              <a:defRPr sz="1000" b="1">
                <a:solidFill>
                  <a:srgbClr val="231D15"/>
                </a:solidFill>
                <a:latin typeface="Segoe UI"/>
              </a:defRPr>
            </a:pPr>
            <a:r>
              <a:t>• GHN Express API</a:t>
            </a:r>
          </a:p>
          <a:p>
            <a:pPr>
              <a:defRPr sz="850">
                <a:solidFill>
                  <a:srgbClr val="7D715E"/>
                </a:solidFill>
                <a:latin typeface="Segoe UI"/>
              </a:defRPr>
            </a:pPr>
            <a:r>
              <a:t>Đồng bộ mã vận đơn bưu cục, tính phí ship và Webhook tracking.</a:t>
            </a:r>
          </a:p>
        </p:txBody>
      </p:sp>
      <p:sp>
        <p:nvSpPr>
          <p:cNvPr id="41" name="TextBox 40"/>
          <p:cNvSpPr txBox="1"/>
          <p:nvPr/>
        </p:nvSpPr>
        <p:spPr>
          <a:xfrm>
            <a:off x="9015984" y="3300984"/>
            <a:ext cx="2359152" cy="502920"/>
          </a:xfrm>
          <a:prstGeom prst="rect">
            <a:avLst/>
          </a:prstGeom>
          <a:noFill/>
        </p:spPr>
        <p:txBody>
          <a:bodyPr wrap="square">
            <a:spAutoFit/>
          </a:bodyPr>
          <a:lstStyle/>
          <a:p>
            <a:pPr>
              <a:defRPr sz="1000" b="1">
                <a:solidFill>
                  <a:srgbClr val="231D15"/>
                </a:solidFill>
                <a:latin typeface="Segoe UI"/>
              </a:defRPr>
            </a:pPr>
            <a:r>
              <a:t>• Cloudinary CDN</a:t>
            </a:r>
          </a:p>
          <a:p>
            <a:pPr>
              <a:defRPr sz="850">
                <a:solidFill>
                  <a:srgbClr val="7D715E"/>
                </a:solidFill>
                <a:latin typeface="Segoe UI"/>
              </a:defRPr>
            </a:pPr>
            <a:r>
              <a:t>Lưu trữ hình ảnh sản phẩm 1:1, video nghiệm thu hàng mẫu.</a:t>
            </a:r>
          </a:p>
        </p:txBody>
      </p:sp>
      <p:sp>
        <p:nvSpPr>
          <p:cNvPr id="42" name="TextBox 41"/>
          <p:cNvSpPr txBox="1"/>
          <p:nvPr/>
        </p:nvSpPr>
        <p:spPr>
          <a:xfrm>
            <a:off x="9015984" y="3831336"/>
            <a:ext cx="2359152" cy="502920"/>
          </a:xfrm>
          <a:prstGeom prst="rect">
            <a:avLst/>
          </a:prstGeom>
          <a:noFill/>
        </p:spPr>
        <p:txBody>
          <a:bodyPr wrap="square">
            <a:spAutoFit/>
          </a:bodyPr>
          <a:lstStyle/>
          <a:p>
            <a:pPr>
              <a:defRPr sz="1000" b="1">
                <a:solidFill>
                  <a:srgbClr val="231D15"/>
                </a:solidFill>
                <a:latin typeface="Segoe UI"/>
              </a:defRPr>
            </a:pPr>
            <a:r>
              <a:t>• Docker &amp; Docker Compose</a:t>
            </a:r>
          </a:p>
          <a:p>
            <a:pPr>
              <a:defRPr sz="850">
                <a:solidFill>
                  <a:srgbClr val="7D715E"/>
                </a:solidFill>
                <a:latin typeface="Segoe UI"/>
              </a:defRPr>
            </a:pPr>
            <a:r>
              <a:t>Đóng gói đồng nhất môi trường phát triển và máy chủ vận hành.</a:t>
            </a:r>
          </a:p>
        </p:txBody>
      </p:sp>
      <p:sp>
        <p:nvSpPr>
          <p:cNvPr id="43" name="TextBox 42"/>
          <p:cNvSpPr txBox="1"/>
          <p:nvPr/>
        </p:nvSpPr>
        <p:spPr>
          <a:xfrm>
            <a:off x="9015984" y="4361688"/>
            <a:ext cx="2359152" cy="502920"/>
          </a:xfrm>
          <a:prstGeom prst="rect">
            <a:avLst/>
          </a:prstGeom>
          <a:noFill/>
        </p:spPr>
        <p:txBody>
          <a:bodyPr wrap="square">
            <a:spAutoFit/>
          </a:bodyPr>
          <a:lstStyle/>
          <a:p>
            <a:pPr>
              <a:defRPr sz="1000" b="1">
                <a:solidFill>
                  <a:srgbClr val="231D15"/>
                </a:solidFill>
                <a:latin typeface="Segoe UI"/>
              </a:defRPr>
            </a:pPr>
            <a:r>
              <a:t>• Jest &amp; Playwright</a:t>
            </a:r>
          </a:p>
          <a:p>
            <a:pPr>
              <a:defRPr sz="850">
                <a:solidFill>
                  <a:srgbClr val="7D715E"/>
                </a:solidFill>
                <a:latin typeface="Segoe UI"/>
              </a:defRPr>
            </a:pPr>
            <a:r>
              <a:t>Hơn 50 bộ test case kiểm thử tự động Backend &amp; End-to-End.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3 • SƠ ĐỒ DỮ LIỆU</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Sơ Đồ Dữ Liệu Khái Niệm (Conceptual Data Model)</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Thiết kế thực thể CSDL phân định 5 cụm cốt lõi, bảo toàn tính liên kết dữ liệu và tuân thủ chuẩn ACID</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05</a:t>
            </a:r>
          </a:p>
        </p:txBody>
      </p:sp>
      <p:sp>
        <p:nvSpPr>
          <p:cNvPr id="12" name="Rounded Rectangle 11"/>
          <p:cNvSpPr/>
          <p:nvPr/>
        </p:nvSpPr>
        <p:spPr>
          <a:xfrm>
            <a:off x="731520" y="1371600"/>
            <a:ext cx="6217920" cy="4892040"/>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ANMS_ERD_01_Conceptual.png"/>
          <p:cNvPicPr>
            <a:picLocks noChangeAspect="1"/>
          </p:cNvPicPr>
          <p:nvPr/>
        </p:nvPicPr>
        <p:blipFill>
          <a:blip r:embed="rId3"/>
          <a:stretch>
            <a:fillRect/>
          </a:stretch>
        </p:blipFill>
        <p:spPr>
          <a:xfrm>
            <a:off x="822960" y="1463040"/>
            <a:ext cx="6035040" cy="4709160"/>
          </a:xfrm>
          <a:prstGeom prst="rect">
            <a:avLst/>
          </a:prstGeom>
        </p:spPr>
      </p:pic>
      <p:sp>
        <p:nvSpPr>
          <p:cNvPr id="14" name="Rounded Rectangle 13"/>
          <p:cNvSpPr/>
          <p:nvPr/>
        </p:nvSpPr>
        <p:spPr>
          <a:xfrm>
            <a:off x="7132320" y="1371600"/>
            <a:ext cx="4327855" cy="89611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426464"/>
            <a:ext cx="4069080" cy="804672"/>
          </a:xfrm>
          <a:prstGeom prst="rect">
            <a:avLst/>
          </a:prstGeom>
          <a:noFill/>
        </p:spPr>
        <p:txBody>
          <a:bodyPr wrap="square">
            <a:spAutoFit/>
          </a:bodyPr>
          <a:lstStyle/>
          <a:p>
            <a:pPr>
              <a:defRPr sz="1050" b="1">
                <a:solidFill>
                  <a:srgbClr val="B88E4F"/>
                </a:solidFill>
                <a:latin typeface="Segoe UI"/>
              </a:defRPr>
            </a:pPr>
            <a:r>
              <a:t>CỤM 1: TÀI KHOẢN, PHÂN QUYỀN &amp; KYC</a:t>
            </a:r>
          </a:p>
          <a:p>
            <a:pPr>
              <a:defRPr sz="900" b="1">
                <a:solidFill>
                  <a:srgbClr val="231D15"/>
                </a:solidFill>
                <a:latin typeface="Segoe UI"/>
              </a:defRPr>
            </a:pPr>
            <a:r>
              <a:t>Entities: User, Role, KycVerification, Store</a:t>
            </a:r>
          </a:p>
          <a:p>
            <a:pPr>
              <a:defRPr sz="850">
                <a:solidFill>
                  <a:srgbClr val="7D715E"/>
                </a:solidFill>
                <a:latin typeface="Segoe UI"/>
              </a:defRPr>
            </a:pPr>
            <a:r>
              <a:t>Quản lý tài khoản đa vai trò (KOL, Shop, Admin, Customer) và lưu vết hồ sơ định danh điện tử CCCD/GPKD.</a:t>
            </a:r>
          </a:p>
        </p:txBody>
      </p:sp>
      <p:sp>
        <p:nvSpPr>
          <p:cNvPr id="16" name="Rounded Rectangle 15"/>
          <p:cNvSpPr/>
          <p:nvPr/>
        </p:nvSpPr>
        <p:spPr>
          <a:xfrm>
            <a:off x="7132320" y="2359152"/>
            <a:ext cx="4327855" cy="89611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2414016"/>
            <a:ext cx="4069080" cy="804672"/>
          </a:xfrm>
          <a:prstGeom prst="rect">
            <a:avLst/>
          </a:prstGeom>
          <a:noFill/>
        </p:spPr>
        <p:txBody>
          <a:bodyPr wrap="square">
            <a:spAutoFit/>
          </a:bodyPr>
          <a:lstStyle/>
          <a:p>
            <a:pPr>
              <a:defRPr sz="1050" b="1">
                <a:solidFill>
                  <a:srgbClr val="B88E4F"/>
                </a:solidFill>
                <a:latin typeface="Segoe UI"/>
              </a:defRPr>
            </a:pPr>
            <a:r>
              <a:t>CỤM 2: SẢN PHẨM &amp; BIẾN THỂ 2 TẦNG</a:t>
            </a:r>
          </a:p>
          <a:p>
            <a:pPr>
              <a:defRPr sz="900" b="1">
                <a:solidFill>
                  <a:srgbClr val="231D15"/>
                </a:solidFill>
                <a:latin typeface="Segoe UI"/>
              </a:defRPr>
            </a:pPr>
            <a:r>
              <a:t>Entities: Product, ProductVariant, Category, Brand</a:t>
            </a:r>
          </a:p>
          <a:p>
            <a:pPr>
              <a:defRPr sz="850">
                <a:solidFill>
                  <a:srgbClr val="7D715E"/>
                </a:solidFill>
                <a:latin typeface="Segoe UI"/>
              </a:defRPr>
            </a:pPr>
            <a:r>
              <a:t>Ma trận phân loại hàng hóa (Màu, Size), SKU con, trọng lượng đóng gói và tồn kho riêng biệt.</a:t>
            </a:r>
          </a:p>
        </p:txBody>
      </p:sp>
      <p:sp>
        <p:nvSpPr>
          <p:cNvPr id="18" name="Rounded Rectangle 17"/>
          <p:cNvSpPr/>
          <p:nvPr/>
        </p:nvSpPr>
        <p:spPr>
          <a:xfrm>
            <a:off x="7132320" y="3346704"/>
            <a:ext cx="4327855" cy="89611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480" y="3401568"/>
            <a:ext cx="4069080" cy="804672"/>
          </a:xfrm>
          <a:prstGeom prst="rect">
            <a:avLst/>
          </a:prstGeom>
          <a:noFill/>
        </p:spPr>
        <p:txBody>
          <a:bodyPr wrap="square">
            <a:spAutoFit/>
          </a:bodyPr>
          <a:lstStyle/>
          <a:p>
            <a:pPr>
              <a:defRPr sz="1050" b="1">
                <a:solidFill>
                  <a:srgbClr val="B88E4F"/>
                </a:solidFill>
                <a:latin typeface="Segoe UI"/>
              </a:defRPr>
            </a:pPr>
            <a:r>
              <a:t>CỤM 3: TIẾP THỊ &amp; DEAL ĐỘC QUYỀN</a:t>
            </a:r>
          </a:p>
          <a:p>
            <a:pPr>
              <a:defRPr sz="900" b="1">
                <a:solidFill>
                  <a:srgbClr val="231D15"/>
                </a:solidFill>
                <a:latin typeface="Segoe UI"/>
              </a:defRPr>
            </a:pPr>
            <a:r>
              <a:t>Entities: AffiliateCampaign, ExclusiveDeal, ReferralLink</a:t>
            </a:r>
          </a:p>
          <a:p>
            <a:pPr>
              <a:defRPr sz="850">
                <a:solidFill>
                  <a:srgbClr val="7D715E"/>
                </a:solidFill>
                <a:latin typeface="Segoe UI"/>
              </a:defRPr>
            </a:pPr>
            <a:r>
              <a:t>Hoa hồng mở 10% sàn, thỏa thuận độc quyền VIP kèm chỉ tiêu KPI doanh số và link rút gọn /r/:code.</a:t>
            </a:r>
          </a:p>
        </p:txBody>
      </p:sp>
      <p:sp>
        <p:nvSpPr>
          <p:cNvPr id="20" name="Rounded Rectangle 19"/>
          <p:cNvSpPr/>
          <p:nvPr/>
        </p:nvSpPr>
        <p:spPr>
          <a:xfrm>
            <a:off x="7132320" y="4334256"/>
            <a:ext cx="4327855" cy="89611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4389120"/>
            <a:ext cx="4069080" cy="804672"/>
          </a:xfrm>
          <a:prstGeom prst="rect">
            <a:avLst/>
          </a:prstGeom>
          <a:noFill/>
        </p:spPr>
        <p:txBody>
          <a:bodyPr wrap="square">
            <a:spAutoFit/>
          </a:bodyPr>
          <a:lstStyle/>
          <a:p>
            <a:pPr>
              <a:defRPr sz="1050" b="1">
                <a:solidFill>
                  <a:srgbClr val="B88E4F"/>
                </a:solidFill>
                <a:latin typeface="Segoe UI"/>
              </a:defRPr>
            </a:pPr>
            <a:r>
              <a:t>CỤM 4: ĐƠN HÀNG, VẬN CHUYỂN &amp; REVIEW</a:t>
            </a:r>
          </a:p>
          <a:p>
            <a:pPr>
              <a:defRPr sz="900" b="1">
                <a:solidFill>
                  <a:srgbClr val="231D15"/>
                </a:solidFill>
                <a:latin typeface="Segoe UI"/>
              </a:defRPr>
            </a:pPr>
            <a:r>
              <a:t>Entities: Order, OrderItem, ShippingDispatch, Review</a:t>
            </a:r>
          </a:p>
          <a:p>
            <a:pPr>
              <a:defRPr sz="850">
                <a:solidFill>
                  <a:srgbClr val="7D715E"/>
                </a:solidFill>
                <a:latin typeface="Segoe UI"/>
              </a:defRPr>
            </a:pPr>
            <a:r>
              <a:t>Quản lý đơn hàng, khấu trừ tồn kho nguyên tử, mã vận đơn GHN bưu cục và đánh giá khách mua xác thực.</a:t>
            </a:r>
          </a:p>
        </p:txBody>
      </p:sp>
      <p:sp>
        <p:nvSpPr>
          <p:cNvPr id="22" name="Rounded Rectangle 21"/>
          <p:cNvSpPr/>
          <p:nvPr/>
        </p:nvSpPr>
        <p:spPr>
          <a:xfrm>
            <a:off x="7132320" y="5321808"/>
            <a:ext cx="4327855" cy="89611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5376672"/>
            <a:ext cx="4069080" cy="804672"/>
          </a:xfrm>
          <a:prstGeom prst="rect">
            <a:avLst/>
          </a:prstGeom>
          <a:noFill/>
        </p:spPr>
        <p:txBody>
          <a:bodyPr wrap="square">
            <a:spAutoFit/>
          </a:bodyPr>
          <a:lstStyle/>
          <a:p>
            <a:pPr>
              <a:defRPr sz="1050" b="1">
                <a:solidFill>
                  <a:srgbClr val="B88E4F"/>
                </a:solidFill>
                <a:latin typeface="Segoe UI"/>
              </a:defRPr>
            </a:pPr>
            <a:r>
              <a:t>CỤM 5: TÀI CHÍNH, ESCROW &amp; SỔ CÁI VÍ</a:t>
            </a:r>
          </a:p>
          <a:p>
            <a:pPr>
              <a:defRPr sz="900" b="1">
                <a:solidFill>
                  <a:srgbClr val="231D15"/>
                </a:solidFill>
                <a:latin typeface="Segoe UI"/>
              </a:defRPr>
            </a:pPr>
            <a:r>
              <a:t>Entities: Wallet, EscrowHolding, FinancialLedger, PayoutBatch</a:t>
            </a:r>
          </a:p>
          <a:p>
            <a:pPr>
              <a:defRPr sz="850">
                <a:solidFill>
                  <a:srgbClr val="7D715E"/>
                </a:solidFill>
                <a:latin typeface="Segoe UI"/>
              </a:defRPr>
            </a:pPr>
            <a:r>
              <a:t>Quỹ bảo chứng Escrow 14 ngày, khóa dòng SELECT FOR UPDATE và sổ cái bất biến Append-Only.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4 • MAIN FLOW 1/5</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FLOW 1: QUẢN TRỊ SÀN, PHÂN QUYỀN RBAC &amp; ĐỊNH DANH KYC</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Quy trình đăng ký đa vai trò, băm mật khẩu Argon2, phân quyền RBAC Guard và xét duyệt hồ sơ định danh điện tử theo Nghị định 85/2021/NĐ-CP</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06</a:t>
            </a:r>
          </a:p>
        </p:txBody>
      </p:sp>
      <p:sp>
        <p:nvSpPr>
          <p:cNvPr id="12" name="Rounded Rectangle 11"/>
          <p:cNvSpPr/>
          <p:nvPr/>
        </p:nvSpPr>
        <p:spPr>
          <a:xfrm>
            <a:off x="731520" y="1353312"/>
            <a:ext cx="10728655" cy="457200"/>
          </a:xfrm>
          <a:prstGeom prst="roundRect">
            <a:avLst/>
          </a:prstGeom>
          <a:solidFill>
            <a:srgbClr val="F3EFE6"/>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1D15"/>
                </a:solidFill>
                <a:latin typeface="Segoe UI"/>
              </a:defRPr>
            </a:pPr>
            <a:r>
              <a:t>  CÁC TÁC NHÂN (ACTORS):   </a:t>
            </a:r>
            <a:r>
              <a:rPr b="1">
                <a:solidFill>
                  <a:srgbClr val="B88E4F"/>
                </a:solidFill>
              </a:rPr>
              <a:t>[User: KOL / Shop Đối Tác]   ➔   </a:t>
            </a:r>
            <a:r>
              <a:rPr b="1">
                <a:solidFill>
                  <a:srgbClr val="B88E4F"/>
                </a:solidFill>
              </a:rPr>
              <a:t>[System: SCANMS Auth &amp; Guard Engine]   ➔   </a:t>
            </a:r>
            <a:r>
              <a:rPr b="1">
                <a:solidFill>
                  <a:srgbClr val="B88E4F"/>
                </a:solidFill>
              </a:rPr>
              <a:t>[Compliance: Admin / Manager Sàn]</a:t>
            </a:r>
          </a:p>
        </p:txBody>
      </p:sp>
      <p:sp>
        <p:nvSpPr>
          <p:cNvPr id="13" name="Rounded Rectangle 12"/>
          <p:cNvSpPr/>
          <p:nvPr/>
        </p:nvSpPr>
        <p:spPr>
          <a:xfrm>
            <a:off x="731520"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1 • USER (KOL / SHOP)</a:t>
            </a:r>
          </a:p>
        </p:txBody>
      </p:sp>
      <p:sp>
        <p:nvSpPr>
          <p:cNvPr id="15" name="TextBox 14"/>
          <p:cNvSpPr txBox="1"/>
          <p:nvPr/>
        </p:nvSpPr>
        <p:spPr>
          <a:xfrm>
            <a:off x="822960" y="2331720"/>
            <a:ext cx="2359152" cy="594360"/>
          </a:xfrm>
          <a:prstGeom prst="rect">
            <a:avLst/>
          </a:prstGeom>
          <a:noFill/>
        </p:spPr>
        <p:txBody>
          <a:bodyPr wrap="square">
            <a:spAutoFit/>
          </a:bodyPr>
          <a:lstStyle/>
          <a:p>
            <a:pPr>
              <a:defRPr sz="1100" b="1">
                <a:solidFill>
                  <a:srgbClr val="1A1612"/>
                </a:solidFill>
                <a:latin typeface="Segoe UI"/>
              </a:defRPr>
            </a:pPr>
            <a:r>
              <a:t>Đăng Ký &amp; Nhập Liệu</a:t>
            </a:r>
          </a:p>
        </p:txBody>
      </p:sp>
      <p:sp>
        <p:nvSpPr>
          <p:cNvPr id="16" name="TextBox 15"/>
          <p:cNvSpPr txBox="1"/>
          <p:nvPr/>
        </p:nvSpPr>
        <p:spPr>
          <a:xfrm>
            <a:off x="822960" y="2926080"/>
            <a:ext cx="2359152" cy="2240280"/>
          </a:xfrm>
          <a:prstGeom prst="rect">
            <a:avLst/>
          </a:prstGeom>
          <a:noFill/>
        </p:spPr>
        <p:txBody>
          <a:bodyPr wrap="square">
            <a:spAutoFit/>
          </a:bodyPr>
          <a:lstStyle/>
          <a:p>
            <a:pPr>
              <a:defRPr sz="900">
                <a:solidFill>
                  <a:srgbClr val="7D715E"/>
                </a:solidFill>
                <a:latin typeface="Segoe UI"/>
              </a:defRPr>
            </a:pPr>
            <a:r>
              <a:t>• Chọn vai trò tham gia (KOL / Shop / Khách hàng).</a:t>
            </a:r>
          </a:p>
          <a:p>
            <a:pPr>
              <a:defRPr sz="900">
                <a:solidFill>
                  <a:srgbClr val="7D715E"/>
                </a:solidFill>
                <a:latin typeface="Segoe UI"/>
              </a:defRPr>
            </a:pPr>
            <a:r>
              <a:t>• Nhập Email, SĐT và Mật khẩu an toàn.</a:t>
            </a:r>
          </a:p>
          <a:p>
            <a:pPr>
              <a:defRPr sz="900">
                <a:solidFill>
                  <a:srgbClr val="7D715E"/>
                </a:solidFill>
                <a:latin typeface="Segoe UI"/>
              </a:defRPr>
            </a:pPr>
            <a:r>
              <a:t>• Frontend validate Zod Schema ngăn chặn ký tự độc hại.</a:t>
            </a:r>
          </a:p>
          <a:p>
            <a:pPr>
              <a:defRPr sz="900">
                <a:solidFill>
                  <a:srgbClr val="7D715E"/>
                </a:solidFill>
                <a:latin typeface="Segoe UI"/>
              </a:defRPr>
            </a:pPr>
            <a:r>
              <a:t>• Bấm 'Đăng ký tài khoản đối tác'.</a:t>
            </a:r>
          </a:p>
        </p:txBody>
      </p:sp>
      <p:sp>
        <p:nvSpPr>
          <p:cNvPr id="17" name="Right Arrow 16"/>
          <p:cNvSpPr/>
          <p:nvPr/>
        </p:nvSpPr>
        <p:spPr>
          <a:xfrm>
            <a:off x="3310128"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56432"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2 • SYSTEM (BACKEND)</a:t>
            </a:r>
          </a:p>
        </p:txBody>
      </p:sp>
      <p:sp>
        <p:nvSpPr>
          <p:cNvPr id="20" name="TextBox 19"/>
          <p:cNvSpPr txBox="1"/>
          <p:nvPr/>
        </p:nvSpPr>
        <p:spPr>
          <a:xfrm>
            <a:off x="3547872" y="2331720"/>
            <a:ext cx="2359152" cy="594360"/>
          </a:xfrm>
          <a:prstGeom prst="rect">
            <a:avLst/>
          </a:prstGeom>
          <a:noFill/>
        </p:spPr>
        <p:txBody>
          <a:bodyPr wrap="square">
            <a:spAutoFit/>
          </a:bodyPr>
          <a:lstStyle/>
          <a:p>
            <a:pPr>
              <a:defRPr sz="1100" b="1">
                <a:solidFill>
                  <a:srgbClr val="1A1612"/>
                </a:solidFill>
                <a:latin typeface="Segoe UI"/>
              </a:defRPr>
            </a:pPr>
            <a:r>
              <a:t>Băm Argon2 &amp; Kích Hoạt OTP</a:t>
            </a:r>
          </a:p>
        </p:txBody>
      </p:sp>
      <p:sp>
        <p:nvSpPr>
          <p:cNvPr id="21" name="TextBox 20"/>
          <p:cNvSpPr txBox="1"/>
          <p:nvPr/>
        </p:nvSpPr>
        <p:spPr>
          <a:xfrm>
            <a:off x="3547872" y="2926080"/>
            <a:ext cx="2359152" cy="2240280"/>
          </a:xfrm>
          <a:prstGeom prst="rect">
            <a:avLst/>
          </a:prstGeom>
          <a:noFill/>
        </p:spPr>
        <p:txBody>
          <a:bodyPr wrap="square">
            <a:spAutoFit/>
          </a:bodyPr>
          <a:lstStyle/>
          <a:p>
            <a:pPr>
              <a:defRPr sz="900">
                <a:solidFill>
                  <a:srgbClr val="7D715E"/>
                </a:solidFill>
                <a:latin typeface="Segoe UI"/>
              </a:defRPr>
            </a:pPr>
            <a:r>
              <a:t>• Băm mật khẩu bằng Argon2id (Salt + Memory-hard).</a:t>
            </a:r>
          </a:p>
          <a:p>
            <a:pPr>
              <a:defRPr sz="900">
                <a:solidFill>
                  <a:srgbClr val="7D715E"/>
                </a:solidFill>
                <a:latin typeface="Segoe UI"/>
              </a:defRPr>
            </a:pPr>
            <a:r>
              <a:t>• Gửi OTP xác thực 6 số qua Email (Resend/SMTP).</a:t>
            </a:r>
          </a:p>
          <a:p>
            <a:pPr>
              <a:defRPr sz="900">
                <a:solidFill>
                  <a:srgbClr val="7D715E"/>
                </a:solidFill>
                <a:latin typeface="Segoe UI"/>
              </a:defRPr>
            </a:pPr>
            <a:r>
              <a:t>• Xác thực OTP thành công ➔ Cấp JWT Access/Refresh tokens.</a:t>
            </a:r>
          </a:p>
          <a:p>
            <a:pPr>
              <a:defRPr sz="900">
                <a:solidFill>
                  <a:srgbClr val="7D715E"/>
                </a:solidFill>
                <a:latin typeface="Segoe UI"/>
              </a:defRPr>
            </a:pPr>
            <a:r>
              <a:t>• RBAC Guard khóa quyền tài chính tới khi hoàn tất KYC.</a:t>
            </a:r>
          </a:p>
        </p:txBody>
      </p:sp>
      <p:sp>
        <p:nvSpPr>
          <p:cNvPr id="22" name="Right Arrow 21"/>
          <p:cNvSpPr/>
          <p:nvPr/>
        </p:nvSpPr>
        <p:spPr>
          <a:xfrm>
            <a:off x="6035040"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81344"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3 • USER (KOL / SHOP)</a:t>
            </a:r>
          </a:p>
        </p:txBody>
      </p:sp>
      <p:sp>
        <p:nvSpPr>
          <p:cNvPr id="25" name="TextBox 24"/>
          <p:cNvSpPr txBox="1"/>
          <p:nvPr/>
        </p:nvSpPr>
        <p:spPr>
          <a:xfrm>
            <a:off x="6272784" y="2331720"/>
            <a:ext cx="2359152" cy="594360"/>
          </a:xfrm>
          <a:prstGeom prst="rect">
            <a:avLst/>
          </a:prstGeom>
          <a:noFill/>
        </p:spPr>
        <p:txBody>
          <a:bodyPr wrap="square">
            <a:spAutoFit/>
          </a:bodyPr>
          <a:lstStyle/>
          <a:p>
            <a:pPr>
              <a:defRPr sz="1100" b="1">
                <a:solidFill>
                  <a:srgbClr val="1A1612"/>
                </a:solidFill>
                <a:latin typeface="Segoe UI"/>
              </a:defRPr>
            </a:pPr>
            <a:r>
              <a:t>Nộp Hồ Sơ Định Danh KYC</a:t>
            </a:r>
          </a:p>
        </p:txBody>
      </p:sp>
      <p:sp>
        <p:nvSpPr>
          <p:cNvPr id="26" name="TextBox 25"/>
          <p:cNvSpPr txBox="1"/>
          <p:nvPr/>
        </p:nvSpPr>
        <p:spPr>
          <a:xfrm>
            <a:off x="6272784" y="2926080"/>
            <a:ext cx="2359152" cy="2240280"/>
          </a:xfrm>
          <a:prstGeom prst="rect">
            <a:avLst/>
          </a:prstGeom>
          <a:noFill/>
        </p:spPr>
        <p:txBody>
          <a:bodyPr wrap="square">
            <a:spAutoFit/>
          </a:bodyPr>
          <a:lstStyle/>
          <a:p>
            <a:pPr>
              <a:defRPr sz="900">
                <a:solidFill>
                  <a:srgbClr val="7D715E"/>
                </a:solidFill>
                <a:latin typeface="Segoe UI"/>
              </a:defRPr>
            </a:pPr>
            <a:r>
              <a:t>• KOL cá nhân: Tải ảnh CCCD 2 mặt, Mã số thuế TNCN, Số tài khoản ngân hàng thụ hưởng.</a:t>
            </a:r>
          </a:p>
          <a:p>
            <a:pPr>
              <a:defRPr sz="900">
                <a:solidFill>
                  <a:srgbClr val="7D715E"/>
                </a:solidFill>
                <a:latin typeface="Segoe UI"/>
              </a:defRPr>
            </a:pPr>
            <a:r>
              <a:t>• Shop doanh nghiệp: Tải Giấy phép ĐKKD, Mã số thuế DN, Địa chỉ kho hàng lấy/trả.</a:t>
            </a:r>
          </a:p>
          <a:p>
            <a:pPr>
              <a:defRPr sz="900">
                <a:solidFill>
                  <a:srgbClr val="7D715E"/>
                </a:solidFill>
                <a:latin typeface="Segoe UI"/>
              </a:defRPr>
            </a:pPr>
            <a:r>
              <a:t>• Trạng thái hồ sơ chuyển sang PENDING_REVIEW.</a:t>
            </a:r>
          </a:p>
        </p:txBody>
      </p:sp>
      <p:sp>
        <p:nvSpPr>
          <p:cNvPr id="27" name="Right Arrow 26"/>
          <p:cNvSpPr/>
          <p:nvPr/>
        </p:nvSpPr>
        <p:spPr>
          <a:xfrm>
            <a:off x="8759952"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06256"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4 • COMPLIANCE / ADMIN</a:t>
            </a:r>
          </a:p>
        </p:txBody>
      </p:sp>
      <p:sp>
        <p:nvSpPr>
          <p:cNvPr id="30" name="TextBox 29"/>
          <p:cNvSpPr txBox="1"/>
          <p:nvPr/>
        </p:nvSpPr>
        <p:spPr>
          <a:xfrm>
            <a:off x="8997696" y="2331720"/>
            <a:ext cx="2359152" cy="594360"/>
          </a:xfrm>
          <a:prstGeom prst="rect">
            <a:avLst/>
          </a:prstGeom>
          <a:noFill/>
        </p:spPr>
        <p:txBody>
          <a:bodyPr wrap="square">
            <a:spAutoFit/>
          </a:bodyPr>
          <a:lstStyle/>
          <a:p>
            <a:pPr>
              <a:defRPr sz="1100" b="1">
                <a:solidFill>
                  <a:srgbClr val="1A1612"/>
                </a:solidFill>
                <a:latin typeface="Segoe UI"/>
              </a:defRPr>
            </a:pPr>
            <a:r>
              <a:t>Thẩm Định &amp; Cấp Quyền</a:t>
            </a:r>
          </a:p>
        </p:txBody>
      </p:sp>
      <p:sp>
        <p:nvSpPr>
          <p:cNvPr id="31" name="TextBox 30"/>
          <p:cNvSpPr txBox="1"/>
          <p:nvPr/>
        </p:nvSpPr>
        <p:spPr>
          <a:xfrm>
            <a:off x="8997696" y="2926080"/>
            <a:ext cx="2359152" cy="2240280"/>
          </a:xfrm>
          <a:prstGeom prst="rect">
            <a:avLst/>
          </a:prstGeom>
          <a:noFill/>
        </p:spPr>
        <p:txBody>
          <a:bodyPr wrap="square">
            <a:spAutoFit/>
          </a:bodyPr>
          <a:lstStyle/>
          <a:p>
            <a:pPr>
              <a:defRPr sz="900">
                <a:solidFill>
                  <a:srgbClr val="7D715E"/>
                </a:solidFill>
                <a:latin typeface="Segoe UI"/>
              </a:defRPr>
            </a:pPr>
            <a:r>
              <a:t>• Cán bộ tuân thủ mở hàng đợi KycApprovalPage.</a:t>
            </a:r>
          </a:p>
          <a:p>
            <a:pPr>
              <a:defRPr sz="900">
                <a:solidFill>
                  <a:srgbClr val="7D715E"/>
                </a:solidFill>
                <a:latin typeface="Segoe UI"/>
              </a:defRPr>
            </a:pPr>
            <a:r>
              <a:t>• Đối soát tính nguyên vẹn ảnh giấy tờ và thông tin thuế.</a:t>
            </a:r>
          </a:p>
          <a:p>
            <a:pPr>
              <a:defRPr sz="900">
                <a:solidFill>
                  <a:srgbClr val="7D715E"/>
                </a:solidFill>
                <a:latin typeface="Segoe UI"/>
              </a:defRPr>
            </a:pPr>
            <a:r>
              <a:t>• Đưa ra quyết định: Phê duyệt (Approve) hoặc Từ chối (Reject).</a:t>
            </a:r>
          </a:p>
          <a:p>
            <a:pPr>
              <a:defRPr sz="900">
                <a:solidFill>
                  <a:srgbClr val="7D715E"/>
                </a:solidFill>
                <a:latin typeface="Segoe UI"/>
              </a:defRPr>
            </a:pPr>
            <a:r>
              <a:t>• Ghi vết thẩm định vào Audit Log hệ thống.</a:t>
            </a:r>
          </a:p>
        </p:txBody>
      </p:sp>
      <p:sp>
        <p:nvSpPr>
          <p:cNvPr id="32" name="Rounded Rectangle 31"/>
          <p:cNvSpPr/>
          <p:nvPr/>
        </p:nvSpPr>
        <p:spPr>
          <a:xfrm>
            <a:off x="731520" y="5394960"/>
            <a:ext cx="10728655" cy="93268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49824"/>
            <a:ext cx="2148840" cy="822960"/>
          </a:xfrm>
          <a:prstGeom prst="rect">
            <a:avLst/>
          </a:prstGeom>
          <a:noFill/>
        </p:spPr>
        <p:txBody>
          <a:bodyPr wrap="none">
            <a:spAutoFit/>
          </a:bodyPr>
          <a:lstStyle/>
          <a:p>
            <a:pPr>
              <a:defRPr sz="900" b="1">
                <a:solidFill>
                  <a:srgbClr val="B88E4F"/>
                </a:solidFill>
                <a:latin typeface="Segoe UI"/>
              </a:defRPr>
            </a:pPr>
            <a:r>
              <a:t>ĐIỂM RẼ NHÁNH</a:t>
            </a:r>
          </a:p>
          <a:p>
            <a:pPr>
              <a:defRPr sz="850">
                <a:solidFill>
                  <a:srgbClr val="7D715E"/>
                </a:solidFill>
                <a:latin typeface="Segoe UI"/>
              </a:defRPr>
            </a:pPr>
            <a:r>
              <a:t>Thẩm định hồ sơ KYC đối tác sàn</a:t>
            </a:r>
          </a:p>
        </p:txBody>
      </p:sp>
      <p:sp>
        <p:nvSpPr>
          <p:cNvPr id="34" name="Rounded Rectangle 33"/>
          <p:cNvSpPr/>
          <p:nvPr/>
        </p:nvSpPr>
        <p:spPr>
          <a:xfrm>
            <a:off x="3063240" y="5486400"/>
            <a:ext cx="4069080" cy="7315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59669"/>
                </a:solidFill>
                <a:latin typeface="Segoe UI"/>
              </a:defRPr>
            </a:pPr>
            <a:r>
              <a:t>✔ PHÊ DUYỆT (APPROVE): KÍCH HOẠT QUYỀN HẠN ĐỐI TÁC</a:t>
            </a:r>
          </a:p>
          <a:p>
            <a:pPr>
              <a:defRPr sz="819">
                <a:solidFill>
                  <a:srgbClr val="1A1612"/>
                </a:solidFill>
                <a:latin typeface="Segoe UI"/>
              </a:defRPr>
            </a:pPr>
            <a:r>
              <a:t>Hồ sơ hợp lệ ➔ Kích hoạt trạng thái VERIFIED, mở khóa 100% quyền hạn nhận hoa hồng, mở gian hàng, xuất kho hàng và rút tiền.</a:t>
            </a:r>
          </a:p>
        </p:txBody>
      </p:sp>
      <p:sp>
        <p:nvSpPr>
          <p:cNvPr id="35" name="Rounded Rectangle 34"/>
          <p:cNvSpPr/>
          <p:nvPr/>
        </p:nvSpPr>
        <p:spPr>
          <a:xfrm>
            <a:off x="7269480" y="5486400"/>
            <a:ext cx="4069080" cy="731520"/>
          </a:xfrm>
          <a:prstGeom prst="roundRect">
            <a:avLst/>
          </a:prstGeom>
          <a:solidFill>
            <a:srgbClr val="FEF2F2"/>
          </a:solidFill>
          <a:ln>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DC2626"/>
                </a:solidFill>
                <a:latin typeface="Segoe UI"/>
              </a:defRPr>
            </a:pPr>
            <a:r>
              <a:t>✖ TỪ CHỐI (REJECT): YÊU CẦU BỔ SUNG MINH CHỨNG</a:t>
            </a:r>
          </a:p>
          <a:p>
            <a:pPr>
              <a:defRPr sz="819">
                <a:solidFill>
                  <a:srgbClr val="1A1612"/>
                </a:solidFill>
                <a:latin typeface="Segoe UI"/>
              </a:defRPr>
            </a:pPr>
            <a:r>
              <a:t>Ảnh CCCD mờ, sai lệch mã số thuế ➔ Chuyển trạng thái REJECTED kèm lý do chi tiết. Người dùng nhận thông báo nộp lại hồ sơ bổ sung.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4 • MAIN FLOW 2/5</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FLOW 2: ĐĂNG TẢI SẢN PHẨM, CẤP MẪU THỬ &amp; DEAL ĐỘC QUYỀN</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Quy trình chuẩn hóa sản phẩm TMĐT 6 khối logic, cấp phát hàng mẫu thử 14 ngày có cam kết nghiệm thu và cơ chế đàm phán deal độc quyền</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07</a:t>
            </a:r>
          </a:p>
        </p:txBody>
      </p:sp>
      <p:sp>
        <p:nvSpPr>
          <p:cNvPr id="12" name="Rounded Rectangle 11"/>
          <p:cNvSpPr/>
          <p:nvPr/>
        </p:nvSpPr>
        <p:spPr>
          <a:xfrm>
            <a:off x="731520" y="1353312"/>
            <a:ext cx="10728655" cy="457200"/>
          </a:xfrm>
          <a:prstGeom prst="roundRect">
            <a:avLst/>
          </a:prstGeom>
          <a:solidFill>
            <a:srgbClr val="F3EFE6"/>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1D15"/>
                </a:solidFill>
                <a:latin typeface="Segoe UI"/>
              </a:defRPr>
            </a:pPr>
            <a:r>
              <a:t>  CÁC TÁC NHÂN (ACTORS):   </a:t>
            </a:r>
            <a:r>
              <a:rPr b="1">
                <a:solidFill>
                  <a:srgbClr val="B88E4F"/>
                </a:solidFill>
              </a:rPr>
              <a:t>[Shop: Chủ Gian Hàng Đối Tác]   ➔   </a:t>
            </a:r>
            <a:r>
              <a:rPr b="1">
                <a:solidFill>
                  <a:srgbClr val="B88E4F"/>
                </a:solidFill>
              </a:rPr>
              <a:t>[System: Catalog &amp; Shipping Engine]   ➔   </a:t>
            </a:r>
            <a:r>
              <a:rPr b="1">
                <a:solidFill>
                  <a:srgbClr val="B88E4F"/>
                </a:solidFill>
              </a:rPr>
              <a:t>[Creator: KOL / KOC Bán Hàng]</a:t>
            </a:r>
          </a:p>
        </p:txBody>
      </p:sp>
      <p:sp>
        <p:nvSpPr>
          <p:cNvPr id="13" name="Rounded Rectangle 12"/>
          <p:cNvSpPr/>
          <p:nvPr/>
        </p:nvSpPr>
        <p:spPr>
          <a:xfrm>
            <a:off x="731520"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1 • SHOP MANAGER</a:t>
            </a:r>
          </a:p>
        </p:txBody>
      </p:sp>
      <p:sp>
        <p:nvSpPr>
          <p:cNvPr id="15" name="TextBox 14"/>
          <p:cNvSpPr txBox="1"/>
          <p:nvPr/>
        </p:nvSpPr>
        <p:spPr>
          <a:xfrm>
            <a:off x="822960" y="2331720"/>
            <a:ext cx="2359152" cy="594360"/>
          </a:xfrm>
          <a:prstGeom prst="rect">
            <a:avLst/>
          </a:prstGeom>
          <a:noFill/>
        </p:spPr>
        <p:txBody>
          <a:bodyPr wrap="square">
            <a:spAutoFit/>
          </a:bodyPr>
          <a:lstStyle/>
          <a:p>
            <a:pPr>
              <a:defRPr sz="1100" b="1">
                <a:solidFill>
                  <a:srgbClr val="1A1612"/>
                </a:solidFill>
                <a:latin typeface="Segoe UI"/>
              </a:defRPr>
            </a:pPr>
            <a:r>
              <a:t>Tạo Sản Phẩm 6 Khối Logic</a:t>
            </a:r>
          </a:p>
        </p:txBody>
      </p:sp>
      <p:sp>
        <p:nvSpPr>
          <p:cNvPr id="16" name="TextBox 15"/>
          <p:cNvSpPr txBox="1"/>
          <p:nvPr/>
        </p:nvSpPr>
        <p:spPr>
          <a:xfrm>
            <a:off x="822960" y="2926080"/>
            <a:ext cx="2359152" cy="2240280"/>
          </a:xfrm>
          <a:prstGeom prst="rect">
            <a:avLst/>
          </a:prstGeom>
          <a:noFill/>
        </p:spPr>
        <p:txBody>
          <a:bodyPr wrap="square">
            <a:spAutoFit/>
          </a:bodyPr>
          <a:lstStyle/>
          <a:p>
            <a:pPr>
              <a:defRPr sz="900">
                <a:solidFill>
                  <a:srgbClr val="7D715E"/>
                </a:solidFill>
                <a:latin typeface="Segoe UI"/>
              </a:defRPr>
            </a:pPr>
            <a:r>
              <a:t>• Nhập thông tin, danh mục, thương hiệu, mô tả Rich Text.</a:t>
            </a:r>
          </a:p>
          <a:p>
            <a:pPr>
              <a:defRPr sz="900">
                <a:solidFill>
                  <a:srgbClr val="7D715E"/>
                </a:solidFill>
                <a:latin typeface="Segoe UI"/>
              </a:defRPr>
            </a:pPr>
            <a:r>
              <a:t>• Tải thư viện ảnh 1:1, ảnh bìa và video sản phẩm.</a:t>
            </a:r>
          </a:p>
          <a:p>
            <a:pPr>
              <a:defRPr sz="900">
                <a:solidFill>
                  <a:srgbClr val="7D715E"/>
                </a:solidFill>
                <a:latin typeface="Segoe UI"/>
              </a:defRPr>
            </a:pPr>
            <a:r>
              <a:t>• Thiết lập ma trận biến thể 2 chiều (Màu/Size/SKU/Giá).</a:t>
            </a:r>
          </a:p>
          <a:p>
            <a:pPr>
              <a:defRPr sz="900">
                <a:solidFill>
                  <a:srgbClr val="7D715E"/>
                </a:solidFill>
                <a:latin typeface="Segoe UI"/>
              </a:defRPr>
            </a:pPr>
            <a:r>
              <a:t>• Khai báo cân nặng đóng gói GHN và hoa hồng mở 10% sàn.</a:t>
            </a:r>
          </a:p>
        </p:txBody>
      </p:sp>
      <p:sp>
        <p:nvSpPr>
          <p:cNvPr id="17" name="Right Arrow 16"/>
          <p:cNvSpPr/>
          <p:nvPr/>
        </p:nvSpPr>
        <p:spPr>
          <a:xfrm>
            <a:off x="3310128"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56432"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2 • SYSTEM / MARKETPLACE</a:t>
            </a:r>
          </a:p>
        </p:txBody>
      </p:sp>
      <p:sp>
        <p:nvSpPr>
          <p:cNvPr id="20" name="TextBox 19"/>
          <p:cNvSpPr txBox="1"/>
          <p:nvPr/>
        </p:nvSpPr>
        <p:spPr>
          <a:xfrm>
            <a:off x="3547872" y="2331720"/>
            <a:ext cx="2359152" cy="594360"/>
          </a:xfrm>
          <a:prstGeom prst="rect">
            <a:avLst/>
          </a:prstGeom>
          <a:noFill/>
        </p:spPr>
        <p:txBody>
          <a:bodyPr wrap="square">
            <a:spAutoFit/>
          </a:bodyPr>
          <a:lstStyle/>
          <a:p>
            <a:pPr>
              <a:defRPr sz="1100" b="1">
                <a:solidFill>
                  <a:srgbClr val="1A1612"/>
                </a:solidFill>
                <a:latin typeface="Segoe UI"/>
              </a:defRPr>
            </a:pPr>
            <a:r>
              <a:t>Kiểm Duyệt &amp; Xuất Bản</a:t>
            </a:r>
          </a:p>
        </p:txBody>
      </p:sp>
      <p:sp>
        <p:nvSpPr>
          <p:cNvPr id="21" name="TextBox 20"/>
          <p:cNvSpPr txBox="1"/>
          <p:nvPr/>
        </p:nvSpPr>
        <p:spPr>
          <a:xfrm>
            <a:off x="3547872" y="2926080"/>
            <a:ext cx="2359152" cy="2240280"/>
          </a:xfrm>
          <a:prstGeom prst="rect">
            <a:avLst/>
          </a:prstGeom>
          <a:noFill/>
        </p:spPr>
        <p:txBody>
          <a:bodyPr wrap="square">
            <a:spAutoFit/>
          </a:bodyPr>
          <a:lstStyle/>
          <a:p>
            <a:pPr>
              <a:defRPr sz="900">
                <a:solidFill>
                  <a:srgbClr val="7D715E"/>
                </a:solidFill>
                <a:latin typeface="Segoe UI"/>
              </a:defRPr>
            </a:pPr>
            <a:r>
              <a:t>• Lưu CSDL với cơ chế Soft-delete (is_deleted = false).</a:t>
            </a:r>
          </a:p>
          <a:p>
            <a:pPr>
              <a:defRPr sz="900">
                <a:solidFill>
                  <a:srgbClr val="7D715E"/>
                </a:solidFill>
                <a:latin typeface="Segoe UI"/>
              </a:defRPr>
            </a:pPr>
            <a:r>
              <a:t>• Kiểm duyệt nội dung tự động chống từ khóa cấm.</a:t>
            </a:r>
          </a:p>
          <a:p>
            <a:pPr>
              <a:defRPr sz="900">
                <a:solidFill>
                  <a:srgbClr val="7D715E"/>
                </a:solidFill>
                <a:latin typeface="Segoe UI"/>
              </a:defRPr>
            </a:pPr>
            <a:r>
              <a:t>• Xuất bản sản phẩm lên Sàn TMĐT và Kho Hàng Mẫu.</a:t>
            </a:r>
          </a:p>
          <a:p>
            <a:pPr>
              <a:defRPr sz="900">
                <a:solidFill>
                  <a:srgbClr val="7D715E"/>
                </a:solidFill>
                <a:latin typeface="Segoe UI"/>
              </a:defRPr>
            </a:pPr>
            <a:r>
              <a:t>• Tính toán tổng tồn kho thực tế từ các SKU con.</a:t>
            </a:r>
          </a:p>
        </p:txBody>
      </p:sp>
      <p:sp>
        <p:nvSpPr>
          <p:cNvPr id="22" name="Right Arrow 21"/>
          <p:cNvSpPr/>
          <p:nvPr/>
        </p:nvSpPr>
        <p:spPr>
          <a:xfrm>
            <a:off x="6035040"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81344"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3 • KOL / KOC</a:t>
            </a:r>
          </a:p>
        </p:txBody>
      </p:sp>
      <p:sp>
        <p:nvSpPr>
          <p:cNvPr id="25" name="TextBox 24"/>
          <p:cNvSpPr txBox="1"/>
          <p:nvPr/>
        </p:nvSpPr>
        <p:spPr>
          <a:xfrm>
            <a:off x="6272784" y="2331720"/>
            <a:ext cx="2359152" cy="594360"/>
          </a:xfrm>
          <a:prstGeom prst="rect">
            <a:avLst/>
          </a:prstGeom>
          <a:noFill/>
        </p:spPr>
        <p:txBody>
          <a:bodyPr wrap="square">
            <a:spAutoFit/>
          </a:bodyPr>
          <a:lstStyle/>
          <a:p>
            <a:pPr>
              <a:defRPr sz="1100" b="1">
                <a:solidFill>
                  <a:srgbClr val="1A1612"/>
                </a:solidFill>
                <a:latin typeface="Segoe UI"/>
              </a:defRPr>
            </a:pPr>
            <a:r>
              <a:t>Gửi Yêu Cầu Xin Hàng Mẫu</a:t>
            </a:r>
          </a:p>
        </p:txBody>
      </p:sp>
      <p:sp>
        <p:nvSpPr>
          <p:cNvPr id="26" name="TextBox 25"/>
          <p:cNvSpPr txBox="1"/>
          <p:nvPr/>
        </p:nvSpPr>
        <p:spPr>
          <a:xfrm>
            <a:off x="6272784" y="2926080"/>
            <a:ext cx="2359152" cy="2240280"/>
          </a:xfrm>
          <a:prstGeom prst="rect">
            <a:avLst/>
          </a:prstGeom>
          <a:noFill/>
        </p:spPr>
        <p:txBody>
          <a:bodyPr wrap="square">
            <a:spAutoFit/>
          </a:bodyPr>
          <a:lstStyle/>
          <a:p>
            <a:pPr>
              <a:defRPr sz="900">
                <a:solidFill>
                  <a:srgbClr val="7D715E"/>
                </a:solidFill>
                <a:latin typeface="Segoe UI"/>
              </a:defRPr>
            </a:pPr>
            <a:r>
              <a:t>• KOL duyệt kho mẫu thử, chọn sản phẩm phù hợp tệp fan.</a:t>
            </a:r>
          </a:p>
          <a:p>
            <a:pPr>
              <a:defRPr sz="900">
                <a:solidFill>
                  <a:srgbClr val="7D715E"/>
                </a:solidFill>
                <a:latin typeface="Segoe UI"/>
              </a:defRPr>
            </a:pPr>
            <a:r>
              <a:t>• Bấm 'Xin sản phẩm mẫu' (Sample Request).</a:t>
            </a:r>
          </a:p>
          <a:p>
            <a:pPr>
              <a:defRPr sz="900">
                <a:solidFill>
                  <a:srgbClr val="7D715E"/>
                </a:solidFill>
                <a:latin typeface="Segoe UI"/>
              </a:defRPr>
            </a:pPr>
            <a:r>
              <a:t>• Nhập địa chỉ nhận hàng và cam kết trả video nghiệm thu.</a:t>
            </a:r>
          </a:p>
          <a:p>
            <a:pPr>
              <a:defRPr sz="900">
                <a:solidFill>
                  <a:srgbClr val="7D715E"/>
                </a:solidFill>
                <a:latin typeface="Segoe UI"/>
              </a:defRPr>
            </a:pPr>
            <a:r>
              <a:t>• Hệ thống kiểm tra hạn mức cấp mẫu theo Tier của KOL.</a:t>
            </a:r>
          </a:p>
        </p:txBody>
      </p:sp>
      <p:sp>
        <p:nvSpPr>
          <p:cNvPr id="27" name="Right Arrow 26"/>
          <p:cNvSpPr/>
          <p:nvPr/>
        </p:nvSpPr>
        <p:spPr>
          <a:xfrm>
            <a:off x="8759952"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06256"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4 • SHOP &amp; KOL</a:t>
            </a:r>
          </a:p>
        </p:txBody>
      </p:sp>
      <p:sp>
        <p:nvSpPr>
          <p:cNvPr id="30" name="TextBox 29"/>
          <p:cNvSpPr txBox="1"/>
          <p:nvPr/>
        </p:nvSpPr>
        <p:spPr>
          <a:xfrm>
            <a:off x="8997696" y="2331720"/>
            <a:ext cx="2359152" cy="594360"/>
          </a:xfrm>
          <a:prstGeom prst="rect">
            <a:avLst/>
          </a:prstGeom>
          <a:noFill/>
        </p:spPr>
        <p:txBody>
          <a:bodyPr wrap="square">
            <a:spAutoFit/>
          </a:bodyPr>
          <a:lstStyle/>
          <a:p>
            <a:pPr>
              <a:defRPr sz="1100" b="1">
                <a:solidFill>
                  <a:srgbClr val="1A1612"/>
                </a:solidFill>
                <a:latin typeface="Segoe UI"/>
              </a:defRPr>
            </a:pPr>
            <a:r>
              <a:t>Duyệt Mẫu &amp; Đàm Phán Deal VIP</a:t>
            </a:r>
          </a:p>
        </p:txBody>
      </p:sp>
      <p:sp>
        <p:nvSpPr>
          <p:cNvPr id="31" name="TextBox 30"/>
          <p:cNvSpPr txBox="1"/>
          <p:nvPr/>
        </p:nvSpPr>
        <p:spPr>
          <a:xfrm>
            <a:off x="8997696" y="2926080"/>
            <a:ext cx="2359152" cy="2240280"/>
          </a:xfrm>
          <a:prstGeom prst="rect">
            <a:avLst/>
          </a:prstGeom>
          <a:noFill/>
        </p:spPr>
        <p:txBody>
          <a:bodyPr wrap="square">
            <a:spAutoFit/>
          </a:bodyPr>
          <a:lstStyle/>
          <a:p>
            <a:pPr>
              <a:defRPr sz="900">
                <a:solidFill>
                  <a:srgbClr val="7D715E"/>
                </a:solidFill>
                <a:latin typeface="Segoe UI"/>
              </a:defRPr>
            </a:pPr>
            <a:r>
              <a:t>• Shop duyệt hồ sơ KOL ➔ Sinh vận đơn GHN chuyển mẫu thử.</a:t>
            </a:r>
          </a:p>
          <a:p>
            <a:pPr>
              <a:defRPr sz="900">
                <a:solidFill>
                  <a:srgbClr val="7D715E"/>
                </a:solidFill>
                <a:latin typeface="Segoe UI"/>
              </a:defRPr>
            </a:pPr>
            <a:r>
              <a:t>• KOL nhận hàng ➔ Kích hoạt đồng hồ đếm ngược 14 ngày trả video.</a:t>
            </a:r>
          </a:p>
          <a:p>
            <a:pPr>
              <a:defRPr sz="900">
                <a:solidFill>
                  <a:srgbClr val="7D715E"/>
                </a:solidFill>
                <a:latin typeface="Segoe UI"/>
              </a:defRPr>
            </a:pPr>
            <a:r>
              <a:t>• Shop mở Live Chat ➔ Gửi đề xuất Exclusive Deal (18%-25%).</a:t>
            </a:r>
          </a:p>
          <a:p>
            <a:pPr>
              <a:defRPr sz="900">
                <a:solidFill>
                  <a:srgbClr val="7D715E"/>
                </a:solidFill>
                <a:latin typeface="Segoe UI"/>
              </a:defRPr>
            </a:pPr>
            <a:r>
              <a:t>• KOL chấp thuận deal độc quyền kèm KPI doanh số cam kết.</a:t>
            </a:r>
          </a:p>
        </p:txBody>
      </p:sp>
      <p:sp>
        <p:nvSpPr>
          <p:cNvPr id="32" name="Rounded Rectangle 31"/>
          <p:cNvSpPr/>
          <p:nvPr/>
        </p:nvSpPr>
        <p:spPr>
          <a:xfrm>
            <a:off x="731520" y="5394960"/>
            <a:ext cx="10728655" cy="93268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49824"/>
            <a:ext cx="2148840" cy="822960"/>
          </a:xfrm>
          <a:prstGeom prst="rect">
            <a:avLst/>
          </a:prstGeom>
          <a:noFill/>
        </p:spPr>
        <p:txBody>
          <a:bodyPr wrap="none">
            <a:spAutoFit/>
          </a:bodyPr>
          <a:lstStyle/>
          <a:p>
            <a:pPr>
              <a:defRPr sz="900" b="1">
                <a:solidFill>
                  <a:srgbClr val="B88E4F"/>
                </a:solidFill>
                <a:latin typeface="Segoe UI"/>
              </a:defRPr>
            </a:pPr>
            <a:r>
              <a:t>ĐIỂM RẼ NHÁNH</a:t>
            </a:r>
          </a:p>
          <a:p>
            <a:pPr>
              <a:defRPr sz="850">
                <a:solidFill>
                  <a:srgbClr val="7D715E"/>
                </a:solidFill>
                <a:latin typeface="Segoe UI"/>
              </a:defRPr>
            </a:pPr>
            <a:r>
              <a:t>Xét duyệt hồ sơ xin hàng mẫu thử của KOL</a:t>
            </a:r>
          </a:p>
        </p:txBody>
      </p:sp>
      <p:sp>
        <p:nvSpPr>
          <p:cNvPr id="34" name="Rounded Rectangle 33"/>
          <p:cNvSpPr/>
          <p:nvPr/>
        </p:nvSpPr>
        <p:spPr>
          <a:xfrm>
            <a:off x="3063240" y="5486400"/>
            <a:ext cx="4069080" cy="7315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59669"/>
                </a:solidFill>
                <a:latin typeface="Segoe UI"/>
              </a:defRPr>
            </a:pPr>
            <a:r>
              <a:t>✔ DUYỆT CẤP MẪU: SINH VẬN ĐƠN GHN &amp; GẮN DEADLINE 14 NGÀY</a:t>
            </a:r>
          </a:p>
          <a:p>
            <a:pPr>
              <a:defRPr sz="819">
                <a:solidFill>
                  <a:srgbClr val="1A1612"/>
                </a:solidFill>
                <a:latin typeface="Segoe UI"/>
              </a:defRPr>
            </a:pPr>
            <a:r>
              <a:t>Shop chấp thuận ➔ Shipping Simulator tự động sinh mã vận đơn GHN-SMP-XXXXX, in phiếu đóng gói A6. Bắt đầu tính chu kỳ 14 ngày trả video.</a:t>
            </a:r>
          </a:p>
        </p:txBody>
      </p:sp>
      <p:sp>
        <p:nvSpPr>
          <p:cNvPr id="35" name="Rounded Rectangle 34"/>
          <p:cNvSpPr/>
          <p:nvPr/>
        </p:nvSpPr>
        <p:spPr>
          <a:xfrm>
            <a:off x="7269480" y="5486400"/>
            <a:ext cx="4069080" cy="731520"/>
          </a:xfrm>
          <a:prstGeom prst="roundRect">
            <a:avLst/>
          </a:prstGeom>
          <a:solidFill>
            <a:srgbClr val="FEF2F2"/>
          </a:solidFill>
          <a:ln>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DC2626"/>
                </a:solidFill>
                <a:latin typeface="Segoe UI"/>
              </a:defRPr>
            </a:pPr>
            <a:r>
              <a:t>✖ TỪ CHỐI CẤP MẪU: BẢO VỆ NGÂN SÁCH GIAN HÀNG</a:t>
            </a:r>
          </a:p>
          <a:p>
            <a:pPr>
              <a:defRPr sz="819">
                <a:solidFill>
                  <a:srgbClr val="1A1612"/>
                </a:solidFill>
                <a:latin typeface="Segoe UI"/>
              </a:defRPr>
            </a:pPr>
            <a:r>
              <a:t>KOL không đúng tệp khách hoặc tỷ lệ hoàn thành video dưới 70% ➔ Từ chối cấp mẫu, giữ nguyên suất mẫu cho đối tác tiềm năng khác.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4 • MAIN FLOW 3/5</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FLOW 3: TIẾP THỊ AFFILIATE, SMART TRACKING &amp; MUA HÀNG</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Cơ chế tạo link rút gọn, động cơ phân bổ hoa hồng Last-Click 30 ngày chống gian lận click và quy trình mua sắm đồng bộ CSDL</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08</a:t>
            </a:r>
          </a:p>
        </p:txBody>
      </p:sp>
      <p:sp>
        <p:nvSpPr>
          <p:cNvPr id="12" name="Rounded Rectangle 11"/>
          <p:cNvSpPr/>
          <p:nvPr/>
        </p:nvSpPr>
        <p:spPr>
          <a:xfrm>
            <a:off x="731520" y="1353312"/>
            <a:ext cx="10728655" cy="457200"/>
          </a:xfrm>
          <a:prstGeom prst="roundRect">
            <a:avLst/>
          </a:prstGeom>
          <a:solidFill>
            <a:srgbClr val="F3EFE6"/>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1D15"/>
                </a:solidFill>
                <a:latin typeface="Segoe UI"/>
              </a:defRPr>
            </a:pPr>
            <a:r>
              <a:t>  CÁC TÁC NHÂN (ACTORS):   </a:t>
            </a:r>
            <a:r>
              <a:rPr b="1">
                <a:solidFill>
                  <a:srgbClr val="B88E4F"/>
                </a:solidFill>
              </a:rPr>
              <a:t>[Creator: KOL Tiếp Thị]   ➔   </a:t>
            </a:r>
            <a:r>
              <a:rPr b="1">
                <a:solidFill>
                  <a:srgbClr val="B88E4F"/>
                </a:solidFill>
              </a:rPr>
              <a:t>[Buyer: Khách Hàng Mua Sắm]   ➔   </a:t>
            </a:r>
            <a:r>
              <a:rPr b="1">
                <a:solidFill>
                  <a:srgbClr val="B88E4F"/>
                </a:solidFill>
              </a:rPr>
              <a:t>[System: Redis Rate Limit &amp; PostgreSQL]</a:t>
            </a:r>
          </a:p>
        </p:txBody>
      </p:sp>
      <p:sp>
        <p:nvSpPr>
          <p:cNvPr id="13" name="Rounded Rectangle 12"/>
          <p:cNvSpPr/>
          <p:nvPr/>
        </p:nvSpPr>
        <p:spPr>
          <a:xfrm>
            <a:off x="731520"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1 • KOL / CREATOR</a:t>
            </a:r>
          </a:p>
        </p:txBody>
      </p:sp>
      <p:sp>
        <p:nvSpPr>
          <p:cNvPr id="15" name="TextBox 14"/>
          <p:cNvSpPr txBox="1"/>
          <p:nvPr/>
        </p:nvSpPr>
        <p:spPr>
          <a:xfrm>
            <a:off x="822960" y="2331720"/>
            <a:ext cx="2359152" cy="594360"/>
          </a:xfrm>
          <a:prstGeom prst="rect">
            <a:avLst/>
          </a:prstGeom>
          <a:noFill/>
        </p:spPr>
        <p:txBody>
          <a:bodyPr wrap="square">
            <a:spAutoFit/>
          </a:bodyPr>
          <a:lstStyle/>
          <a:p>
            <a:pPr>
              <a:defRPr sz="1100" b="1">
                <a:solidFill>
                  <a:srgbClr val="1A1612"/>
                </a:solidFill>
                <a:latin typeface="Segoe UI"/>
              </a:defRPr>
            </a:pPr>
            <a:r>
              <a:t>Tạo Công Cụ Tiếp Thị</a:t>
            </a:r>
          </a:p>
        </p:txBody>
      </p:sp>
      <p:sp>
        <p:nvSpPr>
          <p:cNvPr id="16" name="TextBox 15"/>
          <p:cNvSpPr txBox="1"/>
          <p:nvPr/>
        </p:nvSpPr>
        <p:spPr>
          <a:xfrm>
            <a:off x="822960" y="2926080"/>
            <a:ext cx="2359152" cy="2240280"/>
          </a:xfrm>
          <a:prstGeom prst="rect">
            <a:avLst/>
          </a:prstGeom>
          <a:noFill/>
        </p:spPr>
        <p:txBody>
          <a:bodyPr wrap="square">
            <a:spAutoFit/>
          </a:bodyPr>
          <a:lstStyle/>
          <a:p>
            <a:pPr>
              <a:defRPr sz="900">
                <a:solidFill>
                  <a:srgbClr val="7D715E"/>
                </a:solidFill>
                <a:latin typeface="Segoe UI"/>
              </a:defRPr>
            </a:pPr>
            <a:r>
              <a:t>• KOL tạo link rút gọn cá nhân hóa (scanms.vn/r/:code).</a:t>
            </a:r>
          </a:p>
          <a:p>
            <a:pPr>
              <a:defRPr sz="900">
                <a:solidFill>
                  <a:srgbClr val="7D715E"/>
                </a:solidFill>
                <a:latin typeface="Segoe UI"/>
              </a:defRPr>
            </a:pPr>
            <a:r>
              <a:t>• Tải ảnh Dynamic QR Code phục vụ livestream và video ngắn.</a:t>
            </a:r>
          </a:p>
          <a:p>
            <a:pPr>
              <a:defRPr sz="900">
                <a:solidFill>
                  <a:srgbClr val="7D715E"/>
                </a:solidFill>
                <a:latin typeface="Segoe UI"/>
              </a:defRPr>
            </a:pPr>
            <a:r>
              <a:t>• Kích hoạt mã Voucher độc quyền dành riêng cho fan.</a:t>
            </a:r>
          </a:p>
          <a:p>
            <a:pPr>
              <a:defRPr sz="900">
                <a:solidFill>
                  <a:srgbClr val="7D715E"/>
                </a:solidFill>
                <a:latin typeface="Segoe UI"/>
              </a:defRPr>
            </a:pPr>
            <a:r>
              <a:t>• Theo dõi thông số chiến dịch qua Dashboard thời gian thực.</a:t>
            </a:r>
          </a:p>
        </p:txBody>
      </p:sp>
      <p:sp>
        <p:nvSpPr>
          <p:cNvPr id="17" name="Right Arrow 16"/>
          <p:cNvSpPr/>
          <p:nvPr/>
        </p:nvSpPr>
        <p:spPr>
          <a:xfrm>
            <a:off x="3310128"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56432"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2 • SYSTEM (TRACKING)</a:t>
            </a:r>
          </a:p>
        </p:txBody>
      </p:sp>
      <p:sp>
        <p:nvSpPr>
          <p:cNvPr id="20" name="TextBox 19"/>
          <p:cNvSpPr txBox="1"/>
          <p:nvPr/>
        </p:nvSpPr>
        <p:spPr>
          <a:xfrm>
            <a:off x="3547872" y="2331720"/>
            <a:ext cx="2359152" cy="594360"/>
          </a:xfrm>
          <a:prstGeom prst="rect">
            <a:avLst/>
          </a:prstGeom>
          <a:noFill/>
        </p:spPr>
        <p:txBody>
          <a:bodyPr wrap="square">
            <a:spAutoFit/>
          </a:bodyPr>
          <a:lstStyle/>
          <a:p>
            <a:pPr>
              <a:defRPr sz="1100" b="1">
                <a:solidFill>
                  <a:srgbClr val="1A1612"/>
                </a:solidFill>
                <a:latin typeface="Segoe UI"/>
              </a:defRPr>
            </a:pPr>
            <a:r>
              <a:t>Smart Tracking &amp; Chống Click Tặc</a:t>
            </a:r>
          </a:p>
        </p:txBody>
      </p:sp>
      <p:sp>
        <p:nvSpPr>
          <p:cNvPr id="21" name="TextBox 20"/>
          <p:cNvSpPr txBox="1"/>
          <p:nvPr/>
        </p:nvSpPr>
        <p:spPr>
          <a:xfrm>
            <a:off x="3547872" y="2926080"/>
            <a:ext cx="2359152" cy="2240280"/>
          </a:xfrm>
          <a:prstGeom prst="rect">
            <a:avLst/>
          </a:prstGeom>
          <a:noFill/>
        </p:spPr>
        <p:txBody>
          <a:bodyPr wrap="square">
            <a:spAutoFit/>
          </a:bodyPr>
          <a:lstStyle/>
          <a:p>
            <a:pPr>
              <a:defRPr sz="900">
                <a:solidFill>
                  <a:srgbClr val="7D715E"/>
                </a:solidFill>
                <a:latin typeface="Segoe UI"/>
              </a:defRPr>
            </a:pPr>
            <a:r>
              <a:t>• Khách bấm link ➔ Endpoint /api/r/:code ghi nhận Click log.</a:t>
            </a:r>
          </a:p>
          <a:p>
            <a:pPr>
              <a:defRPr sz="900">
                <a:solidFill>
                  <a:srgbClr val="7D715E"/>
                </a:solidFill>
                <a:latin typeface="Segoe UI"/>
              </a:defRPr>
            </a:pPr>
            <a:r>
              <a:t>• Redis Sliding Window chặn đứng spam click (&gt;10 clicks/giây).</a:t>
            </a:r>
          </a:p>
          <a:p>
            <a:pPr>
              <a:defRPr sz="900">
                <a:solidFill>
                  <a:srgbClr val="7D715E"/>
                </a:solidFill>
                <a:latin typeface="Segoe UI"/>
              </a:defRPr>
            </a:pPr>
            <a:r>
              <a:t>• Gán Cookie theo dõi 30 ngày theo quy tắc Last-Click Attribution.</a:t>
            </a:r>
          </a:p>
          <a:p>
            <a:pPr>
              <a:defRPr sz="900">
                <a:solidFill>
                  <a:srgbClr val="7D715E"/>
                </a:solidFill>
                <a:latin typeface="Segoe UI"/>
              </a:defRPr>
            </a:pPr>
            <a:r>
              <a:t>• Bảo vệ tính khách quan: KOL cuối cùng dẫn đơn sẽ nhận hoa hồng.</a:t>
            </a:r>
          </a:p>
        </p:txBody>
      </p:sp>
      <p:sp>
        <p:nvSpPr>
          <p:cNvPr id="22" name="Right Arrow 21"/>
          <p:cNvSpPr/>
          <p:nvPr/>
        </p:nvSpPr>
        <p:spPr>
          <a:xfrm>
            <a:off x="6035040"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81344"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3 • CUSTOMER (BUYER)</a:t>
            </a:r>
          </a:p>
        </p:txBody>
      </p:sp>
      <p:sp>
        <p:nvSpPr>
          <p:cNvPr id="25" name="TextBox 24"/>
          <p:cNvSpPr txBox="1"/>
          <p:nvPr/>
        </p:nvSpPr>
        <p:spPr>
          <a:xfrm>
            <a:off x="6272784" y="2331720"/>
            <a:ext cx="2359152" cy="594360"/>
          </a:xfrm>
          <a:prstGeom prst="rect">
            <a:avLst/>
          </a:prstGeom>
          <a:noFill/>
        </p:spPr>
        <p:txBody>
          <a:bodyPr wrap="square">
            <a:spAutoFit/>
          </a:bodyPr>
          <a:lstStyle/>
          <a:p>
            <a:pPr>
              <a:defRPr sz="1100" b="1">
                <a:solidFill>
                  <a:srgbClr val="1A1612"/>
                </a:solidFill>
                <a:latin typeface="Segoe UI"/>
              </a:defRPr>
            </a:pPr>
            <a:r>
              <a:t>Chọn Biến Thể &amp; Giỏ Hàng CSDL</a:t>
            </a:r>
          </a:p>
        </p:txBody>
      </p:sp>
      <p:sp>
        <p:nvSpPr>
          <p:cNvPr id="26" name="TextBox 25"/>
          <p:cNvSpPr txBox="1"/>
          <p:nvPr/>
        </p:nvSpPr>
        <p:spPr>
          <a:xfrm>
            <a:off x="6272784" y="2926080"/>
            <a:ext cx="2359152" cy="2240280"/>
          </a:xfrm>
          <a:prstGeom prst="rect">
            <a:avLst/>
          </a:prstGeom>
          <a:noFill/>
        </p:spPr>
        <p:txBody>
          <a:bodyPr wrap="square">
            <a:spAutoFit/>
          </a:bodyPr>
          <a:lstStyle/>
          <a:p>
            <a:pPr>
              <a:defRPr sz="900">
                <a:solidFill>
                  <a:srgbClr val="7D715E"/>
                </a:solidFill>
                <a:latin typeface="Segoe UI"/>
              </a:defRPr>
            </a:pPr>
            <a:r>
              <a:t>• Khách hàng đăng nhập an toàn (Google 1-Click / OTP).</a:t>
            </a:r>
          </a:p>
          <a:p>
            <a:pPr>
              <a:defRPr sz="900">
                <a:solidFill>
                  <a:srgbClr val="7D715E"/>
                </a:solidFill>
                <a:latin typeface="Segoe UI"/>
              </a:defRPr>
            </a:pPr>
            <a:r>
              <a:t>• Chọn biến thể phân loại (Màu sắc, Dung tích, Số lượng).</a:t>
            </a:r>
          </a:p>
          <a:p>
            <a:pPr>
              <a:defRPr sz="900">
                <a:solidFill>
                  <a:srgbClr val="7D715E"/>
                </a:solidFill>
                <a:latin typeface="Segoe UI"/>
              </a:defRPr>
            </a:pPr>
            <a:r>
              <a:t>• Thêm vào giỏ hàng ➔ Đồng bộ tức thời trên PostgreSQL.</a:t>
            </a:r>
          </a:p>
          <a:p>
            <a:pPr>
              <a:defRPr sz="900">
                <a:solidFill>
                  <a:srgbClr val="7D715E"/>
                </a:solidFill>
                <a:latin typeface="Segoe UI"/>
              </a:defRPr>
            </a:pPr>
            <a:r>
              <a:t>• Đổi thiết bị hoặc tab trình duyệt vẫn giữ nguyên 100% giỏ hàng.</a:t>
            </a:r>
          </a:p>
        </p:txBody>
      </p:sp>
      <p:sp>
        <p:nvSpPr>
          <p:cNvPr id="27" name="Right Arrow 26"/>
          <p:cNvSpPr/>
          <p:nvPr/>
        </p:nvSpPr>
        <p:spPr>
          <a:xfrm>
            <a:off x="8759952"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06256"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4 • CUSTOMER &amp; SYSTEM</a:t>
            </a:r>
          </a:p>
        </p:txBody>
      </p:sp>
      <p:sp>
        <p:nvSpPr>
          <p:cNvPr id="30" name="TextBox 29"/>
          <p:cNvSpPr txBox="1"/>
          <p:nvPr/>
        </p:nvSpPr>
        <p:spPr>
          <a:xfrm>
            <a:off x="8997696" y="2331720"/>
            <a:ext cx="2359152" cy="594360"/>
          </a:xfrm>
          <a:prstGeom prst="rect">
            <a:avLst/>
          </a:prstGeom>
          <a:noFill/>
        </p:spPr>
        <p:txBody>
          <a:bodyPr wrap="square">
            <a:spAutoFit/>
          </a:bodyPr>
          <a:lstStyle/>
          <a:p>
            <a:pPr>
              <a:defRPr sz="1100" b="1">
                <a:solidFill>
                  <a:srgbClr val="1A1612"/>
                </a:solidFill>
                <a:latin typeface="Segoe UI"/>
              </a:defRPr>
            </a:pPr>
            <a:r>
              <a:t>Thanh Toán &amp; Khấu Trừ Tồn Kho</a:t>
            </a:r>
          </a:p>
        </p:txBody>
      </p:sp>
      <p:sp>
        <p:nvSpPr>
          <p:cNvPr id="31" name="TextBox 30"/>
          <p:cNvSpPr txBox="1"/>
          <p:nvPr/>
        </p:nvSpPr>
        <p:spPr>
          <a:xfrm>
            <a:off x="8997696" y="2926080"/>
            <a:ext cx="2359152" cy="2240280"/>
          </a:xfrm>
          <a:prstGeom prst="rect">
            <a:avLst/>
          </a:prstGeom>
          <a:noFill/>
        </p:spPr>
        <p:txBody>
          <a:bodyPr wrap="square">
            <a:spAutoFit/>
          </a:bodyPr>
          <a:lstStyle/>
          <a:p>
            <a:pPr>
              <a:defRPr sz="900">
                <a:solidFill>
                  <a:srgbClr val="7D715E"/>
                </a:solidFill>
                <a:latin typeface="Segoe UI"/>
              </a:defRPr>
            </a:pPr>
            <a:r>
              <a:t>• Tiến hành Checkout: Chọn địa chỉ giao hàng chuẩn xã/huyện/tỉnh.</a:t>
            </a:r>
          </a:p>
          <a:p>
            <a:pPr>
              <a:defRPr sz="900">
                <a:solidFill>
                  <a:srgbClr val="7D715E"/>
                </a:solidFill>
                <a:latin typeface="Segoe UI"/>
              </a:defRPr>
            </a:pPr>
            <a:r>
              <a:t>• Hệ thống tự động áp dụng Voucher sàn và Shop Voucher đủ điều kiện.</a:t>
            </a:r>
          </a:p>
          <a:p>
            <a:pPr>
              <a:defRPr sz="900">
                <a:solidFill>
                  <a:srgbClr val="7D715E"/>
                </a:solidFill>
                <a:latin typeface="Segoe UI"/>
              </a:defRPr>
            </a:pPr>
            <a:r>
              <a:t>• Chọn thanh toán: VietQR PayOS tự động hoặc COD nhận hàng.</a:t>
            </a:r>
          </a:p>
          <a:p>
            <a:pPr>
              <a:defRPr sz="900">
                <a:solidFill>
                  <a:srgbClr val="7D715E"/>
                </a:solidFill>
                <a:latin typeface="Segoe UI"/>
              </a:defRPr>
            </a:pPr>
            <a:r>
              <a:t>• Khấu trừ tồn kho nguyên tử ➔ Gắn mã Attribution ID của KOL.</a:t>
            </a:r>
          </a:p>
        </p:txBody>
      </p:sp>
      <p:sp>
        <p:nvSpPr>
          <p:cNvPr id="32" name="Rounded Rectangle 31"/>
          <p:cNvSpPr/>
          <p:nvPr/>
        </p:nvSpPr>
        <p:spPr>
          <a:xfrm>
            <a:off x="731520" y="5394960"/>
            <a:ext cx="10728655" cy="93268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49824"/>
            <a:ext cx="2148840" cy="822960"/>
          </a:xfrm>
          <a:prstGeom prst="rect">
            <a:avLst/>
          </a:prstGeom>
          <a:noFill/>
        </p:spPr>
        <p:txBody>
          <a:bodyPr wrap="none">
            <a:spAutoFit/>
          </a:bodyPr>
          <a:lstStyle/>
          <a:p>
            <a:pPr>
              <a:defRPr sz="900" b="1">
                <a:solidFill>
                  <a:srgbClr val="B88E4F"/>
                </a:solidFill>
                <a:latin typeface="Segoe UI"/>
              </a:defRPr>
            </a:pPr>
            <a:r>
              <a:t>ĐIỂM RẼ NHÁNH</a:t>
            </a:r>
          </a:p>
          <a:p>
            <a:pPr>
              <a:defRPr sz="850">
                <a:solidFill>
                  <a:srgbClr val="7D715E"/>
                </a:solidFill>
                <a:latin typeface="Segoe UI"/>
              </a:defRPr>
            </a:pPr>
            <a:r>
              <a:t>Ghi nhận giao dịch mua hàng &amp; Phân bổ Attribution</a:t>
            </a:r>
          </a:p>
        </p:txBody>
      </p:sp>
      <p:sp>
        <p:nvSpPr>
          <p:cNvPr id="34" name="Rounded Rectangle 33"/>
          <p:cNvSpPr/>
          <p:nvPr/>
        </p:nvSpPr>
        <p:spPr>
          <a:xfrm>
            <a:off x="3063240" y="5486400"/>
            <a:ext cx="4069080" cy="7315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59669"/>
                </a:solidFill>
                <a:latin typeface="Segoe UI"/>
              </a:defRPr>
            </a:pPr>
            <a:r>
              <a:t>✔ ĐẶT HÀNG THÀNH CÔNG: KHẤU TRỪ TỒN KHO &amp; GHI NHẬN ATTRIBUTION</a:t>
            </a:r>
          </a:p>
          <a:p>
            <a:pPr>
              <a:defRPr sz="819">
                <a:solidFill>
                  <a:srgbClr val="1A1612"/>
                </a:solidFill>
                <a:latin typeface="Segoe UI"/>
              </a:defRPr>
            </a:pPr>
            <a:r>
              <a:t>Đơn hàng tạo thành công (PENDING_CONFIRMATION), trừ kho tức thời, gắn chặt mã KOL Attribution. Hàng đợi BullMQ gửi email xác nhận hóa đơn.</a:t>
            </a:r>
          </a:p>
        </p:txBody>
      </p:sp>
      <p:sp>
        <p:nvSpPr>
          <p:cNvPr id="35" name="Rounded Rectangle 34"/>
          <p:cNvSpPr/>
          <p:nvPr/>
        </p:nvSpPr>
        <p:spPr>
          <a:xfrm>
            <a:off x="7269480" y="5486400"/>
            <a:ext cx="4069080" cy="731520"/>
          </a:xfrm>
          <a:prstGeom prst="roundRect">
            <a:avLst/>
          </a:prstGeom>
          <a:solidFill>
            <a:srgbClr val="FEF2F2"/>
          </a:solidFill>
          <a:ln>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DC2626"/>
                </a:solidFill>
                <a:latin typeface="Segoe UI"/>
              </a:defRPr>
            </a:pPr>
            <a:r>
              <a:t>✖ CHẶN SPAM CLICK &amp; HỦY ĐƠN QUÁ HẠN THANH TOÁN</a:t>
            </a:r>
          </a:p>
          <a:p>
            <a:pPr>
              <a:defRPr sz="819">
                <a:solidFill>
                  <a:srgbClr val="1A1612"/>
                </a:solidFill>
                <a:latin typeface="Segoe UI"/>
              </a:defRPr>
            </a:pPr>
            <a:r>
              <a:t>Redis chặn click tặc gian lận; Đơn VietQR không thanh toán sau 15 phút sẽ tự động giải phóng tồn kho về lại cho sàn.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4 • MAIN FLOW 4/5</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FLOW 4: ĐÓNG GÓI VẬN CHUYỂN, BẢO CHỨNG ESCROW 14D &amp; ĐỔI TRẢ</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Quy trình điều phối vận chuyển liên kết GHN, cơ chế giam hoa hồng tại Quỹ Escrow 14 ngày và giải thuật Clawback thu hồi tiền khi có tranh chấp</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09</a:t>
            </a:r>
          </a:p>
        </p:txBody>
      </p:sp>
      <p:sp>
        <p:nvSpPr>
          <p:cNvPr id="12" name="Rounded Rectangle 11"/>
          <p:cNvSpPr/>
          <p:nvPr/>
        </p:nvSpPr>
        <p:spPr>
          <a:xfrm>
            <a:off x="731520" y="1353312"/>
            <a:ext cx="10728655" cy="457200"/>
          </a:xfrm>
          <a:prstGeom prst="roundRect">
            <a:avLst/>
          </a:prstGeom>
          <a:solidFill>
            <a:srgbClr val="F3EFE6"/>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1D15"/>
                </a:solidFill>
                <a:latin typeface="Segoe UI"/>
              </a:defRPr>
            </a:pPr>
            <a:r>
              <a:t>  CÁC TÁC NHÂN (ACTORS):   </a:t>
            </a:r>
            <a:r>
              <a:rPr b="1">
                <a:solidFill>
                  <a:srgbClr val="B88E4F"/>
                </a:solidFill>
              </a:rPr>
              <a:t>[Shop: Chủ Shop Xuất Kho]   ➔   </a:t>
            </a:r>
            <a:r>
              <a:rPr b="1">
                <a:solidFill>
                  <a:srgbClr val="B88E4F"/>
                </a:solidFill>
              </a:rPr>
              <a:t>[Logistics: Đơn Vị Giao Hàng (GHN)]   ➔   </a:t>
            </a:r>
            <a:r>
              <a:rPr b="1">
                <a:solidFill>
                  <a:srgbClr val="B88E4F"/>
                </a:solidFill>
              </a:rPr>
              <a:t>[Customer: Người Nhận Bưu Kiện]   ➔   </a:t>
            </a:r>
            <a:r>
              <a:rPr b="1">
                <a:solidFill>
                  <a:srgbClr val="B88E4F"/>
                </a:solidFill>
              </a:rPr>
              <a:t>[System: Quỹ Bảo Chứng Escrow]</a:t>
            </a:r>
          </a:p>
        </p:txBody>
      </p:sp>
      <p:sp>
        <p:nvSpPr>
          <p:cNvPr id="13" name="Rounded Rectangle 12"/>
          <p:cNvSpPr/>
          <p:nvPr/>
        </p:nvSpPr>
        <p:spPr>
          <a:xfrm>
            <a:off x="731520"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1 • SHOP &amp; GHN</a:t>
            </a:r>
          </a:p>
        </p:txBody>
      </p:sp>
      <p:sp>
        <p:nvSpPr>
          <p:cNvPr id="15" name="TextBox 14"/>
          <p:cNvSpPr txBox="1"/>
          <p:nvPr/>
        </p:nvSpPr>
        <p:spPr>
          <a:xfrm>
            <a:off x="822960" y="2331720"/>
            <a:ext cx="2359152" cy="594360"/>
          </a:xfrm>
          <a:prstGeom prst="rect">
            <a:avLst/>
          </a:prstGeom>
          <a:noFill/>
        </p:spPr>
        <p:txBody>
          <a:bodyPr wrap="square">
            <a:spAutoFit/>
          </a:bodyPr>
          <a:lstStyle/>
          <a:p>
            <a:pPr>
              <a:defRPr sz="1100" b="1">
                <a:solidFill>
                  <a:srgbClr val="1A1612"/>
                </a:solidFill>
                <a:latin typeface="Segoe UI"/>
              </a:defRPr>
            </a:pPr>
            <a:r>
              <a:t>Xác Nhận &amp; Xuất Kho Bưu Kiện</a:t>
            </a:r>
          </a:p>
        </p:txBody>
      </p:sp>
      <p:sp>
        <p:nvSpPr>
          <p:cNvPr id="16" name="TextBox 15"/>
          <p:cNvSpPr txBox="1"/>
          <p:nvPr/>
        </p:nvSpPr>
        <p:spPr>
          <a:xfrm>
            <a:off x="822960" y="2926080"/>
            <a:ext cx="2359152" cy="2240280"/>
          </a:xfrm>
          <a:prstGeom prst="rect">
            <a:avLst/>
          </a:prstGeom>
          <a:noFill/>
        </p:spPr>
        <p:txBody>
          <a:bodyPr wrap="square">
            <a:spAutoFit/>
          </a:bodyPr>
          <a:lstStyle/>
          <a:p>
            <a:pPr>
              <a:defRPr sz="900">
                <a:solidFill>
                  <a:srgbClr val="7D715E"/>
                </a:solidFill>
                <a:latin typeface="Segoe UI"/>
              </a:defRPr>
            </a:pPr>
            <a:r>
              <a:t>• Shop xác nhận đơn, in phiếu giao hàng A6 chuẩn Barcode Code-128.</a:t>
            </a:r>
          </a:p>
          <a:p>
            <a:pPr>
              <a:defRPr sz="900">
                <a:solidFill>
                  <a:srgbClr val="7D715E"/>
                </a:solidFill>
                <a:latin typeface="Segoe UI"/>
              </a:defRPr>
            </a:pPr>
            <a:r>
              <a:t>• Bàn giao kiện hàng cho bưu tá Giao Hàng Nhanh (GHN).</a:t>
            </a:r>
          </a:p>
          <a:p>
            <a:pPr>
              <a:defRPr sz="900">
                <a:solidFill>
                  <a:srgbClr val="7D715E"/>
                </a:solidFill>
                <a:latin typeface="Segoe UI"/>
              </a:defRPr>
            </a:pPr>
            <a:r>
              <a:t>• Đơn hàng cập nhật sang trạng thái SHIPPED.</a:t>
            </a:r>
          </a:p>
          <a:p>
            <a:pPr>
              <a:defRPr sz="900">
                <a:solidFill>
                  <a:srgbClr val="7D715E"/>
                </a:solidFill>
                <a:latin typeface="Segoe UI"/>
              </a:defRPr>
            </a:pPr>
            <a:r>
              <a:t>• Hệ thống gửi mã vận đơn theo dõi tới khách hàng.</a:t>
            </a:r>
          </a:p>
        </p:txBody>
      </p:sp>
      <p:sp>
        <p:nvSpPr>
          <p:cNvPr id="17" name="Right Arrow 16"/>
          <p:cNvSpPr/>
          <p:nvPr/>
        </p:nvSpPr>
        <p:spPr>
          <a:xfrm>
            <a:off x="3310128"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56432"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2 • CUSTOMER &amp; SYSTEM</a:t>
            </a:r>
          </a:p>
        </p:txBody>
      </p:sp>
      <p:sp>
        <p:nvSpPr>
          <p:cNvPr id="20" name="TextBox 19"/>
          <p:cNvSpPr txBox="1"/>
          <p:nvPr/>
        </p:nvSpPr>
        <p:spPr>
          <a:xfrm>
            <a:off x="3547872" y="2331720"/>
            <a:ext cx="2359152" cy="594360"/>
          </a:xfrm>
          <a:prstGeom prst="rect">
            <a:avLst/>
          </a:prstGeom>
          <a:noFill/>
        </p:spPr>
        <p:txBody>
          <a:bodyPr wrap="square">
            <a:spAutoFit/>
          </a:bodyPr>
          <a:lstStyle/>
          <a:p>
            <a:pPr>
              <a:defRPr sz="1100" b="1">
                <a:solidFill>
                  <a:srgbClr val="1A1612"/>
                </a:solidFill>
                <a:latin typeface="Segoe UI"/>
              </a:defRPr>
            </a:pPr>
            <a:r>
              <a:t>Tra Cứu Lộ Trình Thời Gian Thực</a:t>
            </a:r>
          </a:p>
        </p:txBody>
      </p:sp>
      <p:sp>
        <p:nvSpPr>
          <p:cNvPr id="21" name="TextBox 20"/>
          <p:cNvSpPr txBox="1"/>
          <p:nvPr/>
        </p:nvSpPr>
        <p:spPr>
          <a:xfrm>
            <a:off x="3547872" y="2926080"/>
            <a:ext cx="2359152" cy="2240280"/>
          </a:xfrm>
          <a:prstGeom prst="rect">
            <a:avLst/>
          </a:prstGeom>
          <a:noFill/>
        </p:spPr>
        <p:txBody>
          <a:bodyPr wrap="square">
            <a:spAutoFit/>
          </a:bodyPr>
          <a:lstStyle/>
          <a:p>
            <a:pPr>
              <a:defRPr sz="900">
                <a:solidFill>
                  <a:srgbClr val="7D715E"/>
                </a:solidFill>
                <a:latin typeface="Segoe UI"/>
              </a:defRPr>
            </a:pPr>
            <a:r>
              <a:t>• Khách hàng truy cập /tracking bằng SĐT hoặc mã đơn hàng.</a:t>
            </a:r>
          </a:p>
          <a:p>
            <a:pPr>
              <a:defRPr sz="900">
                <a:solidFill>
                  <a:srgbClr val="7D715E"/>
                </a:solidFill>
                <a:latin typeface="Segoe UI"/>
              </a:defRPr>
            </a:pPr>
            <a:r>
              <a:t>• Hệ thống nhận Webhook GHN cập nhật timeline chi tiết từng bưu cục.</a:t>
            </a:r>
          </a:p>
          <a:p>
            <a:pPr>
              <a:defRPr sz="900">
                <a:solidFill>
                  <a:srgbClr val="7D715E"/>
                </a:solidFill>
                <a:latin typeface="Segoe UI"/>
              </a:defRPr>
            </a:pPr>
            <a:r>
              <a:t>• Bưu tá giao hàng thành công ➔ Trạng thái chuyển sang DELIVERED.</a:t>
            </a:r>
          </a:p>
          <a:p>
            <a:pPr>
              <a:defRPr sz="900">
                <a:solidFill>
                  <a:srgbClr val="7D715E"/>
                </a:solidFill>
                <a:latin typeface="Segoe UI"/>
              </a:defRPr>
            </a:pPr>
            <a:r>
              <a:t>• Khách hàng mở quyền viết Đánh giá sản phẩm xác thực.</a:t>
            </a:r>
          </a:p>
        </p:txBody>
      </p:sp>
      <p:sp>
        <p:nvSpPr>
          <p:cNvPr id="22" name="Right Arrow 21"/>
          <p:cNvSpPr/>
          <p:nvPr/>
        </p:nvSpPr>
        <p:spPr>
          <a:xfrm>
            <a:off x="6035040"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81344"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3 • SYSTEM (ESCROW)</a:t>
            </a:r>
          </a:p>
        </p:txBody>
      </p:sp>
      <p:sp>
        <p:nvSpPr>
          <p:cNvPr id="25" name="TextBox 24"/>
          <p:cNvSpPr txBox="1"/>
          <p:nvPr/>
        </p:nvSpPr>
        <p:spPr>
          <a:xfrm>
            <a:off x="6272784" y="2331720"/>
            <a:ext cx="2359152" cy="594360"/>
          </a:xfrm>
          <a:prstGeom prst="rect">
            <a:avLst/>
          </a:prstGeom>
          <a:noFill/>
        </p:spPr>
        <p:txBody>
          <a:bodyPr wrap="square">
            <a:spAutoFit/>
          </a:bodyPr>
          <a:lstStyle/>
          <a:p>
            <a:pPr>
              <a:defRPr sz="1100" b="1">
                <a:solidFill>
                  <a:srgbClr val="1A1612"/>
                </a:solidFill>
                <a:latin typeface="Segoe UI"/>
              </a:defRPr>
            </a:pPr>
            <a:r>
              <a:t>Kích Hoạt Quỹ Bảo Chứng Escrow</a:t>
            </a:r>
          </a:p>
        </p:txBody>
      </p:sp>
      <p:sp>
        <p:nvSpPr>
          <p:cNvPr id="26" name="TextBox 25"/>
          <p:cNvSpPr txBox="1"/>
          <p:nvPr/>
        </p:nvSpPr>
        <p:spPr>
          <a:xfrm>
            <a:off x="6272784" y="2926080"/>
            <a:ext cx="2359152" cy="2240280"/>
          </a:xfrm>
          <a:prstGeom prst="rect">
            <a:avLst/>
          </a:prstGeom>
          <a:noFill/>
        </p:spPr>
        <p:txBody>
          <a:bodyPr wrap="square">
            <a:spAutoFit/>
          </a:bodyPr>
          <a:lstStyle/>
          <a:p>
            <a:pPr>
              <a:defRPr sz="900">
                <a:solidFill>
                  <a:srgbClr val="7D715E"/>
                </a:solidFill>
                <a:latin typeface="Segoe UI"/>
              </a:defRPr>
            </a:pPr>
            <a:r>
              <a:t>• Hoa hồng của KOL được tính toán tự động theo tỷ lệ cam kết.</a:t>
            </a:r>
          </a:p>
          <a:p>
            <a:pPr>
              <a:defRPr sz="900">
                <a:solidFill>
                  <a:srgbClr val="7D715E"/>
                </a:solidFill>
                <a:latin typeface="Segoe UI"/>
              </a:defRPr>
            </a:pPr>
            <a:r>
              <a:t>• Hệ thống tạm giữ hoa hồng tại Ví Chờ (Pending Escrow) 14 ngày.</a:t>
            </a:r>
          </a:p>
          <a:p>
            <a:pPr>
              <a:defRPr sz="900">
                <a:solidFill>
                  <a:srgbClr val="7D715E"/>
                </a:solidFill>
                <a:latin typeface="Segoe UI"/>
              </a:defRPr>
            </a:pPr>
            <a:r>
              <a:t>• Mục đích: Đảm bảo dòng tiền sàn nếu người mua khiếu nại đổi trả.</a:t>
            </a:r>
          </a:p>
          <a:p>
            <a:pPr>
              <a:defRPr sz="900">
                <a:solidFill>
                  <a:srgbClr val="7D715E"/>
                </a:solidFill>
                <a:latin typeface="Segoe UI"/>
              </a:defRPr>
            </a:pPr>
            <a:r>
              <a:t>• Bảo vệ uy tín cho cả Shop và KOL đối tác.</a:t>
            </a:r>
          </a:p>
        </p:txBody>
      </p:sp>
      <p:sp>
        <p:nvSpPr>
          <p:cNvPr id="27" name="Right Arrow 26"/>
          <p:cNvSpPr/>
          <p:nvPr/>
        </p:nvSpPr>
        <p:spPr>
          <a:xfrm>
            <a:off x="8759952"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06256"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4 • CUSTOMER &amp; SHOP</a:t>
            </a:r>
          </a:p>
        </p:txBody>
      </p:sp>
      <p:sp>
        <p:nvSpPr>
          <p:cNvPr id="30" name="TextBox 29"/>
          <p:cNvSpPr txBox="1"/>
          <p:nvPr/>
        </p:nvSpPr>
        <p:spPr>
          <a:xfrm>
            <a:off x="8997696" y="2331720"/>
            <a:ext cx="2359152" cy="594360"/>
          </a:xfrm>
          <a:prstGeom prst="rect">
            <a:avLst/>
          </a:prstGeom>
          <a:noFill/>
        </p:spPr>
        <p:txBody>
          <a:bodyPr wrap="square">
            <a:spAutoFit/>
          </a:bodyPr>
          <a:lstStyle/>
          <a:p>
            <a:pPr>
              <a:defRPr sz="1100" b="1">
                <a:solidFill>
                  <a:srgbClr val="1A1612"/>
                </a:solidFill>
                <a:latin typeface="Segoe UI"/>
              </a:defRPr>
            </a:pPr>
            <a:r>
              <a:t>Xử Lý Đổi Trả &amp; Phân Xử Khiếu Nại</a:t>
            </a:r>
          </a:p>
        </p:txBody>
      </p:sp>
      <p:sp>
        <p:nvSpPr>
          <p:cNvPr id="31" name="TextBox 30"/>
          <p:cNvSpPr txBox="1"/>
          <p:nvPr/>
        </p:nvSpPr>
        <p:spPr>
          <a:xfrm>
            <a:off x="8997696" y="2926080"/>
            <a:ext cx="2359152" cy="2240280"/>
          </a:xfrm>
          <a:prstGeom prst="rect">
            <a:avLst/>
          </a:prstGeom>
          <a:noFill/>
        </p:spPr>
        <p:txBody>
          <a:bodyPr wrap="square">
            <a:spAutoFit/>
          </a:bodyPr>
          <a:lstStyle/>
          <a:p>
            <a:pPr>
              <a:defRPr sz="900">
                <a:solidFill>
                  <a:srgbClr val="7D715E"/>
                </a:solidFill>
                <a:latin typeface="Segoe UI"/>
              </a:defRPr>
            </a:pPr>
            <a:r>
              <a:t>• Khách hàng gửi yêu cầu Trả hàng / Hoàn tiền (Return Request).</a:t>
            </a:r>
          </a:p>
          <a:p>
            <a:pPr>
              <a:defRPr sz="900">
                <a:solidFill>
                  <a:srgbClr val="7D715E"/>
                </a:solidFill>
                <a:latin typeface="Segoe UI"/>
              </a:defRPr>
            </a:pPr>
            <a:r>
              <a:t>• Bắt buộc tải lên Video mở hộp bóc bưu kiện làm minh chứng.</a:t>
            </a:r>
          </a:p>
          <a:p>
            <a:pPr>
              <a:defRPr sz="900">
                <a:solidFill>
                  <a:srgbClr val="7D715E"/>
                </a:solidFill>
                <a:latin typeface="Segoe UI"/>
              </a:defRPr>
            </a:pPr>
            <a:r>
              <a:t>• Shop thẩm định bằng chứng qua giao diện đối soát Split-View.</a:t>
            </a:r>
          </a:p>
          <a:p>
            <a:pPr>
              <a:defRPr sz="900">
                <a:solidFill>
                  <a:srgbClr val="7D715E"/>
                </a:solidFill>
                <a:latin typeface="Segoe UI"/>
              </a:defRPr>
            </a:pPr>
            <a:r>
              <a:t>• Admin can thiệp phân xử nếu hai bên xảy ra tranh chấp kéo dài.</a:t>
            </a:r>
          </a:p>
        </p:txBody>
      </p:sp>
      <p:sp>
        <p:nvSpPr>
          <p:cNvPr id="32" name="Rounded Rectangle 31"/>
          <p:cNvSpPr/>
          <p:nvPr/>
        </p:nvSpPr>
        <p:spPr>
          <a:xfrm>
            <a:off x="731520" y="5394960"/>
            <a:ext cx="10728655" cy="93268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49824"/>
            <a:ext cx="2148840" cy="822960"/>
          </a:xfrm>
          <a:prstGeom prst="rect">
            <a:avLst/>
          </a:prstGeom>
          <a:noFill/>
        </p:spPr>
        <p:txBody>
          <a:bodyPr wrap="none">
            <a:spAutoFit/>
          </a:bodyPr>
          <a:lstStyle/>
          <a:p>
            <a:pPr>
              <a:defRPr sz="900" b="1">
                <a:solidFill>
                  <a:srgbClr val="B88E4F"/>
                </a:solidFill>
                <a:latin typeface="Segoe UI"/>
              </a:defRPr>
            </a:pPr>
            <a:r>
              <a:t>ĐIỂM RẼ NHÁNH</a:t>
            </a:r>
          </a:p>
          <a:p>
            <a:pPr>
              <a:defRPr sz="850">
                <a:solidFill>
                  <a:srgbClr val="7D715E"/>
                </a:solidFill>
                <a:latin typeface="Segoe UI"/>
              </a:defRPr>
            </a:pPr>
            <a:r>
              <a:t>Đối soát khiếu nại đổi trả hàng của khách</a:t>
            </a:r>
          </a:p>
        </p:txBody>
      </p:sp>
      <p:sp>
        <p:nvSpPr>
          <p:cNvPr id="34" name="Rounded Rectangle 33"/>
          <p:cNvSpPr/>
          <p:nvPr/>
        </p:nvSpPr>
        <p:spPr>
          <a:xfrm>
            <a:off x="3063240" y="5486400"/>
            <a:ext cx="4069080" cy="7315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59669"/>
                </a:solidFill>
                <a:latin typeface="Segoe UI"/>
              </a:defRPr>
            </a:pPr>
            <a:r>
              <a:t>✔ CHẤP THUẬN HOÀN TRẢ: KÍCH HOẠT CLAWBACK THU HỒI HOA HỒNG</a:t>
            </a:r>
          </a:p>
          <a:p>
            <a:pPr>
              <a:defRPr sz="819">
                <a:solidFill>
                  <a:srgbClr val="1A1612"/>
                </a:solidFill>
                <a:latin typeface="Segoe UI"/>
              </a:defRPr>
            </a:pPr>
            <a:r>
              <a:t>Minh chứng hợp lệ ➔ Hoàn tiền 100% cho khách, Clawback Engine tự động thu hồi hoa hồng tạm giữ về 0đ. Sàn không bị thất thoát tiền tệ.</a:t>
            </a:r>
          </a:p>
        </p:txBody>
      </p:sp>
      <p:sp>
        <p:nvSpPr>
          <p:cNvPr id="35" name="Rounded Rectangle 34"/>
          <p:cNvSpPr/>
          <p:nvPr/>
        </p:nvSpPr>
        <p:spPr>
          <a:xfrm>
            <a:off x="7269480" y="5486400"/>
            <a:ext cx="4069080" cy="731520"/>
          </a:xfrm>
          <a:prstGeom prst="roundRect">
            <a:avLst/>
          </a:prstGeom>
          <a:solidFill>
            <a:srgbClr val="FEF2F2"/>
          </a:solidFill>
          <a:ln>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DC2626"/>
                </a:solidFill>
                <a:latin typeface="Segoe UI"/>
              </a:defRPr>
            </a:pPr>
            <a:r>
              <a:t>✖ HẾT 14 NGÀY AN TOÀN: ESCROW TỰ ĐỘNG GIẢI PHÓNG TIỀN VỀ VÍ</a:t>
            </a:r>
          </a:p>
          <a:p>
            <a:pPr>
              <a:defRPr sz="819">
                <a:solidFill>
                  <a:srgbClr val="1A1612"/>
                </a:solidFill>
                <a:latin typeface="Segoe UI"/>
              </a:defRPr>
            </a:pPr>
            <a:r>
              <a:t>Không có khiếu nại sau 14 ngày ➔ Quỹ bảo chứng tự động giải phóng hoa hồng từ Ví Chờ sang Ví Khả Dụng để đối tác có thể rút tiền.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4 • MAIN FLOW 5/5</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FLOW 5: VÍ TIỀN ĐỐI TÁC, PESSIMISTIC LOCK, THUẾ &amp; PAYOUT</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Tự động mở khóa số dư sau 14 ngày, thuật toán khóa dòng CSDL ngăn chặn rút tiền đồng thời, khấu trừ 10% thuế TNCN và chi trả lô VietQR Napas 24/7</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10</a:t>
            </a:r>
          </a:p>
        </p:txBody>
      </p:sp>
      <p:sp>
        <p:nvSpPr>
          <p:cNvPr id="12" name="Rounded Rectangle 11"/>
          <p:cNvSpPr/>
          <p:nvPr/>
        </p:nvSpPr>
        <p:spPr>
          <a:xfrm>
            <a:off x="731520" y="1353312"/>
            <a:ext cx="10728655" cy="457200"/>
          </a:xfrm>
          <a:prstGeom prst="roundRect">
            <a:avLst/>
          </a:prstGeom>
          <a:solidFill>
            <a:srgbClr val="F3EFE6"/>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1D15"/>
                </a:solidFill>
                <a:latin typeface="Segoe UI"/>
              </a:defRPr>
            </a:pPr>
            <a:r>
              <a:t>  CÁC TÁC NHÂN (ACTORS):   </a:t>
            </a:r>
            <a:r>
              <a:rPr b="1">
                <a:solidFill>
                  <a:srgbClr val="B88E4F"/>
                </a:solidFill>
              </a:rPr>
              <a:t>[Cronjob: Tác Vụ Tự Động Quét Lô]   ➔   </a:t>
            </a:r>
            <a:r>
              <a:rPr b="1">
                <a:solidFill>
                  <a:srgbClr val="B88E4F"/>
                </a:solidFill>
              </a:rPr>
              <a:t>[Partner: KOL / Shop Rút Tiền]   ➔   </a:t>
            </a:r>
            <a:r>
              <a:rPr b="1">
                <a:solidFill>
                  <a:srgbClr val="B88E4F"/>
                </a:solidFill>
              </a:rPr>
              <a:t>[Ledger: Sổ Cái Tài Chính Bất Biến]   ➔   </a:t>
            </a:r>
            <a:r>
              <a:rPr b="1">
                <a:solidFill>
                  <a:srgbClr val="B88E4F"/>
                </a:solidFill>
              </a:rPr>
              <a:t>[Bank: VietQR Napas 24/7]</a:t>
            </a:r>
          </a:p>
        </p:txBody>
      </p:sp>
      <p:sp>
        <p:nvSpPr>
          <p:cNvPr id="13" name="Rounded Rectangle 12"/>
          <p:cNvSpPr/>
          <p:nvPr/>
        </p:nvSpPr>
        <p:spPr>
          <a:xfrm>
            <a:off x="731520"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1 • SYSTEM (CRONJOB)</a:t>
            </a:r>
          </a:p>
        </p:txBody>
      </p:sp>
      <p:sp>
        <p:nvSpPr>
          <p:cNvPr id="15" name="TextBox 14"/>
          <p:cNvSpPr txBox="1"/>
          <p:nvPr/>
        </p:nvSpPr>
        <p:spPr>
          <a:xfrm>
            <a:off x="822960" y="2331720"/>
            <a:ext cx="2359152" cy="594360"/>
          </a:xfrm>
          <a:prstGeom prst="rect">
            <a:avLst/>
          </a:prstGeom>
          <a:noFill/>
        </p:spPr>
        <p:txBody>
          <a:bodyPr wrap="square">
            <a:spAutoFit/>
          </a:bodyPr>
          <a:lstStyle/>
          <a:p>
            <a:pPr>
              <a:defRPr sz="1100" b="1">
                <a:solidFill>
                  <a:srgbClr val="1A1612"/>
                </a:solidFill>
                <a:latin typeface="Segoe UI"/>
              </a:defRPr>
            </a:pPr>
            <a:r>
              <a:t>Tự Động Mở Khóa Số Dư Sau 14D</a:t>
            </a:r>
          </a:p>
        </p:txBody>
      </p:sp>
      <p:sp>
        <p:nvSpPr>
          <p:cNvPr id="16" name="TextBox 15"/>
          <p:cNvSpPr txBox="1"/>
          <p:nvPr/>
        </p:nvSpPr>
        <p:spPr>
          <a:xfrm>
            <a:off x="822960" y="2926080"/>
            <a:ext cx="2359152" cy="2240280"/>
          </a:xfrm>
          <a:prstGeom prst="rect">
            <a:avLst/>
          </a:prstGeom>
          <a:noFill/>
        </p:spPr>
        <p:txBody>
          <a:bodyPr wrap="square">
            <a:spAutoFit/>
          </a:bodyPr>
          <a:lstStyle/>
          <a:p>
            <a:pPr>
              <a:defRPr sz="900">
                <a:solidFill>
                  <a:srgbClr val="7D715E"/>
                </a:solidFill>
                <a:latin typeface="Segoe UI"/>
              </a:defRPr>
            </a:pPr>
            <a:r>
              <a:t>• Cronjob chạy định kỳ quét các đơn hàng hoàn tất quá 14 ngày.</a:t>
            </a:r>
          </a:p>
          <a:p>
            <a:pPr>
              <a:defRPr sz="900">
                <a:solidFill>
                  <a:srgbClr val="7D715E"/>
                </a:solidFill>
                <a:latin typeface="Segoe UI"/>
              </a:defRPr>
            </a:pPr>
            <a:r>
              <a:t>• Tự động giải phóng hoa hồng từ Ví Chờ sang Ví Khả Dụng.</a:t>
            </a:r>
          </a:p>
          <a:p>
            <a:pPr>
              <a:defRPr sz="900">
                <a:solidFill>
                  <a:srgbClr val="7D715E"/>
                </a:solidFill>
                <a:latin typeface="Segoe UI"/>
              </a:defRPr>
            </a:pPr>
            <a:r>
              <a:t>• Gửi thông báo biến động số dư tức thời qua WebSocket và Email.</a:t>
            </a:r>
          </a:p>
          <a:p>
            <a:pPr>
              <a:defRPr sz="900">
                <a:solidFill>
                  <a:srgbClr val="7D715E"/>
                </a:solidFill>
                <a:latin typeface="Segoe UI"/>
              </a:defRPr>
            </a:pPr>
            <a:r>
              <a:t>• Đối tác tích lũy số dư sẵn sàng tạo lệnh rút tiền.</a:t>
            </a:r>
          </a:p>
        </p:txBody>
      </p:sp>
      <p:sp>
        <p:nvSpPr>
          <p:cNvPr id="17" name="Right Arrow 16"/>
          <p:cNvSpPr/>
          <p:nvPr/>
        </p:nvSpPr>
        <p:spPr>
          <a:xfrm>
            <a:off x="3310128"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56432"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2 • KOL / PARTNER</a:t>
            </a:r>
          </a:p>
        </p:txBody>
      </p:sp>
      <p:sp>
        <p:nvSpPr>
          <p:cNvPr id="20" name="TextBox 19"/>
          <p:cNvSpPr txBox="1"/>
          <p:nvPr/>
        </p:nvSpPr>
        <p:spPr>
          <a:xfrm>
            <a:off x="3547872" y="2331720"/>
            <a:ext cx="2359152" cy="594360"/>
          </a:xfrm>
          <a:prstGeom prst="rect">
            <a:avLst/>
          </a:prstGeom>
          <a:noFill/>
        </p:spPr>
        <p:txBody>
          <a:bodyPr wrap="square">
            <a:spAutoFit/>
          </a:bodyPr>
          <a:lstStyle/>
          <a:p>
            <a:pPr>
              <a:defRPr sz="1100" b="1">
                <a:solidFill>
                  <a:srgbClr val="1A1612"/>
                </a:solidFill>
                <a:latin typeface="Segoe UI"/>
              </a:defRPr>
            </a:pPr>
            <a:r>
              <a:t>Tạo Yêu Cầu Rút Tiền (Payout)</a:t>
            </a:r>
          </a:p>
        </p:txBody>
      </p:sp>
      <p:sp>
        <p:nvSpPr>
          <p:cNvPr id="21" name="TextBox 20"/>
          <p:cNvSpPr txBox="1"/>
          <p:nvPr/>
        </p:nvSpPr>
        <p:spPr>
          <a:xfrm>
            <a:off x="3547872" y="2926080"/>
            <a:ext cx="2359152" cy="2240280"/>
          </a:xfrm>
          <a:prstGeom prst="rect">
            <a:avLst/>
          </a:prstGeom>
          <a:noFill/>
        </p:spPr>
        <p:txBody>
          <a:bodyPr wrap="square">
            <a:spAutoFit/>
          </a:bodyPr>
          <a:lstStyle/>
          <a:p>
            <a:pPr>
              <a:defRPr sz="900">
                <a:solidFill>
                  <a:srgbClr val="7D715E"/>
                </a:solidFill>
                <a:latin typeface="Segoe UI"/>
              </a:defRPr>
            </a:pPr>
            <a:r>
              <a:t>• KOL mở màn hình Ví tiền đối tác (/collaborator/wallet).</a:t>
            </a:r>
          </a:p>
          <a:p>
            <a:pPr>
              <a:defRPr sz="900">
                <a:solidFill>
                  <a:srgbClr val="7D715E"/>
                </a:solidFill>
                <a:latin typeface="Segoe UI"/>
              </a:defRPr>
            </a:pPr>
            <a:r>
              <a:t>• Nhập số tiền muốn rút về tài khoản ngân hàng chính chủ đã KYC.</a:t>
            </a:r>
          </a:p>
          <a:p>
            <a:pPr>
              <a:defRPr sz="900">
                <a:solidFill>
                  <a:srgbClr val="7D715E"/>
                </a:solidFill>
                <a:latin typeface="Segoe UI"/>
              </a:defRPr>
            </a:pPr>
            <a:r>
              <a:t>• Kiểm tra hạn mức rút tối thiểu (từ 100.000 VNĐ).</a:t>
            </a:r>
          </a:p>
          <a:p>
            <a:pPr>
              <a:defRPr sz="900">
                <a:solidFill>
                  <a:srgbClr val="7D715E"/>
                </a:solidFill>
                <a:latin typeface="Segoe UI"/>
              </a:defRPr>
            </a:pPr>
            <a:r>
              <a:t>• Bấm 'Gửi yêu cầu rút tiền an toàn'.</a:t>
            </a:r>
          </a:p>
        </p:txBody>
      </p:sp>
      <p:sp>
        <p:nvSpPr>
          <p:cNvPr id="22" name="Right Arrow 21"/>
          <p:cNvSpPr/>
          <p:nvPr/>
        </p:nvSpPr>
        <p:spPr>
          <a:xfrm>
            <a:off x="6035040"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81344" y="1920240"/>
            <a:ext cx="2542032" cy="3364992"/>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3 • SYSTEM (DB LOCK)</a:t>
            </a:r>
          </a:p>
        </p:txBody>
      </p:sp>
      <p:sp>
        <p:nvSpPr>
          <p:cNvPr id="25" name="TextBox 24"/>
          <p:cNvSpPr txBox="1"/>
          <p:nvPr/>
        </p:nvSpPr>
        <p:spPr>
          <a:xfrm>
            <a:off x="6272784" y="2331720"/>
            <a:ext cx="2359152" cy="594360"/>
          </a:xfrm>
          <a:prstGeom prst="rect">
            <a:avLst/>
          </a:prstGeom>
          <a:noFill/>
        </p:spPr>
        <p:txBody>
          <a:bodyPr wrap="square">
            <a:spAutoFit/>
          </a:bodyPr>
          <a:lstStyle/>
          <a:p>
            <a:pPr>
              <a:defRPr sz="1100" b="1">
                <a:solidFill>
                  <a:srgbClr val="1A1612"/>
                </a:solidFill>
                <a:latin typeface="Segoe UI"/>
              </a:defRPr>
            </a:pPr>
            <a:r>
              <a:t>Khóa Bi Quan (SELECT FOR UPDATE)</a:t>
            </a:r>
          </a:p>
        </p:txBody>
      </p:sp>
      <p:sp>
        <p:nvSpPr>
          <p:cNvPr id="26" name="TextBox 25"/>
          <p:cNvSpPr txBox="1"/>
          <p:nvPr/>
        </p:nvSpPr>
        <p:spPr>
          <a:xfrm>
            <a:off x="6272784" y="2926080"/>
            <a:ext cx="2359152" cy="2240280"/>
          </a:xfrm>
          <a:prstGeom prst="rect">
            <a:avLst/>
          </a:prstGeom>
          <a:noFill/>
        </p:spPr>
        <p:txBody>
          <a:bodyPr wrap="square">
            <a:spAutoFit/>
          </a:bodyPr>
          <a:lstStyle/>
          <a:p>
            <a:pPr>
              <a:defRPr sz="900">
                <a:solidFill>
                  <a:srgbClr val="7D715E"/>
                </a:solidFill>
                <a:latin typeface="Segoe UI"/>
              </a:defRPr>
            </a:pPr>
            <a:r>
              <a:t>• Kích hoạt khóa hàng CSDL Pessimistic Locking trong Transaction.</a:t>
            </a:r>
          </a:p>
          <a:p>
            <a:pPr>
              <a:defRPr sz="900">
                <a:solidFill>
                  <a:srgbClr val="7D715E"/>
                </a:solidFill>
                <a:latin typeface="Segoe UI"/>
              </a:defRPr>
            </a:pPr>
            <a:r>
              <a:t>• Ngăn chặn triệt để tấn công Double-spending (rút tiền đồng thời đa tab).</a:t>
            </a:r>
          </a:p>
          <a:p>
            <a:pPr>
              <a:defRPr sz="900">
                <a:solidFill>
                  <a:srgbClr val="7D715E"/>
                </a:solidFill>
                <a:latin typeface="Segoe UI"/>
              </a:defRPr>
            </a:pPr>
            <a:r>
              <a:t>• Đảm bảo số dư ví không bao giờ bị âm dưới mọi trường hợp tải cao.</a:t>
            </a:r>
          </a:p>
          <a:p>
            <a:pPr>
              <a:defRPr sz="900">
                <a:solidFill>
                  <a:srgbClr val="7D715E"/>
                </a:solidFill>
                <a:latin typeface="Segoe UI"/>
              </a:defRPr>
            </a:pPr>
            <a:r>
              <a:t>• Ghi nhận giao dịch vào Sổ cái bất biến (Financial Ledger).</a:t>
            </a:r>
          </a:p>
        </p:txBody>
      </p:sp>
      <p:sp>
        <p:nvSpPr>
          <p:cNvPr id="27" name="Right Arrow 26"/>
          <p:cNvSpPr/>
          <p:nvPr/>
        </p:nvSpPr>
        <p:spPr>
          <a:xfrm>
            <a:off x="8759952" y="3474720"/>
            <a:ext cx="109728" cy="182880"/>
          </a:xfrm>
          <a:prstGeom prst="rightArrow">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06256" y="1920240"/>
            <a:ext cx="2542032" cy="3364992"/>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2029968"/>
            <a:ext cx="2322576" cy="256032"/>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88E4F"/>
                </a:solidFill>
                <a:latin typeface="Segoe UI"/>
              </a:defRPr>
            </a:pPr>
            <a:r>
              <a:t>BƯỚC 4 • ADMIN &amp; NAPAS 24/7</a:t>
            </a:r>
          </a:p>
        </p:txBody>
      </p:sp>
      <p:sp>
        <p:nvSpPr>
          <p:cNvPr id="30" name="TextBox 29"/>
          <p:cNvSpPr txBox="1"/>
          <p:nvPr/>
        </p:nvSpPr>
        <p:spPr>
          <a:xfrm>
            <a:off x="8997696" y="2331720"/>
            <a:ext cx="2359152" cy="594360"/>
          </a:xfrm>
          <a:prstGeom prst="rect">
            <a:avLst/>
          </a:prstGeom>
          <a:noFill/>
        </p:spPr>
        <p:txBody>
          <a:bodyPr wrap="square">
            <a:spAutoFit/>
          </a:bodyPr>
          <a:lstStyle/>
          <a:p>
            <a:pPr>
              <a:defRPr sz="1100" b="1">
                <a:solidFill>
                  <a:srgbClr val="1A1612"/>
                </a:solidFill>
                <a:latin typeface="Segoe UI"/>
              </a:defRPr>
            </a:pPr>
            <a:r>
              <a:t>Khấu Trừ Thuế &amp; Chi Trả Lô VietQR</a:t>
            </a:r>
          </a:p>
        </p:txBody>
      </p:sp>
      <p:sp>
        <p:nvSpPr>
          <p:cNvPr id="31" name="TextBox 30"/>
          <p:cNvSpPr txBox="1"/>
          <p:nvPr/>
        </p:nvSpPr>
        <p:spPr>
          <a:xfrm>
            <a:off x="8997696" y="2926080"/>
            <a:ext cx="2359152" cy="2240280"/>
          </a:xfrm>
          <a:prstGeom prst="rect">
            <a:avLst/>
          </a:prstGeom>
          <a:noFill/>
        </p:spPr>
        <p:txBody>
          <a:bodyPr wrap="square">
            <a:spAutoFit/>
          </a:bodyPr>
          <a:lstStyle/>
          <a:p>
            <a:pPr>
              <a:defRPr sz="900">
                <a:solidFill>
                  <a:srgbClr val="7D715E"/>
                </a:solidFill>
                <a:latin typeface="Segoe UI"/>
              </a:defRPr>
            </a:pPr>
            <a:r>
              <a:t>• Lệnh rút &gt;= 2.000.000 VNĐ: Tự động trích lập 10% thuế TNCN theo luật.</a:t>
            </a:r>
          </a:p>
          <a:p>
            <a:pPr>
              <a:defRPr sz="900">
                <a:solidFill>
                  <a:srgbClr val="7D715E"/>
                </a:solidFill>
                <a:latin typeface="Segoe UI"/>
              </a:defRPr>
            </a:pPr>
            <a:r>
              <a:t>• Admin duyệt lệnh đối soát trên giao diện PayoutApprovalPage.</a:t>
            </a:r>
          </a:p>
          <a:p>
            <a:pPr>
              <a:defRPr sz="900">
                <a:solidFill>
                  <a:srgbClr val="7D715E"/>
                </a:solidFill>
                <a:latin typeface="Segoe UI"/>
              </a:defRPr>
            </a:pPr>
            <a:r>
              <a:t>• Bấm 'Xuất file VietQR Napas247': Xuất file lô chuyển tiền ngân hàng.</a:t>
            </a:r>
          </a:p>
          <a:p>
            <a:pPr>
              <a:defRPr sz="900">
                <a:solidFill>
                  <a:srgbClr val="7D715E"/>
                </a:solidFill>
                <a:latin typeface="Segoe UI"/>
              </a:defRPr>
            </a:pPr>
            <a:r>
              <a:t>• Tải ủy nhiệm chi hoàn tất ➔ Cập nhật Bảng Vinh Danh Leaderboard.</a:t>
            </a:r>
          </a:p>
        </p:txBody>
      </p:sp>
      <p:sp>
        <p:nvSpPr>
          <p:cNvPr id="32" name="Rounded Rectangle 31"/>
          <p:cNvSpPr/>
          <p:nvPr/>
        </p:nvSpPr>
        <p:spPr>
          <a:xfrm>
            <a:off x="731520" y="5394960"/>
            <a:ext cx="10728655" cy="932688"/>
          </a:xfrm>
          <a:prstGeom prst="round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49824"/>
            <a:ext cx="2148840" cy="822960"/>
          </a:xfrm>
          <a:prstGeom prst="rect">
            <a:avLst/>
          </a:prstGeom>
          <a:noFill/>
        </p:spPr>
        <p:txBody>
          <a:bodyPr wrap="none">
            <a:spAutoFit/>
          </a:bodyPr>
          <a:lstStyle/>
          <a:p>
            <a:pPr>
              <a:defRPr sz="900" b="1">
                <a:solidFill>
                  <a:srgbClr val="B88E4F"/>
                </a:solidFill>
                <a:latin typeface="Segoe UI"/>
              </a:defRPr>
            </a:pPr>
            <a:r>
              <a:t>ĐIỂM RẼ NHÁNH</a:t>
            </a:r>
          </a:p>
          <a:p>
            <a:pPr>
              <a:defRPr sz="850">
                <a:solidFill>
                  <a:srgbClr val="7D715E"/>
                </a:solidFill>
                <a:latin typeface="Segoe UI"/>
              </a:defRPr>
            </a:pPr>
            <a:r>
              <a:t>Kiểm tra số dư, điều kiện KYC và trích lập thuế TNCN</a:t>
            </a:r>
          </a:p>
        </p:txBody>
      </p:sp>
      <p:sp>
        <p:nvSpPr>
          <p:cNvPr id="34" name="Rounded Rectangle 33"/>
          <p:cNvSpPr/>
          <p:nvPr/>
        </p:nvSpPr>
        <p:spPr>
          <a:xfrm>
            <a:off x="3063240" y="5486400"/>
            <a:ext cx="4069080" cy="7315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59669"/>
                </a:solidFill>
                <a:latin typeface="Segoe UI"/>
              </a:defRPr>
            </a:pPr>
            <a:r>
              <a:t>✔ DUYỆT CHI TRẢ: BẮN TIỀN LIÊN NGÂN HÀNG NAPAS 24/7</a:t>
            </a:r>
          </a:p>
          <a:p>
            <a:pPr>
              <a:defRPr sz="819">
                <a:solidFill>
                  <a:srgbClr val="1A1612"/>
                </a:solidFill>
                <a:latin typeface="Segoe UI"/>
              </a:defRPr>
            </a:pPr>
            <a:r>
              <a:t>Hồ sơ KYC chuẩn xác, số dư hợp lệ ➔ Xuất file VietQR Napas chuyển tiền tức thời về STK ngân hàng. Trích lập 10% thuế TNCN vào ngân sách nhà nước.</a:t>
            </a:r>
          </a:p>
        </p:txBody>
      </p:sp>
      <p:sp>
        <p:nvSpPr>
          <p:cNvPr id="35" name="Rounded Rectangle 34"/>
          <p:cNvSpPr/>
          <p:nvPr/>
        </p:nvSpPr>
        <p:spPr>
          <a:xfrm>
            <a:off x="7269480" y="5486400"/>
            <a:ext cx="4069080" cy="731520"/>
          </a:xfrm>
          <a:prstGeom prst="roundRect">
            <a:avLst/>
          </a:prstGeom>
          <a:solidFill>
            <a:srgbClr val="FEF2F2"/>
          </a:solidFill>
          <a:ln>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DC2626"/>
                </a:solidFill>
                <a:latin typeface="Segoe UI"/>
              </a:defRPr>
            </a:pPr>
            <a:r>
              <a:t>✖ TỪ CHỐI &amp; HOÀN TIỀN VÍ: BẢO VỆ TÍNH TOÀN VẸN TÀI CHÍNH</a:t>
            </a:r>
          </a:p>
          <a:p>
            <a:pPr>
              <a:defRPr sz="819">
                <a:solidFill>
                  <a:srgbClr val="1A1612"/>
                </a:solidFill>
                <a:latin typeface="Segoe UI"/>
              </a:defRPr>
            </a:pPr>
            <a:r>
              <a:t>STK ngân hàng không khớp tên KYC hoặc phát hiện dấu hiệu bất thường ➔ Từ chối lệnh, tự động hoàn trả số dư về ví và yêu cầu đối tác xác minh lại.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43584"/>
          </a:xfrm>
          <a:prstGeom prst="rect">
            <a:avLst/>
          </a:prstGeom>
          <a:solidFill>
            <a:srgbClr val="FFFFFF"/>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
            <a:ext cx="3291840" cy="237744"/>
          </a:xfrm>
          <a:prstGeom prst="roundRect">
            <a:avLst/>
          </a:prstGeom>
          <a:solidFill>
            <a:srgbClr val="FBF5EB"/>
          </a:solidFill>
          <a:ln w="1270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88E4F"/>
                </a:solidFill>
                <a:latin typeface="Segoe UI"/>
              </a:defRPr>
            </a:pPr>
            <a:r>
              <a:t>PHẦN 5 • TÁC VỤ NGẦM TỰ ĐỘNG</a:t>
            </a:r>
          </a:p>
        </p:txBody>
      </p:sp>
      <p:sp>
        <p:nvSpPr>
          <p:cNvPr id="5" name="TextBox 4"/>
          <p:cNvSpPr txBox="1"/>
          <p:nvPr/>
        </p:nvSpPr>
        <p:spPr>
          <a:xfrm>
            <a:off x="685800" y="402336"/>
            <a:ext cx="9326880" cy="384048"/>
          </a:xfrm>
          <a:prstGeom prst="rect">
            <a:avLst/>
          </a:prstGeom>
          <a:noFill/>
        </p:spPr>
        <p:txBody>
          <a:bodyPr wrap="square">
            <a:spAutoFit/>
          </a:bodyPr>
          <a:lstStyle/>
          <a:p>
            <a:pPr>
              <a:defRPr sz="1800" b="1">
                <a:solidFill>
                  <a:srgbClr val="1A1612"/>
                </a:solidFill>
                <a:latin typeface="Segoe UI"/>
              </a:defRPr>
            </a:pPr>
            <a:r>
              <a:t>Hệ Thống Tác Vụ Nền Tự Động (Background Jobs)</a:t>
            </a:r>
          </a:p>
        </p:txBody>
      </p:sp>
      <p:sp>
        <p:nvSpPr>
          <p:cNvPr id="6" name="TextBox 5"/>
          <p:cNvSpPr txBox="1"/>
          <p:nvPr/>
        </p:nvSpPr>
        <p:spPr>
          <a:xfrm>
            <a:off x="685800" y="841248"/>
            <a:ext cx="9326880" cy="329184"/>
          </a:xfrm>
          <a:prstGeom prst="rect">
            <a:avLst/>
          </a:prstGeom>
          <a:noFill/>
        </p:spPr>
        <p:txBody>
          <a:bodyPr wrap="square">
            <a:spAutoFit/>
          </a:bodyPr>
          <a:lstStyle/>
          <a:p>
            <a:pPr>
              <a:defRPr sz="1050">
                <a:solidFill>
                  <a:srgbClr val="7D715E"/>
                </a:solidFill>
                <a:latin typeface="Segoe UI"/>
              </a:defRPr>
            </a:pPr>
            <a:r>
              <a:t>Đảm bảo tính tự động hóa và ổn định vận hành không gián đoạn: Định kỳ (Cronjobs) và Theo sự kiện (Event-driven Queues)</a:t>
            </a:r>
          </a:p>
        </p:txBody>
      </p:sp>
      <p:sp>
        <p:nvSpPr>
          <p:cNvPr id="7" name="Rounded Rectangle 6"/>
          <p:cNvSpPr/>
          <p:nvPr/>
        </p:nvSpPr>
        <p:spPr>
          <a:xfrm>
            <a:off x="10149840" y="182880"/>
            <a:ext cx="1371600" cy="420624"/>
          </a:xfrm>
          <a:prstGeom prst="roundRect">
            <a:avLst/>
          </a:prstGeom>
          <a:solidFill>
            <a:srgbClr val="231D15"/>
          </a:solidFill>
          <a:ln w="12700">
            <a:solidFill>
              <a:srgbClr val="C59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nms-logo-transparent.png"/>
          <p:cNvPicPr>
            <a:picLocks noChangeAspect="1"/>
          </p:cNvPicPr>
          <p:nvPr/>
        </p:nvPicPr>
        <p:blipFill>
          <a:blip r:embed="rId2"/>
          <a:stretch>
            <a:fillRect/>
          </a:stretch>
        </p:blipFill>
        <p:spPr>
          <a:xfrm>
            <a:off x="10195560" y="201168"/>
            <a:ext cx="1280160" cy="388134"/>
          </a:xfrm>
          <a:prstGeom prst="rect">
            <a:avLst/>
          </a:prstGeom>
        </p:spPr>
      </p:pic>
      <p:sp>
        <p:nvSpPr>
          <p:cNvPr id="9" name="Rectangle 8"/>
          <p:cNvSpPr/>
          <p:nvPr/>
        </p:nvSpPr>
        <p:spPr>
          <a:xfrm>
            <a:off x="731520" y="6446520"/>
            <a:ext cx="10728655" cy="18288"/>
          </a:xfrm>
          <a:prstGeom prst="rect">
            <a:avLst/>
          </a:prstGeom>
          <a:solidFill>
            <a:srgbClr val="EAE4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320040"/>
          </a:xfrm>
          <a:prstGeom prst="rect">
            <a:avLst/>
          </a:prstGeom>
          <a:noFill/>
        </p:spPr>
        <p:txBody>
          <a:bodyPr wrap="none">
            <a:spAutoFit/>
          </a:bodyPr>
          <a:lstStyle/>
          <a:p>
            <a:pPr>
              <a:defRPr sz="950">
                <a:solidFill>
                  <a:srgbClr val="7D715E"/>
                </a:solidFill>
                <a:latin typeface="Segoe UI"/>
              </a:defRPr>
            </a:pPr>
            <a:r>
              <a:t>SCANMS (FA26SE032) • Sales Collaborator and Affiliate Network Management System • Hội Đồng Đánh Giá 1.1</a:t>
            </a:r>
          </a:p>
        </p:txBody>
      </p:sp>
      <p:sp>
        <p:nvSpPr>
          <p:cNvPr id="11" name="TextBox 10"/>
          <p:cNvSpPr txBox="1"/>
          <p:nvPr/>
        </p:nvSpPr>
        <p:spPr>
          <a:xfrm>
            <a:off x="10515600" y="6473952"/>
            <a:ext cx="914400" cy="320040"/>
          </a:xfrm>
          <a:prstGeom prst="rect">
            <a:avLst/>
          </a:prstGeom>
          <a:noFill/>
        </p:spPr>
        <p:txBody>
          <a:bodyPr wrap="none">
            <a:spAutoFit/>
          </a:bodyPr>
          <a:lstStyle/>
          <a:p>
            <a:pPr algn="r">
              <a:defRPr sz="1000" b="1">
                <a:solidFill>
                  <a:srgbClr val="B88E4F"/>
                </a:solidFill>
                <a:latin typeface="Segoe UI"/>
              </a:defRPr>
            </a:pPr>
            <a:r>
              <a:t>11</a:t>
            </a:r>
          </a:p>
        </p:txBody>
      </p:sp>
      <p:sp>
        <p:nvSpPr>
          <p:cNvPr id="12" name="Rounded Rectangle 11"/>
          <p:cNvSpPr/>
          <p:nvPr/>
        </p:nvSpPr>
        <p:spPr>
          <a:xfrm>
            <a:off x="731520" y="1371600"/>
            <a:ext cx="5257800" cy="489204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1554480"/>
            <a:ext cx="4800600" cy="320040"/>
          </a:xfrm>
          <a:prstGeom prst="roundRect">
            <a:avLst/>
          </a:prstGeom>
          <a:solidFill>
            <a:srgbClr val="FBF5EB"/>
          </a:solidFill>
          <a:ln>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88E4F"/>
                </a:solidFill>
                <a:latin typeface="Segoe UI"/>
              </a:defRPr>
            </a:pPr>
            <a:r>
              <a:t>⏰ RECURRING BACKGROUND JOBS (ĐỊNH KỲ CRONJOB)</a:t>
            </a:r>
          </a:p>
        </p:txBody>
      </p:sp>
      <p:sp>
        <p:nvSpPr>
          <p:cNvPr id="14" name="TextBox 13"/>
          <p:cNvSpPr txBox="1"/>
          <p:nvPr/>
        </p:nvSpPr>
        <p:spPr>
          <a:xfrm>
            <a:off x="960120" y="2011680"/>
            <a:ext cx="4800600" cy="1005840"/>
          </a:xfrm>
          <a:prstGeom prst="rect">
            <a:avLst/>
          </a:prstGeom>
          <a:noFill/>
        </p:spPr>
        <p:txBody>
          <a:bodyPr wrap="square">
            <a:spAutoFit/>
          </a:bodyPr>
          <a:lstStyle/>
          <a:p>
            <a:pPr>
              <a:defRPr sz="1050" b="1">
                <a:solidFill>
                  <a:srgbClr val="1A1612"/>
                </a:solidFill>
                <a:latin typeface="Segoe UI"/>
              </a:defRPr>
            </a:pPr>
            <a:r>
              <a:t>1. ESCROW SETTLEMENT AUTO-UNLOCK JOB</a:t>
            </a:r>
          </a:p>
          <a:p>
            <a:pPr>
              <a:defRPr sz="900" b="1">
                <a:solidFill>
                  <a:srgbClr val="B88E4F"/>
                </a:solidFill>
                <a:latin typeface="Segoe UI"/>
              </a:defRPr>
            </a:pPr>
            <a:r>
              <a:t>Tần suất: Quét mỗi giờ (0 * * * *)</a:t>
            </a:r>
          </a:p>
          <a:p>
            <a:pPr>
              <a:defRPr sz="850">
                <a:solidFill>
                  <a:srgbClr val="7D715E"/>
                </a:solidFill>
                <a:latin typeface="Segoe UI"/>
              </a:defRPr>
            </a:pPr>
            <a:r>
              <a:t>Tự động kiểm tra các đơn hàng đã giao thành công vượt mốc 14 ngày bảo chứng Escrow; tự động chuyển tiền từ Ví Chờ (Pending) sang Ví Khả Dụng (Available) để KOL có thể rút tiền.</a:t>
            </a:r>
          </a:p>
        </p:txBody>
      </p:sp>
      <p:sp>
        <p:nvSpPr>
          <p:cNvPr id="15" name="TextBox 14"/>
          <p:cNvSpPr txBox="1"/>
          <p:nvPr/>
        </p:nvSpPr>
        <p:spPr>
          <a:xfrm>
            <a:off x="960120" y="3063240"/>
            <a:ext cx="4800600" cy="1005840"/>
          </a:xfrm>
          <a:prstGeom prst="rect">
            <a:avLst/>
          </a:prstGeom>
          <a:noFill/>
        </p:spPr>
        <p:txBody>
          <a:bodyPr wrap="square">
            <a:spAutoFit/>
          </a:bodyPr>
          <a:lstStyle/>
          <a:p>
            <a:pPr>
              <a:defRPr sz="1050" b="1">
                <a:solidFill>
                  <a:srgbClr val="1A1612"/>
                </a:solidFill>
                <a:latin typeface="Segoe UI"/>
              </a:defRPr>
            </a:pPr>
            <a:r>
              <a:t>2. SAMPLE REVIEW 14-DAY DEADLINE TRACKER</a:t>
            </a:r>
          </a:p>
          <a:p>
            <a:pPr>
              <a:defRPr sz="900" b="1">
                <a:solidFill>
                  <a:srgbClr val="B88E4F"/>
                </a:solidFill>
                <a:latin typeface="Segoe UI"/>
              </a:defRPr>
            </a:pPr>
            <a:r>
              <a:t>Tần suất: Quét mỗi ngày lúc 08:00 (0 8 * * *)</a:t>
            </a:r>
          </a:p>
          <a:p>
            <a:pPr>
              <a:defRPr sz="850">
                <a:solidFill>
                  <a:srgbClr val="7D715E"/>
                </a:solidFill>
                <a:latin typeface="Segoe UI"/>
              </a:defRPr>
            </a:pPr>
            <a:r>
              <a:t>Đếm ngược chu kỳ 14 ngày nghiệm thu hàng mẫu; gửi thông báo nhắc nhở KOL nộp link video review vào ngày thứ 7, ngày thứ 12 và cảnh báo giới hạn cấp mẫu vào ngày thứ 14.</a:t>
            </a:r>
          </a:p>
        </p:txBody>
      </p:sp>
      <p:sp>
        <p:nvSpPr>
          <p:cNvPr id="16" name="TextBox 15"/>
          <p:cNvSpPr txBox="1"/>
          <p:nvPr/>
        </p:nvSpPr>
        <p:spPr>
          <a:xfrm>
            <a:off x="960120" y="4114800"/>
            <a:ext cx="4800600" cy="1005840"/>
          </a:xfrm>
          <a:prstGeom prst="rect">
            <a:avLst/>
          </a:prstGeom>
          <a:noFill/>
        </p:spPr>
        <p:txBody>
          <a:bodyPr wrap="square">
            <a:spAutoFit/>
          </a:bodyPr>
          <a:lstStyle/>
          <a:p>
            <a:pPr>
              <a:defRPr sz="1050" b="1">
                <a:solidFill>
                  <a:srgbClr val="1A1612"/>
                </a:solidFill>
                <a:latin typeface="Segoe UI"/>
              </a:defRPr>
            </a:pPr>
            <a:r>
              <a:t>3. AFFILIATE COOKIE &amp; TRAFFIC CLEANUP</a:t>
            </a:r>
          </a:p>
          <a:p>
            <a:pPr>
              <a:defRPr sz="900" b="1">
                <a:solidFill>
                  <a:srgbClr val="B88E4F"/>
                </a:solidFill>
                <a:latin typeface="Segoe UI"/>
              </a:defRPr>
            </a:pPr>
            <a:r>
              <a:t>Tần suất: Quét định kỳ lúc 02:00 sáng hàng tuần</a:t>
            </a:r>
          </a:p>
          <a:p>
            <a:pPr>
              <a:defRPr sz="850">
                <a:solidFill>
                  <a:srgbClr val="7D715E"/>
                </a:solidFill>
                <a:latin typeface="Segoe UI"/>
              </a:defRPr>
            </a:pPr>
            <a:r>
              <a:t>Dọn dẹp các bản ghi Click Traffic quá hạn 30 ngày trong Redis và PostgreSQL nhằm giải phóng tài nguyên bộ nhớ đệm, duy trì tốc độ truy vấn tối ưu cho sàn.</a:t>
            </a:r>
          </a:p>
        </p:txBody>
      </p:sp>
      <p:sp>
        <p:nvSpPr>
          <p:cNvPr id="17" name="TextBox 16"/>
          <p:cNvSpPr txBox="1"/>
          <p:nvPr/>
        </p:nvSpPr>
        <p:spPr>
          <a:xfrm>
            <a:off x="960120" y="5166360"/>
            <a:ext cx="4800600" cy="1005840"/>
          </a:xfrm>
          <a:prstGeom prst="rect">
            <a:avLst/>
          </a:prstGeom>
          <a:noFill/>
        </p:spPr>
        <p:txBody>
          <a:bodyPr wrap="square">
            <a:spAutoFit/>
          </a:bodyPr>
          <a:lstStyle/>
          <a:p>
            <a:pPr>
              <a:defRPr sz="1050" b="1">
                <a:solidFill>
                  <a:srgbClr val="1A1612"/>
                </a:solidFill>
                <a:latin typeface="Segoe UI"/>
              </a:defRPr>
            </a:pPr>
            <a:r>
              <a:t>4. FLASH SALE &amp; COUPON EXPIRATION SWEEPER</a:t>
            </a:r>
          </a:p>
          <a:p>
            <a:pPr>
              <a:defRPr sz="900" b="1">
                <a:solidFill>
                  <a:srgbClr val="B88E4F"/>
                </a:solidFill>
                <a:latin typeface="Segoe UI"/>
              </a:defRPr>
            </a:pPr>
            <a:r>
              <a:t>Tần suất: Quét mỗi 15 phút (*/15 * * * *)</a:t>
            </a:r>
          </a:p>
          <a:p>
            <a:pPr>
              <a:defRPr sz="850">
                <a:solidFill>
                  <a:srgbClr val="7D715E"/>
                </a:solidFill>
                <a:latin typeface="Segoe UI"/>
              </a:defRPr>
            </a:pPr>
            <a:r>
              <a:t>Tự động tắt các mã giảm giá và đợt khuyến mãi khi hết ngân sách sàn hoặc vượt quá ngày hết hạn hiệu lực, ngăn chặn việc sử dụng mã voucher hết hạn.</a:t>
            </a:r>
          </a:p>
        </p:txBody>
      </p:sp>
      <p:sp>
        <p:nvSpPr>
          <p:cNvPr id="18" name="Rounded Rectangle 17"/>
          <p:cNvSpPr/>
          <p:nvPr/>
        </p:nvSpPr>
        <p:spPr>
          <a:xfrm>
            <a:off x="6199632" y="1371600"/>
            <a:ext cx="5257800" cy="489204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28232" y="1554480"/>
            <a:ext cx="4800600" cy="320040"/>
          </a:xfrm>
          <a:prstGeom prst="roundRect">
            <a:avLst/>
          </a:prstGeom>
          <a:solidFill>
            <a:srgbClr val="F3EFE6"/>
          </a:solidFill>
          <a:ln>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31D15"/>
                </a:solidFill>
                <a:latin typeface="Segoe UI"/>
              </a:defRPr>
            </a:pPr>
            <a:r>
              <a:t>⚡ ON-DEMAND BACKGROUND JOBS (HÀNG ĐỢI SỰ KIỆN)</a:t>
            </a:r>
          </a:p>
        </p:txBody>
      </p:sp>
      <p:sp>
        <p:nvSpPr>
          <p:cNvPr id="20" name="TextBox 19"/>
          <p:cNvSpPr txBox="1"/>
          <p:nvPr/>
        </p:nvSpPr>
        <p:spPr>
          <a:xfrm>
            <a:off x="6428232" y="2011680"/>
            <a:ext cx="4800600" cy="1005840"/>
          </a:xfrm>
          <a:prstGeom prst="rect">
            <a:avLst/>
          </a:prstGeom>
          <a:noFill/>
        </p:spPr>
        <p:txBody>
          <a:bodyPr wrap="square">
            <a:spAutoFit/>
          </a:bodyPr>
          <a:lstStyle/>
          <a:p>
            <a:pPr>
              <a:defRPr sz="1050" b="1">
                <a:solidFill>
                  <a:srgbClr val="1A1612"/>
                </a:solidFill>
                <a:latin typeface="Segoe UI"/>
              </a:defRPr>
            </a:pPr>
            <a:r>
              <a:t>1. ORDER CONFIRMATION EMAIL WORKER (BULLMQ)</a:t>
            </a:r>
          </a:p>
          <a:p>
            <a:pPr>
              <a:defRPr sz="900" b="1">
                <a:solidFill>
                  <a:srgbClr val="B88E4F"/>
                </a:solidFill>
                <a:latin typeface="Segoe UI"/>
              </a:defRPr>
            </a:pPr>
            <a:r>
              <a:t>Kích hoạt: Ngay khi khách đặt hàng thành công</a:t>
            </a:r>
          </a:p>
          <a:p>
            <a:pPr>
              <a:defRPr sz="850">
                <a:solidFill>
                  <a:srgbClr val="7D715E"/>
                </a:solidFill>
                <a:latin typeface="Segoe UI"/>
              </a:defRPr>
            </a:pPr>
            <a:r>
              <a:t>Đẩy tác vụ vào hàng đợi BullMQ để gửi email hóa đơn điện tử kèm thông tin bưu kiện idempotent; đảm bảo không block luồng xử lý Checkout chính của người mua.</a:t>
            </a:r>
          </a:p>
        </p:txBody>
      </p:sp>
      <p:sp>
        <p:nvSpPr>
          <p:cNvPr id="21" name="TextBox 20"/>
          <p:cNvSpPr txBox="1"/>
          <p:nvPr/>
        </p:nvSpPr>
        <p:spPr>
          <a:xfrm>
            <a:off x="6428232" y="3063240"/>
            <a:ext cx="4800600" cy="1005840"/>
          </a:xfrm>
          <a:prstGeom prst="rect">
            <a:avLst/>
          </a:prstGeom>
          <a:noFill/>
        </p:spPr>
        <p:txBody>
          <a:bodyPr wrap="square">
            <a:spAutoFit/>
          </a:bodyPr>
          <a:lstStyle/>
          <a:p>
            <a:pPr>
              <a:defRPr sz="1050" b="1">
                <a:solidFill>
                  <a:srgbClr val="1A1612"/>
                </a:solidFill>
                <a:latin typeface="Segoe UI"/>
              </a:defRPr>
            </a:pPr>
            <a:r>
              <a:t>2. STOCK RESERVATION AUTO-REVERT (15 MINS)</a:t>
            </a:r>
          </a:p>
          <a:p>
            <a:pPr>
              <a:defRPr sz="900" b="1">
                <a:solidFill>
                  <a:srgbClr val="B88E4F"/>
                </a:solidFill>
                <a:latin typeface="Segoe UI"/>
              </a:defRPr>
            </a:pPr>
            <a:r>
              <a:t>Kích hoạt: Khi đơn hàng ở trạng thái Chờ thanh toán VietQR</a:t>
            </a:r>
          </a:p>
          <a:p>
            <a:pPr>
              <a:defRPr sz="850">
                <a:solidFill>
                  <a:srgbClr val="7D715E"/>
                </a:solidFill>
                <a:latin typeface="Segoe UI"/>
              </a:defRPr>
            </a:pPr>
            <a:r>
              <a:t>Đặt đồng hồ đếm ngược 15 phút qua Redis Delayed Queue; nếu khách hàng không chuyển khoản, hệ thống tự động hoàn lại số lượng tồn kho cho sàn.</a:t>
            </a:r>
          </a:p>
        </p:txBody>
      </p:sp>
      <p:sp>
        <p:nvSpPr>
          <p:cNvPr id="22" name="TextBox 21"/>
          <p:cNvSpPr txBox="1"/>
          <p:nvPr/>
        </p:nvSpPr>
        <p:spPr>
          <a:xfrm>
            <a:off x="6428232" y="4114800"/>
            <a:ext cx="4800600" cy="1005840"/>
          </a:xfrm>
          <a:prstGeom prst="rect">
            <a:avLst/>
          </a:prstGeom>
          <a:noFill/>
        </p:spPr>
        <p:txBody>
          <a:bodyPr wrap="square">
            <a:spAutoFit/>
          </a:bodyPr>
          <a:lstStyle/>
          <a:p>
            <a:pPr>
              <a:defRPr sz="1050" b="1">
                <a:solidFill>
                  <a:srgbClr val="1A1612"/>
                </a:solidFill>
                <a:latin typeface="Segoe UI"/>
              </a:defRPr>
            </a:pPr>
            <a:r>
              <a:t>3. REALTIME LIVESTREAM DEAL PIN BROADCASTER</a:t>
            </a:r>
          </a:p>
          <a:p>
            <a:pPr>
              <a:defRPr sz="900" b="1">
                <a:solidFill>
                  <a:srgbClr val="B88E4F"/>
                </a:solidFill>
                <a:latin typeface="Segoe UI"/>
              </a:defRPr>
            </a:pPr>
            <a:r>
              <a:t>Kích hoạt: Khi KOL ghim sản phẩm ưu đãi trong phiên Live</a:t>
            </a:r>
          </a:p>
          <a:p>
            <a:pPr>
              <a:defRPr sz="850">
                <a:solidFill>
                  <a:srgbClr val="7D715E"/>
                </a:solidFill>
                <a:latin typeface="Segoe UI"/>
              </a:defRPr>
            </a:pPr>
            <a:r>
              <a:t>Phát tán WebSocket Event đồng loạt tới hàng ngàn người xem trong phòng livestream dưới 50ms, đồng bộ deal ưu đãi chớp nhoáng trên màn hình khán giả.</a:t>
            </a:r>
          </a:p>
        </p:txBody>
      </p:sp>
      <p:sp>
        <p:nvSpPr>
          <p:cNvPr id="23" name="TextBox 22"/>
          <p:cNvSpPr txBox="1"/>
          <p:nvPr/>
        </p:nvSpPr>
        <p:spPr>
          <a:xfrm>
            <a:off x="6428232" y="5166360"/>
            <a:ext cx="4800600" cy="1005840"/>
          </a:xfrm>
          <a:prstGeom prst="rect">
            <a:avLst/>
          </a:prstGeom>
          <a:noFill/>
        </p:spPr>
        <p:txBody>
          <a:bodyPr wrap="square">
            <a:spAutoFit/>
          </a:bodyPr>
          <a:lstStyle/>
          <a:p>
            <a:pPr>
              <a:defRPr sz="1050" b="1">
                <a:solidFill>
                  <a:srgbClr val="1A1612"/>
                </a:solidFill>
                <a:latin typeface="Segoe UI"/>
              </a:defRPr>
            </a:pPr>
            <a:r>
              <a:t>4. FINANCIAL LEDGER AUDIT INTEGRITY CHECK</a:t>
            </a:r>
          </a:p>
          <a:p>
            <a:pPr>
              <a:defRPr sz="900" b="1">
                <a:solidFill>
                  <a:srgbClr val="B88E4F"/>
                </a:solidFill>
                <a:latin typeface="Segoe UI"/>
              </a:defRPr>
            </a:pPr>
            <a:r>
              <a:t>Kích hoạt: Sau mỗi giao dịch nạp, rút hoặc đối soát đơn</a:t>
            </a:r>
          </a:p>
          <a:p>
            <a:pPr>
              <a:defRPr sz="850">
                <a:solidFill>
                  <a:srgbClr val="7D715E"/>
                </a:solidFill>
                <a:latin typeface="Segoe UI"/>
              </a:defRPr>
            </a:pPr>
            <a:r>
              <a:t>Tự động tính checksum toàn vẹn chuỗi dữ liệu trong Sổ cái bất biến (Append-Only Ledger), phát cảnh báo đỏ ngay lập tức nếu có bất kỳ sai lệch đối soát nào.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C59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051560"/>
            <a:ext cx="9601200" cy="868680"/>
          </a:xfrm>
          <a:prstGeom prst="rect">
            <a:avLst/>
          </a:prstGeom>
          <a:noFill/>
        </p:spPr>
        <p:txBody>
          <a:bodyPr wrap="none">
            <a:spAutoFit/>
          </a:bodyPr>
          <a:lstStyle/>
          <a:p>
            <a:pPr>
              <a:defRPr sz="1800" b="1">
                <a:solidFill>
                  <a:srgbClr val="B88E4F"/>
                </a:solidFill>
                <a:latin typeface="Segoe UI"/>
              </a:defRPr>
            </a:pPr>
            <a:r>
              <a:t>TỔNG KẾT NỀN TẢNG SCANMS (REVIEW 2 READY)</a:t>
            </a:r>
          </a:p>
          <a:p>
            <a:pPr>
              <a:defRPr sz="1200">
                <a:solidFill>
                  <a:srgbClr val="1A1612"/>
                </a:solidFill>
                <a:latin typeface="Segoe UI"/>
              </a:defRPr>
            </a:pPr>
            <a:r>
              <a:t>Hệ thống vận hành thực tế 100%, bảo toàn tài chính nghiêm ngặt và sẵn sàng ra Hội Đồng 1.1</a:t>
            </a:r>
          </a:p>
        </p:txBody>
      </p:sp>
      <p:sp>
        <p:nvSpPr>
          <p:cNvPr id="6" name="Rounded Rectangle 5"/>
          <p:cNvSpPr/>
          <p:nvPr/>
        </p:nvSpPr>
        <p:spPr>
          <a:xfrm>
            <a:off x="1234440" y="2029968"/>
            <a:ext cx="2240280" cy="2194560"/>
          </a:xfrm>
          <a:prstGeom prst="roundRect">
            <a:avLst/>
          </a:prstGeom>
          <a:solidFill>
            <a:srgbClr val="F3EFE6"/>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2121408"/>
            <a:ext cx="2057400" cy="2011680"/>
          </a:xfrm>
          <a:prstGeom prst="rect">
            <a:avLst/>
          </a:prstGeom>
          <a:noFill/>
        </p:spPr>
        <p:txBody>
          <a:bodyPr wrap="square">
            <a:spAutoFit/>
          </a:bodyPr>
          <a:lstStyle/>
          <a:p>
            <a:pPr algn="ctr">
              <a:defRPr sz="950" b="1">
                <a:solidFill>
                  <a:srgbClr val="B88E4F"/>
                </a:solidFill>
                <a:latin typeface="Segoe UI"/>
              </a:defRPr>
            </a:pPr>
            <a:r>
              <a:t>100% WORKING SOFTWARE</a:t>
            </a:r>
          </a:p>
          <a:p>
            <a:pPr>
              <a:defRPr sz="819">
                <a:solidFill>
                  <a:srgbClr val="1A1612"/>
                </a:solidFill>
                <a:latin typeface="Segoe UI"/>
              </a:defRPr>
            </a:pPr>
            <a:r>
              <a:t>• Hệ sinh thái chạy thật 100% CSDL PostgreSQL, Redis, NestJS 11 &amp; React 19.</a:t>
            </a:r>
          </a:p>
          <a:p>
            <a:pPr>
              <a:defRPr sz="819">
                <a:solidFill>
                  <a:srgbClr val="1A1612"/>
                </a:solidFill>
                <a:latin typeface="Segoe UI"/>
              </a:defRPr>
            </a:pPr>
            <a:r>
              <a:t>• Tuyệt đối không sử dụng mock data, không nuốt lỗi API trong mọi controller.</a:t>
            </a:r>
          </a:p>
          <a:p>
            <a:pPr>
              <a:defRPr sz="819">
                <a:solidFill>
                  <a:srgbClr val="1A1612"/>
                </a:solidFill>
                <a:latin typeface="Segoe UI"/>
              </a:defRPr>
            </a:pPr>
            <a:r>
              <a:t>• Độ bao phủ hơn 50+ bộ test suite thực tế (Real-DB Integration &amp; Playwright).</a:t>
            </a:r>
          </a:p>
        </p:txBody>
      </p:sp>
      <p:sp>
        <p:nvSpPr>
          <p:cNvPr id="8" name="Rounded Rectangle 7"/>
          <p:cNvSpPr/>
          <p:nvPr/>
        </p:nvSpPr>
        <p:spPr>
          <a:xfrm>
            <a:off x="3657600" y="2029968"/>
            <a:ext cx="2240280" cy="2194560"/>
          </a:xfrm>
          <a:prstGeom prst="roundRect">
            <a:avLst/>
          </a:prstGeom>
          <a:solidFill>
            <a:srgbClr val="F3EFE6"/>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2121408"/>
            <a:ext cx="2057400" cy="2011680"/>
          </a:xfrm>
          <a:prstGeom prst="rect">
            <a:avLst/>
          </a:prstGeom>
          <a:noFill/>
        </p:spPr>
        <p:txBody>
          <a:bodyPr wrap="square">
            <a:spAutoFit/>
          </a:bodyPr>
          <a:lstStyle/>
          <a:p>
            <a:pPr algn="ctr">
              <a:defRPr sz="950" b="1">
                <a:solidFill>
                  <a:srgbClr val="B88E4F"/>
                </a:solidFill>
                <a:latin typeface="Segoe UI"/>
              </a:defRPr>
            </a:pPr>
            <a:r>
              <a:t>TOÀN VẸN TÀI CHÍNH</a:t>
            </a:r>
          </a:p>
          <a:p>
            <a:pPr>
              <a:defRPr sz="819">
                <a:solidFill>
                  <a:srgbClr val="1A1612"/>
                </a:solidFill>
                <a:latin typeface="Segoe UI"/>
              </a:defRPr>
            </a:pPr>
            <a:r>
              <a:t>• Khóa bi quan SELECT FOR UPDATE chặn đứng gian lận rút tiền đa luồng.</a:t>
            </a:r>
          </a:p>
          <a:p>
            <a:pPr>
              <a:defRPr sz="819">
                <a:solidFill>
                  <a:srgbClr val="1A1612"/>
                </a:solidFill>
                <a:latin typeface="Segoe UI"/>
              </a:defRPr>
            </a:pPr>
            <a:r>
              <a:t>• Quỹ Escrow 14 ngày bảo chứng hoa hồng, giải thuật Clawback tự động hoàn tiền.</a:t>
            </a:r>
          </a:p>
          <a:p>
            <a:pPr>
              <a:defRPr sz="819">
                <a:solidFill>
                  <a:srgbClr val="1A1612"/>
                </a:solidFill>
                <a:latin typeface="Segoe UI"/>
              </a:defRPr>
            </a:pPr>
            <a:r>
              <a:t>• Tự động khấu trừ 10% thuế TNCN theo quy định Luật Thuế Việt Nam.</a:t>
            </a:r>
          </a:p>
        </p:txBody>
      </p:sp>
      <p:sp>
        <p:nvSpPr>
          <p:cNvPr id="10" name="Rounded Rectangle 9"/>
          <p:cNvSpPr/>
          <p:nvPr/>
        </p:nvSpPr>
        <p:spPr>
          <a:xfrm>
            <a:off x="6080760" y="2029968"/>
            <a:ext cx="2240280" cy="2194560"/>
          </a:xfrm>
          <a:prstGeom prst="roundRect">
            <a:avLst/>
          </a:prstGeom>
          <a:solidFill>
            <a:srgbClr val="F3EFE6"/>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121408"/>
            <a:ext cx="2057400" cy="2011680"/>
          </a:xfrm>
          <a:prstGeom prst="rect">
            <a:avLst/>
          </a:prstGeom>
          <a:noFill/>
        </p:spPr>
        <p:txBody>
          <a:bodyPr wrap="square">
            <a:spAutoFit/>
          </a:bodyPr>
          <a:lstStyle/>
          <a:p>
            <a:pPr algn="ctr">
              <a:defRPr sz="950" b="1">
                <a:solidFill>
                  <a:srgbClr val="B88E4F"/>
                </a:solidFill>
                <a:latin typeface="Segoe UI"/>
              </a:defRPr>
            </a:pPr>
            <a:r>
              <a:t>KIẾN TRÚC MỞ RỘNG CAO</a:t>
            </a:r>
          </a:p>
          <a:p>
            <a:pPr>
              <a:defRPr sz="819">
                <a:solidFill>
                  <a:srgbClr val="1A1612"/>
                </a:solidFill>
                <a:latin typeface="Segoe UI"/>
              </a:defRPr>
            </a:pPr>
            <a:r>
              <a:t>• Kiến trúc Modular Monolith chuẩn hướng đối tượng chia tách ranh giới rõ ràng.</a:t>
            </a:r>
          </a:p>
          <a:p>
            <a:pPr>
              <a:defRPr sz="819">
                <a:solidFill>
                  <a:srgbClr val="1A1612"/>
                </a:solidFill>
                <a:latin typeface="Segoe UI"/>
              </a:defRPr>
            </a:pPr>
            <a:r>
              <a:t>• Redis Sliding Window Rate Limit bảo vệ hệ thống chống DDoS &amp; click tặc.</a:t>
            </a:r>
          </a:p>
          <a:p>
            <a:pPr>
              <a:defRPr sz="819">
                <a:solidFill>
                  <a:srgbClr val="1A1612"/>
                </a:solidFill>
                <a:latin typeface="Segoe UI"/>
              </a:defRPr>
            </a:pPr>
            <a:r>
              <a:t>• BullMQ &amp; Redis Streams xử lý hàng đợi tác vụ ngầm bất đồng bộ tin cậy.</a:t>
            </a:r>
          </a:p>
        </p:txBody>
      </p:sp>
      <p:sp>
        <p:nvSpPr>
          <p:cNvPr id="12" name="Rounded Rectangle 11"/>
          <p:cNvSpPr/>
          <p:nvPr/>
        </p:nvSpPr>
        <p:spPr>
          <a:xfrm>
            <a:off x="8503919" y="2029968"/>
            <a:ext cx="2240280" cy="2194560"/>
          </a:xfrm>
          <a:prstGeom prst="roundRect">
            <a:avLst/>
          </a:prstGeom>
          <a:solidFill>
            <a:srgbClr val="F3EFE6"/>
          </a:solidFill>
          <a:ln w="12700">
            <a:solidFill>
              <a:srgbClr val="EAE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59" y="2121408"/>
            <a:ext cx="2057400" cy="2011680"/>
          </a:xfrm>
          <a:prstGeom prst="rect">
            <a:avLst/>
          </a:prstGeom>
          <a:noFill/>
        </p:spPr>
        <p:txBody>
          <a:bodyPr wrap="square">
            <a:spAutoFit/>
          </a:bodyPr>
          <a:lstStyle/>
          <a:p>
            <a:pPr algn="ctr">
              <a:defRPr sz="950" b="1">
                <a:solidFill>
                  <a:srgbClr val="B88E4F"/>
                </a:solidFill>
                <a:latin typeface="Segoe UI"/>
              </a:defRPr>
            </a:pPr>
            <a:r>
              <a:t>TRẢI NGHIỆM ĐA ĐỐI TÁC</a:t>
            </a:r>
          </a:p>
          <a:p>
            <a:pPr>
              <a:defRPr sz="819">
                <a:solidFill>
                  <a:srgbClr val="1A1612"/>
                </a:solidFill>
                <a:latin typeface="Segoe UI"/>
              </a:defRPr>
            </a:pPr>
            <a:r>
              <a:t>• 4 Cổng Portal phân quyền RBAC Guard: Khách mua, KOL, Chủ Shop và Admin.</a:t>
            </a:r>
          </a:p>
          <a:p>
            <a:pPr>
              <a:defRPr sz="819">
                <a:solidFill>
                  <a:srgbClr val="1A1612"/>
                </a:solidFill>
                <a:latin typeface="Segoe UI"/>
              </a:defRPr>
            </a:pPr>
            <a:r>
              <a:t>• Quy trình hàng mẫu 14 ngày &amp; đàm phán deal độc quyền realtime trong live chat.</a:t>
            </a:r>
          </a:p>
          <a:p>
            <a:pPr>
              <a:defRPr sz="819">
                <a:solidFill>
                  <a:srgbClr val="1A1612"/>
                </a:solidFill>
                <a:latin typeface="Segoe UI"/>
              </a:defRPr>
            </a:pPr>
            <a:r>
              <a:t>• Tra cứu hành trình vận đơn GHN Express thời gian thực qua Webhook.</a:t>
            </a:r>
          </a:p>
        </p:txBody>
      </p:sp>
      <p:sp>
        <p:nvSpPr>
          <p:cNvPr id="14" name="Rounded Rectangle 13"/>
          <p:cNvSpPr/>
          <p:nvPr/>
        </p:nvSpPr>
        <p:spPr>
          <a:xfrm>
            <a:off x="1234440" y="4407408"/>
            <a:ext cx="9601200" cy="1371600"/>
          </a:xfrm>
          <a:prstGeom prst="roundRect">
            <a:avLst/>
          </a:prstGeom>
          <a:solidFill>
            <a:srgbClr val="FBF5EB"/>
          </a:solidFill>
          <a:ln w="19050">
            <a:solidFill>
              <a:srgbClr val="EED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498848"/>
            <a:ext cx="9326880" cy="1188720"/>
          </a:xfrm>
          <a:prstGeom prst="rect">
            <a:avLst/>
          </a:prstGeom>
          <a:noFill/>
        </p:spPr>
        <p:txBody>
          <a:bodyPr wrap="none">
            <a:spAutoFit/>
          </a:bodyPr>
          <a:lstStyle/>
          <a:p>
            <a:pPr algn="ctr">
              <a:defRPr sz="1550" b="1">
                <a:solidFill>
                  <a:srgbClr val="231D15"/>
                </a:solidFill>
                <a:latin typeface="Segoe UI"/>
              </a:defRPr>
            </a:pPr>
            <a:r>
              <a:t>CẢM ƠN THẦY CÔ HỘI ĐỒNG &amp; GIẢNG VIÊN HƯỚNG DẪN ĐÃ LẮNG NGHE</a:t>
            </a:r>
          </a:p>
          <a:p>
            <a:pPr algn="ctr">
              <a:defRPr sz="1150" b="1">
                <a:solidFill>
                  <a:srgbClr val="B88E4F"/>
                </a:solidFill>
                <a:latin typeface="Segoe UI"/>
              </a:defRPr>
            </a:pPr>
            <a:r>
              <a:t>NHÓM FA26SE032 SẴN SÀNG BƯỚC VÀO PHẦN DEMO TRỰC TIẾP &amp; VẤN ĐÁP PHẢN BIỆN (Q&amp;A)</a:t>
            </a:r>
          </a:p>
          <a:p>
            <a:pPr algn="ctr">
              <a:defRPr sz="950">
                <a:solidFill>
                  <a:srgbClr val="7D715E"/>
                </a:solidFill>
                <a:latin typeface="Segoe UI"/>
              </a:defRPr>
            </a:pPr>
            <a:r>
              <a:t>Supervisor: ThS. Tôn Thất Hoàng Minh (MinhTTH5) • Team Leader: Nguyễn Thành Thắng (SE184251)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